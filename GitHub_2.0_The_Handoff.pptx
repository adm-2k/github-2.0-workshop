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4" r:id="rId20"/>
    <p:sldId id="275" r:id="rId21"/>
    <p:sldId id="276" r:id="rId22"/>
    <p:sldId id="277" r:id="rId23"/>
    <p:sldId id="278" r:id="rId24"/>
    <p:sldId id="279" r:id="rId25"/>
    <p:sldId id="280" r:id="rId26"/>
    <p:sldId id="281" r:id="rId27"/>
    <p:sldId id="282" r:id="rId28"/>
    <p:sldId id="283" r:id="rId29"/>
    <p:sldId id="285" r:id="rId30"/>
    <p:sldId id="286"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p:scale>
          <a:sx n="157" d="100"/>
          <a:sy n="157" d="100"/>
        </p:scale>
        <p:origin x="51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9243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during arrival. Personally confirm every participant has Replit connected to GitHub. Have 2-3 pre-connected backup Replit accounts ready. Triage anyone who missed Workshop 1 individually.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time, we each made our own repos and pushed our own changes. Today, we're going to do the thing that actually matters for your build-cycle teams: hand code to a partner and get it back in one piece. Both of you will build. Both of you will edit. Both of you will review. Nobody watches from the sidelines.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reviews the three concepts from Workshop 1 that today's exercise depends on: branches, the daily cycle, and prompt documentation. Frame it as 'here's the map for today' not 'remember last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out loud, don't just show it. 'I know — last time I literally told you to commit to main. That was training wheels. Today the training wheels come off.' This is Critical Reminder #5 from the brief.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pass — don't re-teach branching from scratch. Emphasis on steps 4-5 as the gap this session fills.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side is what you practiced solo in Workshop 1. The right side is what happens when there's someone on the other end. Today we run both sides.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few minutes, you'll both be opening code that someone else's AI built. The prompt doc is the only context you'll have. This is when prompt documentation stops being abstract and becomes necessary.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60 seconds on this slide and return to it between every round. Beginners lose the plot when heads-down; this diagram is the 'you are here' map. 'Take 15 seconds and trace both directions with your eyes.'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facilitator (with a co-mentor or volunteer) runs the entire loop once, projected. Don't explain every click — narrate the handoff moments. Pre-build a backup repo in case the live build stalls.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handoff moments, not every click. 'I paste my prompt, Replit builds, I push to GitHub. Then I create my prompt doc and invite my partner.' Keep under 3 minutes. Have a backup repo ready if the build stalls.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'My partner opens GitHub Desktop, clones, and the first thing they do — before changing anything — is create a branch. Look at the top bar. It says feature/demo-edit, not main. That's the safety check.'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open the PR, see exactly what changed — green lines added, red removed. One comment, click merge. Now watch Replit — I pull, and the change appears. Full circle. Nobody worked on main directly.' [Screenshot placeholder: GitHub Files changed view]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partners work simultaneously. Mentors should circulate actively during this round since everyone is building at once.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got the printed handout with this prompt. Fill in the blanks — make it yours. Paste the whole thing into Replit and let the Agent build. Resist the urge to tweak. One generation, one result. We're here for the handoff, not the design.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you should be working through these steps at the same time. Step 5 is the one everyone forgets. And check: did your partner invite YOU? Accept that invitation now because you'll need it next.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workshop. Both partners edit each other's code at the same time. Person B's prompt doc is their map.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most people find intimidating: opening someone else's code. The secret? You don't need to understand all of it. You just need to find the right line and change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where the most common mistake happens. Before anyone opens VS Code, confirm branch names in GitHub Desktop. Not 'main.' Your branch. Call it out to a mentor when you see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emergency plan. If GitHub Desktop or VS Code won't cooperate, press dot on any repo page — full editor in the browser. But it's also genuinely useful for build-cycle teams.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Beginners: Option 1, no shame. Finding and changing the headline means you successfully navigated someone else's codebase. Option 3 is for anyone who wants the full AI-assisted workflow.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is the new skill. When participants see the yellow banner on GitHub.com, that's the moment they've been building toward. Make sure everyone gets there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really absorb. Pull Requests are how professional teams work. Nobody pushes code directly into the official version. They propose it, someone reviews it, and then it gets merged. You just did that. For the first time.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review flow. In a real team, you'd read carefully, ask questions, maybe request changes. Today, the point is that you CAN see exactly what changed. Green is new, red is removed. One comment, then merge.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say it: the code went from Replit to GitHub, your partner cloned it, branched, changed it, pushed, proposed it via PR, you reviewed, merged, and pulled it back. Full circle. The first time is slow. The third time, it's boring. Boring version control is the goal.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 your handout. Pin it in your team's Slack channel, tape it to your monitor. These eight rules are the house rules from here forward. You don't need to memorize them — just follow them.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your next steps before your first build-cycle session. Item 2 matters most — do one test handoff as a team before real work begins. Surface setup issues while the stakes are low.</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30 seconds right now. Star your repos, bookmark the materials. This saves you from the 'where's my repo?' Slack message tomorrow.</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hit a wall during the build cycle, post in Slack before spending an hour stuck. That's what mentors are for.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182880"/>
            <a:ext cx="8046720" cy="274320"/>
          </a:xfrm>
          <a:prstGeom prst="rect">
            <a:avLst/>
          </a:prstGeom>
          <a:noFill/>
          <a:ln/>
        </p:spPr>
        <p:txBody>
          <a:bodyPr wrap="square" lIns="0" tIns="0" rIns="0" bIns="0" rtlCol="0" anchor="ctr"/>
          <a:lstStyle/>
          <a:p>
            <a:pPr marL="0" indent="0">
              <a:buNone/>
            </a:pPr>
            <a:r>
              <a:rPr lang="en-US" sz="1100" b="1" kern="0" spc="300" dirty="0">
                <a:solidFill>
                  <a:srgbClr val="B85042"/>
                </a:solidFill>
                <a:latin typeface="Calibri" pitchFamily="34" charset="0"/>
                <a:ea typeface="Calibri" pitchFamily="34" charset="-122"/>
                <a:cs typeface="Calibri" pitchFamily="34" charset="-120"/>
              </a:rPr>
              <a:t>PRE-WORKSHOP</a:t>
            </a:r>
            <a:endParaRPr lang="en-US" sz="1100" dirty="0"/>
          </a:p>
        </p:txBody>
      </p:sp>
      <p:sp>
        <p:nvSpPr>
          <p:cNvPr id="3" name="Text 1"/>
          <p:cNvSpPr/>
          <p:nvPr/>
        </p:nvSpPr>
        <p:spPr>
          <a:xfrm>
            <a:off x="548640" y="411480"/>
            <a:ext cx="8046720" cy="502920"/>
          </a:xfrm>
          <a:prstGeom prst="rect">
            <a:avLst/>
          </a:prstGeom>
          <a:noFill/>
          <a:ln/>
        </p:spPr>
        <p:txBody>
          <a:bodyPr wrap="square" lIns="0" tIns="0" rIns="0" bIns="0" rtlCol="0" anchor="ctr"/>
          <a:lstStyle/>
          <a:p>
            <a:pPr marL="0" indent="0">
              <a:buNone/>
            </a:pPr>
            <a:r>
              <a:rPr lang="en-US" sz="2600" b="1" dirty="0">
                <a:solidFill>
                  <a:srgbClr val="3D2B1F"/>
                </a:solidFill>
                <a:latin typeface="Cambria" pitchFamily="34" charset="0"/>
                <a:ea typeface="Cambria" pitchFamily="34" charset="-122"/>
                <a:cs typeface="Cambria" pitchFamily="34" charset="-120"/>
              </a:rPr>
              <a:t>While You Wait: Setup Checklist</a:t>
            </a:r>
            <a:endParaRPr lang="en-US" sz="2600" dirty="0"/>
          </a:p>
        </p:txBody>
      </p:sp>
      <p:sp>
        <p:nvSpPr>
          <p:cNvPr id="4" name="Shape 2"/>
          <p:cNvSpPr/>
          <p:nvPr/>
        </p:nvSpPr>
        <p:spPr>
          <a:xfrm>
            <a:off x="548640" y="1097280"/>
            <a:ext cx="2633472" cy="1325880"/>
          </a:xfrm>
          <a:prstGeom prst="roundRect">
            <a:avLst>
              <a:gd name="adj" fmla="val 5517"/>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640080" y="1152144"/>
            <a:ext cx="2450592" cy="121615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Confirm Your Toolkit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Open GitHub Desktop — sign in.</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Open VS Code.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If anything’s missing, flag a mentor now.</a:t>
            </a:r>
            <a:endParaRPr lang="en-US" sz="1800" dirty="0"/>
          </a:p>
        </p:txBody>
      </p:sp>
      <p:sp>
        <p:nvSpPr>
          <p:cNvPr id="6" name="Shape 4"/>
          <p:cNvSpPr/>
          <p:nvPr/>
        </p:nvSpPr>
        <p:spPr>
          <a:xfrm>
            <a:off x="3255264" y="1097280"/>
            <a:ext cx="2633472" cy="1325880"/>
          </a:xfrm>
          <a:prstGeom prst="roundRect">
            <a:avLst>
              <a:gd name="adj" fmla="val 5517"/>
            </a:avLst>
          </a:prstGeom>
          <a:solidFill>
            <a:srgbClr val="E7C39A"/>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3346704" y="1152144"/>
            <a:ext cx="2450592" cy="121615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Create a Replit Account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Go to replit.com</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Sign up with your GitHub email.</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Connect to GitHub:</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Account → Connected Services → GitHub → Authorize</a:t>
            </a:r>
            <a:endParaRPr lang="en-US" sz="1800" dirty="0"/>
          </a:p>
        </p:txBody>
      </p:sp>
      <p:sp>
        <p:nvSpPr>
          <p:cNvPr id="8" name="Shape 6"/>
          <p:cNvSpPr/>
          <p:nvPr/>
        </p:nvSpPr>
        <p:spPr>
          <a:xfrm>
            <a:off x="5961888" y="1097280"/>
            <a:ext cx="2633472" cy="1325880"/>
          </a:xfrm>
          <a:prstGeom prst="roundRect">
            <a:avLst>
              <a:gd name="adj" fmla="val 5517"/>
            </a:avLst>
          </a:prstGeom>
          <a:solidFill>
            <a:srgbClr val="5C4033"/>
          </a:solidFill>
          <a:ln/>
          <a:effectLst>
            <a:outerShdw blurRad="63500" dist="25400" dir="2700000" algn="bl" rotWithShape="0">
              <a:srgbClr val="000000">
                <a:alpha val="12000"/>
              </a:srgbClr>
            </a:outerShdw>
          </a:effectLst>
        </p:spPr>
        <p:txBody>
          <a:bodyPr/>
          <a:lstStyle/>
          <a:p>
            <a:endParaRPr lang="en-US"/>
          </a:p>
        </p:txBody>
      </p:sp>
      <p:sp>
        <p:nvSpPr>
          <p:cNvPr id="9" name="Text 7"/>
          <p:cNvSpPr/>
          <p:nvPr/>
        </p:nvSpPr>
        <p:spPr>
          <a:xfrm>
            <a:off x="6053328" y="1152144"/>
            <a:ext cx="2450592" cy="121615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a:p>
            <a:pPr marL="0" indent="0">
              <a:lnSpc>
                <a:spcPct val="105000"/>
              </a:lnSpc>
              <a:buNone/>
            </a:pPr>
            <a:r>
              <a:rPr lang="en-US" sz="1100" b="1" dirty="0">
                <a:solidFill>
                  <a:srgbClr val="FFFFFF"/>
                </a:solidFill>
                <a:latin typeface="Calibri" pitchFamily="34" charset="0"/>
                <a:cs typeface="Calibri" pitchFamily="34" charset="-120"/>
              </a:rPr>
              <a:t>Partner Up</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Sit together. You’ll both build AND edit today — no one watches from the sidelines. </a:t>
            </a:r>
            <a:endParaRPr lang="en-US" sz="1800" dirty="0"/>
          </a:p>
        </p:txBody>
      </p:sp>
      <p:sp>
        <p:nvSpPr>
          <p:cNvPr id="10" name="Shape 8"/>
          <p:cNvSpPr/>
          <p:nvPr/>
        </p:nvSpPr>
        <p:spPr>
          <a:xfrm>
            <a:off x="548640" y="260604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11" name="Text 9"/>
          <p:cNvSpPr/>
          <p:nvPr/>
        </p:nvSpPr>
        <p:spPr>
          <a:xfrm>
            <a:off x="685800" y="2606040"/>
            <a:ext cx="7772400"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Step 2 is the critical path. If Replit and GitHub aren’t connected before we start, you’ll spend Round 1 troubleshooting instead of building.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D2B1F"/>
        </a:solidFill>
        <a:effectLst/>
      </p:bgPr>
    </p:bg>
    <p:spTree>
      <p:nvGrpSpPr>
        <p:cNvPr id="1" name=""/>
        <p:cNvGrpSpPr/>
        <p:nvPr/>
      </p:nvGrpSpPr>
      <p:grpSpPr>
        <a:xfrm>
          <a:off x="0" y="0"/>
          <a:ext cx="0" cy="0"/>
          <a:chOff x="0" y="0"/>
          <a:chExt cx="0" cy="0"/>
        </a:xfrm>
      </p:grpSpPr>
      <p:sp>
        <p:nvSpPr>
          <p:cNvPr id="2" name="Text 0"/>
          <p:cNvSpPr/>
          <p:nvPr/>
        </p:nvSpPr>
        <p:spPr>
          <a:xfrm>
            <a:off x="731520" y="1645920"/>
            <a:ext cx="7680960" cy="82296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GitHub 2.0: The Handoff</a:t>
            </a:r>
            <a:endParaRPr lang="en-US" sz="3800" dirty="0"/>
          </a:p>
        </p:txBody>
      </p:sp>
      <p:sp>
        <p:nvSpPr>
          <p:cNvPr id="3" name="Text 1"/>
          <p:cNvSpPr/>
          <p:nvPr/>
        </p:nvSpPr>
        <p:spPr>
          <a:xfrm>
            <a:off x="731520" y="2468880"/>
            <a:ext cx="7680960" cy="457200"/>
          </a:xfrm>
          <a:prstGeom prst="rect">
            <a:avLst/>
          </a:prstGeom>
          <a:noFill/>
          <a:ln/>
        </p:spPr>
        <p:txBody>
          <a:bodyPr wrap="square" lIns="0" tIns="0" rIns="0" bIns="0" rtlCol="0" anchor="ctr"/>
          <a:lstStyle/>
          <a:p>
            <a:pPr marL="0" indent="0" algn="ctr">
              <a:buNone/>
            </a:pPr>
            <a:r>
              <a:rPr lang="en-US" sz="1600" dirty="0">
                <a:solidFill>
                  <a:srgbClr val="F0DCC0"/>
                </a:solidFill>
                <a:latin typeface="Calibri" pitchFamily="34" charset="0"/>
                <a:ea typeface="Calibri" pitchFamily="34" charset="-122"/>
                <a:cs typeface="Calibri" pitchFamily="34" charset="-120"/>
              </a:rPr>
              <a:t>Building Together Without Breaking Things</a:t>
            </a:r>
            <a:endParaRPr lang="en-US" sz="1600" dirty="0"/>
          </a:p>
        </p:txBody>
      </p:sp>
      <p:sp>
        <p:nvSpPr>
          <p:cNvPr id="4" name="Text 2"/>
          <p:cNvSpPr/>
          <p:nvPr/>
        </p:nvSpPr>
        <p:spPr>
          <a:xfrm>
            <a:off x="731520" y="2926080"/>
            <a:ext cx="7680960" cy="365760"/>
          </a:xfrm>
          <a:prstGeom prst="rect">
            <a:avLst/>
          </a:prstGeom>
          <a:noFill/>
          <a:ln/>
        </p:spPr>
        <p:txBody>
          <a:bodyPr wrap="square" lIns="0" tIns="0" rIns="0" bIns="0" rtlCol="0" anchor="ctr"/>
          <a:lstStyle/>
          <a:p>
            <a:pPr marL="0" indent="0" algn="ctr">
              <a:buNone/>
            </a:pPr>
            <a:r>
              <a:rPr lang="en-US" sz="1200" dirty="0">
                <a:solidFill>
                  <a:srgbClr val="8B7355"/>
                </a:solidFill>
                <a:latin typeface="Calibri" pitchFamily="34" charset="0"/>
                <a:ea typeface="Calibri" pitchFamily="34" charset="-122"/>
                <a:cs typeface="Calibri" pitchFamily="34" charset="-120"/>
              </a:rPr>
              <a:t>Aaron McKeever — The Upskilling Labs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5042"/>
          </a:solidFill>
          <a:ln/>
        </p:spPr>
        <p:txBody>
          <a:bodyPr/>
          <a:lstStyle/>
          <a:p>
            <a:endParaRPr lang="en-US"/>
          </a:p>
        </p:txBody>
      </p:sp>
      <p:sp>
        <p:nvSpPr>
          <p:cNvPr id="3" name="Text 1"/>
          <p:cNvSpPr/>
          <p:nvPr/>
        </p:nvSpPr>
        <p:spPr>
          <a:xfrm>
            <a:off x="548640" y="1097280"/>
            <a:ext cx="8046720" cy="365760"/>
          </a:xfrm>
          <a:prstGeom prst="rect">
            <a:avLst/>
          </a:prstGeom>
          <a:noFill/>
          <a:ln/>
        </p:spPr>
        <p:txBody>
          <a:bodyPr wrap="square" lIns="0" tIns="0" rIns="0" bIns="0" rtlCol="0" anchor="ctr"/>
          <a:lstStyle/>
          <a:p>
            <a:pPr marL="0" indent="0">
              <a:buNone/>
            </a:pPr>
            <a:r>
              <a:rPr lang="en-US" sz="1300" b="1" kern="0" spc="300" dirty="0">
                <a:solidFill>
                  <a:srgbClr val="B85042"/>
                </a:solidFill>
                <a:latin typeface="Calibri" pitchFamily="34" charset="0"/>
                <a:ea typeface="Calibri" pitchFamily="34" charset="-122"/>
                <a:cs typeface="Calibri" pitchFamily="34" charset="-120"/>
              </a:rPr>
              <a:t>PART 1</a:t>
            </a:r>
            <a:endParaRPr lang="en-US" sz="1300" dirty="0"/>
          </a:p>
        </p:txBody>
      </p:sp>
      <p:sp>
        <p:nvSpPr>
          <p:cNvPr id="4" name="Text 2"/>
          <p:cNvSpPr/>
          <p:nvPr/>
        </p:nvSpPr>
        <p:spPr>
          <a:xfrm>
            <a:off x="548640" y="1463040"/>
            <a:ext cx="8046720" cy="640080"/>
          </a:xfrm>
          <a:prstGeom prst="rect">
            <a:avLst/>
          </a:prstGeom>
          <a:noFill/>
          <a:ln/>
        </p:spPr>
        <p:txBody>
          <a:bodyPr wrap="square" lIns="0" tIns="0" rIns="0" bIns="0" rtlCol="0" anchor="ctr"/>
          <a:lstStyle/>
          <a:p>
            <a:pPr marL="0" indent="0">
              <a:buNone/>
            </a:pPr>
            <a:r>
              <a:rPr lang="en-US" sz="3000" b="1" dirty="0">
                <a:solidFill>
                  <a:srgbClr val="3D2B1F"/>
                </a:solidFill>
                <a:latin typeface="Cambria" pitchFamily="34" charset="0"/>
                <a:ea typeface="Cambria" pitchFamily="34" charset="-122"/>
                <a:cs typeface="Cambria" pitchFamily="34" charset="-120"/>
              </a:rPr>
              <a:t>The Map for Today</a:t>
            </a:r>
            <a:endParaRPr lang="en-US" sz="3000" dirty="0"/>
          </a:p>
        </p:txBody>
      </p:sp>
      <p:sp>
        <p:nvSpPr>
          <p:cNvPr id="5" name="Text 3"/>
          <p:cNvSpPr/>
          <p:nvPr/>
        </p:nvSpPr>
        <p:spPr>
          <a:xfrm>
            <a:off x="548640" y="2103120"/>
            <a:ext cx="8046720" cy="411480"/>
          </a:xfrm>
          <a:prstGeom prst="rect">
            <a:avLst/>
          </a:prstGeom>
          <a:noFill/>
          <a:ln/>
        </p:spPr>
        <p:txBody>
          <a:bodyPr wrap="square" lIns="0" tIns="0" rIns="0" bIns="0" rtlCol="0" anchor="ctr"/>
          <a:lstStyle/>
          <a:p>
            <a:pPr marL="0" indent="0">
              <a:buNone/>
            </a:pPr>
            <a:r>
              <a:rPr lang="en-US" sz="1400" dirty="0">
                <a:solidFill>
                  <a:srgbClr val="8B7355"/>
                </a:solidFill>
                <a:latin typeface="Calibri" pitchFamily="34" charset="0"/>
                <a:ea typeface="Calibri" pitchFamily="34" charset="-122"/>
                <a:cs typeface="Calibri" pitchFamily="34" charset="-120"/>
              </a:rPr>
              <a:t>Reviewing What Powers the Handoff</a:t>
            </a:r>
            <a:endParaRPr lang="en-US" sz="1400" dirty="0"/>
          </a:p>
        </p:txBody>
      </p:sp>
      <p:sp>
        <p:nvSpPr>
          <p:cNvPr id="6" name="Text 4"/>
          <p:cNvSpPr/>
          <p:nvPr/>
        </p:nvSpPr>
        <p:spPr>
          <a:xfrm>
            <a:off x="548640" y="260604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~12 minutes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The Rule Change</a:t>
            </a:r>
            <a:endParaRPr lang="en-US" sz="2200" dirty="0"/>
          </a:p>
        </p:txBody>
      </p:sp>
      <p:sp>
        <p:nvSpPr>
          <p:cNvPr id="3" name="Shape 1"/>
          <p:cNvSpPr/>
          <p:nvPr/>
        </p:nvSpPr>
        <p:spPr>
          <a:xfrm>
            <a:off x="548640" y="1005840"/>
            <a:ext cx="3657600" cy="1645920"/>
          </a:xfrm>
          <a:prstGeom prst="roundRect">
            <a:avLst>
              <a:gd name="adj" fmla="val 4444"/>
            </a:avLst>
          </a:prstGeom>
          <a:solidFill>
            <a:srgbClr val="F0DCC0"/>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731520" y="1097280"/>
            <a:ext cx="3291840" cy="320040"/>
          </a:xfrm>
          <a:prstGeom prst="rect">
            <a:avLst/>
          </a:prstGeom>
          <a:noFill/>
          <a:ln/>
        </p:spPr>
        <p:txBody>
          <a:bodyPr wrap="square" lIns="0" tIns="0" rIns="0" bIns="0" rtlCol="0" anchor="ctr"/>
          <a:lstStyle/>
          <a:p>
            <a:pPr marL="0" indent="0">
              <a:buNone/>
            </a:pPr>
            <a:r>
              <a:rPr lang="en-US" sz="1400" b="1" dirty="0">
                <a:solidFill>
                  <a:srgbClr val="B85042"/>
                </a:solidFill>
                <a:latin typeface="Cambria" pitchFamily="34" charset="0"/>
                <a:ea typeface="Cambria" pitchFamily="34" charset="-122"/>
                <a:cs typeface="Cambria" pitchFamily="34" charset="-120"/>
              </a:rPr>
              <a:t>Workshop 1</a:t>
            </a:r>
            <a:endParaRPr lang="en-US" sz="1400" dirty="0"/>
          </a:p>
        </p:txBody>
      </p:sp>
      <p:sp>
        <p:nvSpPr>
          <p:cNvPr id="5" name="Text 3"/>
          <p:cNvSpPr/>
          <p:nvPr/>
        </p:nvSpPr>
        <p:spPr>
          <a:xfrm>
            <a:off x="731520" y="1429001"/>
            <a:ext cx="3291840" cy="824403"/>
          </a:xfrm>
          <a:prstGeom prst="rect">
            <a:avLst/>
          </a:prstGeom>
          <a:noFill/>
          <a:ln/>
        </p:spPr>
        <p:txBody>
          <a:bodyPr wrap="square" lIns="0" tIns="0" rIns="0" bIns="0" rtlCol="0" anchor="ctr"/>
          <a:lstStyle/>
          <a:p>
            <a:pPr marL="0" indent="0">
              <a:buNone/>
            </a:pPr>
            <a:r>
              <a:rPr lang="en-US" sz="1100" dirty="0">
                <a:solidFill>
                  <a:srgbClr val="5C4033"/>
                </a:solidFill>
                <a:latin typeface="Calibri" pitchFamily="34" charset="0"/>
                <a:ea typeface="Calibri" pitchFamily="34" charset="-122"/>
                <a:cs typeface="Calibri" pitchFamily="34" charset="-120"/>
              </a:rPr>
              <a:t>We got familiar with GitHub terminology and committed .md files directly to main; however, that was solo practice on a private repository.</a:t>
            </a:r>
            <a:endParaRPr lang="en-US" sz="1100" dirty="0"/>
          </a:p>
        </p:txBody>
      </p:sp>
      <p:sp>
        <p:nvSpPr>
          <p:cNvPr id="6" name="Shape 4"/>
          <p:cNvSpPr/>
          <p:nvPr/>
        </p:nvSpPr>
        <p:spPr>
          <a:xfrm>
            <a:off x="4663440" y="1005840"/>
            <a:ext cx="3931920" cy="1645920"/>
          </a:xfrm>
          <a:prstGeom prst="roundRect">
            <a:avLst>
              <a:gd name="adj" fmla="val 4444"/>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4846320" y="1097280"/>
            <a:ext cx="356616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From Now On</a:t>
            </a:r>
            <a:endParaRPr lang="en-US" sz="1400" dirty="0"/>
          </a:p>
        </p:txBody>
      </p:sp>
      <p:sp>
        <p:nvSpPr>
          <p:cNvPr id="8" name="Text 6"/>
          <p:cNvSpPr/>
          <p:nvPr/>
        </p:nvSpPr>
        <p:spPr>
          <a:xfrm>
            <a:off x="4846320" y="1429001"/>
            <a:ext cx="3566160" cy="824403"/>
          </a:xfrm>
          <a:prstGeom prst="rect">
            <a:avLst/>
          </a:prstGeom>
          <a:noFill/>
          <a:ln/>
        </p:spPr>
        <p:txBody>
          <a:bodyPr wrap="square" lIns="0" tIns="0" rIns="0" bIns="0" rtlCol="0" anchor="ctr"/>
          <a:lstStyle/>
          <a:p>
            <a:pPr marL="0" indent="0">
              <a:lnSpc>
                <a:spcPct val="160000"/>
              </a:lnSpc>
              <a:buNone/>
            </a:pPr>
            <a:r>
              <a:rPr lang="en-US" sz="1100" dirty="0">
                <a:solidFill>
                  <a:srgbClr val="FFFFFF"/>
                </a:solidFill>
                <a:latin typeface="Calibri" pitchFamily="34" charset="0"/>
                <a:ea typeface="Calibri" pitchFamily="34" charset="-122"/>
                <a:cs typeface="Calibri" pitchFamily="34" charset="-120"/>
              </a:rPr>
              <a:t>1. Main should always protected!</a:t>
            </a:r>
            <a:endParaRPr lang="en-US" sz="1100" dirty="0"/>
          </a:p>
          <a:p>
            <a:pPr marL="0" indent="0">
              <a:lnSpc>
                <a:spcPct val="160000"/>
              </a:lnSpc>
              <a:buNone/>
            </a:pPr>
            <a:r>
              <a:rPr lang="en-US" sz="1100" dirty="0">
                <a:solidFill>
                  <a:srgbClr val="FFFFFF"/>
                </a:solidFill>
                <a:latin typeface="Calibri" pitchFamily="34" charset="0"/>
                <a:ea typeface="Calibri" pitchFamily="34" charset="-122"/>
                <a:cs typeface="Calibri" pitchFamily="34" charset="-120"/>
              </a:rPr>
              <a:t>2. Every change will go through a branch and a Pull Request</a:t>
            </a:r>
            <a:endParaRPr lang="en-US" sz="1100" dirty="0"/>
          </a:p>
          <a:p>
            <a:pPr marL="0" indent="0">
              <a:lnSpc>
                <a:spcPct val="160000"/>
              </a:lnSpc>
              <a:buNone/>
            </a:pPr>
            <a:r>
              <a:rPr lang="en-US" sz="1100" i="1" dirty="0">
                <a:solidFill>
                  <a:srgbClr val="FFFFFF"/>
                </a:solidFill>
                <a:latin typeface="Calibri" pitchFamily="34" charset="0"/>
                <a:ea typeface="Calibri" pitchFamily="34" charset="-122"/>
                <a:cs typeface="Calibri" pitchFamily="34" charset="-120"/>
              </a:rPr>
              <a:t>These are best for multiple people working on a shared repo.</a:t>
            </a:r>
            <a:endParaRPr lang="en-US" sz="1100" i="1" dirty="0"/>
          </a:p>
        </p:txBody>
      </p:sp>
      <p:sp>
        <p:nvSpPr>
          <p:cNvPr id="9" name="Text 7"/>
          <p:cNvSpPr/>
          <p:nvPr/>
        </p:nvSpPr>
        <p:spPr>
          <a:xfrm>
            <a:off x="4160520" y="1463040"/>
            <a:ext cx="548640" cy="548640"/>
          </a:xfrm>
          <a:prstGeom prst="rect">
            <a:avLst/>
          </a:prstGeom>
          <a:noFill/>
          <a:ln/>
        </p:spPr>
        <p:txBody>
          <a:bodyPr wrap="square" lIns="0" tIns="0" rIns="0" bIns="0" rtlCol="0" anchor="ctr"/>
          <a:lstStyle/>
          <a:p>
            <a:pPr marL="0" indent="0" algn="ctr">
              <a:buNone/>
            </a:pPr>
            <a:r>
              <a:rPr lang="en-US" sz="2800" dirty="0">
                <a:solidFill>
                  <a:srgbClr val="8B7355"/>
                </a:solidFill>
              </a:rPr>
              <a:t>→</a:t>
            </a:r>
            <a:endParaRPr lang="en-US" sz="2800" dirty="0"/>
          </a:p>
        </p:txBody>
      </p:sp>
      <p:sp>
        <p:nvSpPr>
          <p:cNvPr id="10" name="Shape 8"/>
          <p:cNvSpPr/>
          <p:nvPr/>
        </p:nvSpPr>
        <p:spPr>
          <a:xfrm>
            <a:off x="548640" y="2926080"/>
            <a:ext cx="8046720" cy="594360"/>
          </a:xfrm>
          <a:prstGeom prst="roundRect">
            <a:avLst>
              <a:gd name="adj" fmla="val 9231"/>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1" name="Text 9"/>
          <p:cNvSpPr/>
          <p:nvPr/>
        </p:nvSpPr>
        <p:spPr>
          <a:xfrm>
            <a:off x="685800" y="2984924"/>
            <a:ext cx="7772400" cy="411480"/>
          </a:xfrm>
          <a:prstGeom prst="rect">
            <a:avLst/>
          </a:prstGeom>
          <a:noFill/>
          <a:ln/>
        </p:spPr>
        <p:txBody>
          <a:bodyPr wrap="square" lIns="0" tIns="101600" rIns="10160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Now we practice the teamwork. Treat Main as special — today and for the entire build cycle.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The Branch Workflow</a:t>
            </a:r>
            <a:endParaRPr lang="en-US" sz="22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Review from Workshop 1, Part 4</a:t>
            </a:r>
            <a:endParaRPr lang="en-US" sz="1100" dirty="0"/>
          </a:p>
        </p:txBody>
      </p:sp>
      <p:sp>
        <p:nvSpPr>
          <p:cNvPr id="4" name="Shape 2"/>
          <p:cNvSpPr/>
          <p:nvPr/>
        </p:nvSpPr>
        <p:spPr>
          <a:xfrm>
            <a:off x="548640" y="1051560"/>
            <a:ext cx="365760" cy="365760"/>
          </a:xfrm>
          <a:prstGeom prst="roundRect">
            <a:avLst>
              <a:gd name="adj" fmla="val 10000"/>
            </a:avLst>
          </a:prstGeom>
          <a:solidFill>
            <a:srgbClr val="B85042"/>
          </a:solidFill>
          <a:ln/>
        </p:spPr>
        <p:txBody>
          <a:bodyPr/>
          <a:lstStyle/>
          <a:p>
            <a:endParaRPr lang="en-US"/>
          </a:p>
        </p:txBody>
      </p:sp>
      <p:sp>
        <p:nvSpPr>
          <p:cNvPr id="5" name="Text 3"/>
          <p:cNvSpPr/>
          <p:nvPr/>
        </p:nvSpPr>
        <p:spPr>
          <a:xfrm>
            <a:off x="548640" y="10515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051560"/>
            <a:ext cx="7452360" cy="365760"/>
          </a:xfrm>
          <a:prstGeom prst="rect">
            <a:avLst/>
          </a:prstGeom>
          <a:noFill/>
          <a:ln/>
        </p:spPr>
        <p:txBody>
          <a:bodyPr wrap="square" lIns="0" tIns="0" rIns="0" bIns="0" rtlCol="0" anchor="ctr"/>
          <a:lstStyle/>
          <a:p>
            <a:pPr marL="0" indent="0">
              <a:buNone/>
            </a:pPr>
            <a:r>
              <a:rPr lang="en-US" sz="1150" dirty="0">
                <a:solidFill>
                  <a:srgbClr val="3D2B1F"/>
                </a:solidFill>
                <a:latin typeface="Calibri" pitchFamily="34" charset="0"/>
                <a:ea typeface="Calibri" pitchFamily="34" charset="-122"/>
                <a:cs typeface="Calibri" pitchFamily="34" charset="-120"/>
              </a:rPr>
              <a:t>Main is the “official” version. Nobody works directly on main.</a:t>
            </a:r>
            <a:endParaRPr lang="en-US" sz="1150" dirty="0"/>
          </a:p>
        </p:txBody>
      </p:sp>
      <p:sp>
        <p:nvSpPr>
          <p:cNvPr id="7" name="Shape 5"/>
          <p:cNvSpPr/>
          <p:nvPr/>
        </p:nvSpPr>
        <p:spPr>
          <a:xfrm>
            <a:off x="548640" y="1554480"/>
            <a:ext cx="365760" cy="365760"/>
          </a:xfrm>
          <a:prstGeom prst="roundRect">
            <a:avLst>
              <a:gd name="adj" fmla="val 10000"/>
            </a:avLst>
          </a:prstGeom>
          <a:solidFill>
            <a:srgbClr val="B85042"/>
          </a:solidFill>
          <a:ln/>
        </p:spPr>
        <p:txBody>
          <a:bodyPr/>
          <a:lstStyle/>
          <a:p>
            <a:endParaRPr lang="en-US"/>
          </a:p>
        </p:txBody>
      </p:sp>
      <p:sp>
        <p:nvSpPr>
          <p:cNvPr id="8" name="Text 6"/>
          <p:cNvSpPr/>
          <p:nvPr/>
        </p:nvSpPr>
        <p:spPr>
          <a:xfrm>
            <a:off x="548640" y="15544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51560" y="1554480"/>
            <a:ext cx="7452360" cy="365760"/>
          </a:xfrm>
          <a:prstGeom prst="rect">
            <a:avLst/>
          </a:prstGeom>
          <a:noFill/>
          <a:ln/>
        </p:spPr>
        <p:txBody>
          <a:bodyPr wrap="square" lIns="0" tIns="0" rIns="0" bIns="0" rtlCol="0" anchor="ctr"/>
          <a:lstStyle/>
          <a:p>
            <a:pPr marL="0" indent="0">
              <a:buNone/>
            </a:pPr>
            <a:r>
              <a:rPr lang="en-US" sz="1150" dirty="0">
                <a:solidFill>
                  <a:srgbClr val="3D2B1F"/>
                </a:solidFill>
                <a:latin typeface="Calibri" pitchFamily="34" charset="0"/>
                <a:ea typeface="Calibri" pitchFamily="34" charset="-122"/>
                <a:cs typeface="Calibri" pitchFamily="34" charset="-120"/>
              </a:rPr>
              <a:t>New task → new branch. Name it descriptively: feature/new-headline, fix/broken-link</a:t>
            </a:r>
            <a:endParaRPr lang="en-US" sz="1150" dirty="0"/>
          </a:p>
        </p:txBody>
      </p:sp>
      <p:sp>
        <p:nvSpPr>
          <p:cNvPr id="10" name="Shape 8"/>
          <p:cNvSpPr/>
          <p:nvPr/>
        </p:nvSpPr>
        <p:spPr>
          <a:xfrm>
            <a:off x="548640" y="2057400"/>
            <a:ext cx="365760" cy="365760"/>
          </a:xfrm>
          <a:prstGeom prst="roundRect">
            <a:avLst>
              <a:gd name="adj" fmla="val 10000"/>
            </a:avLst>
          </a:prstGeom>
          <a:solidFill>
            <a:srgbClr val="B85042"/>
          </a:solidFill>
          <a:ln/>
        </p:spPr>
        <p:txBody>
          <a:bodyPr/>
          <a:lstStyle/>
          <a:p>
            <a:endParaRPr lang="en-US"/>
          </a:p>
        </p:txBody>
      </p:sp>
      <p:sp>
        <p:nvSpPr>
          <p:cNvPr id="11" name="Text 9"/>
          <p:cNvSpPr/>
          <p:nvPr/>
        </p:nvSpPr>
        <p:spPr>
          <a:xfrm>
            <a:off x="548640" y="20574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51560" y="2057400"/>
            <a:ext cx="7452360" cy="365760"/>
          </a:xfrm>
          <a:prstGeom prst="rect">
            <a:avLst/>
          </a:prstGeom>
          <a:noFill/>
          <a:ln/>
        </p:spPr>
        <p:txBody>
          <a:bodyPr wrap="square" lIns="0" tIns="0" rIns="0" bIns="0" rtlCol="0" anchor="ctr"/>
          <a:lstStyle/>
          <a:p>
            <a:pPr marL="0" indent="0">
              <a:buNone/>
            </a:pPr>
            <a:r>
              <a:rPr lang="en-US" sz="1150" dirty="0">
                <a:solidFill>
                  <a:srgbClr val="3D2B1F"/>
                </a:solidFill>
                <a:latin typeface="Calibri" pitchFamily="34" charset="0"/>
                <a:ea typeface="Calibri" pitchFamily="34" charset="-122"/>
                <a:cs typeface="Calibri" pitchFamily="34" charset="-120"/>
              </a:rPr>
              <a:t>Do your work on the branch. Commit often.</a:t>
            </a:r>
            <a:endParaRPr lang="en-US" sz="1150" dirty="0"/>
          </a:p>
        </p:txBody>
      </p:sp>
      <p:sp>
        <p:nvSpPr>
          <p:cNvPr id="13" name="Shape 11"/>
          <p:cNvSpPr/>
          <p:nvPr/>
        </p:nvSpPr>
        <p:spPr>
          <a:xfrm>
            <a:off x="548640" y="2560320"/>
            <a:ext cx="365760" cy="365760"/>
          </a:xfrm>
          <a:prstGeom prst="roundRect">
            <a:avLst>
              <a:gd name="adj" fmla="val 10000"/>
            </a:avLst>
          </a:prstGeom>
          <a:solidFill>
            <a:srgbClr val="5C4033"/>
          </a:solidFill>
          <a:ln/>
        </p:spPr>
        <p:txBody>
          <a:bodyPr/>
          <a:lstStyle/>
          <a:p>
            <a:endParaRPr lang="en-US"/>
          </a:p>
        </p:txBody>
      </p:sp>
      <p:sp>
        <p:nvSpPr>
          <p:cNvPr id="14" name="Text 12"/>
          <p:cNvSpPr/>
          <p:nvPr/>
        </p:nvSpPr>
        <p:spPr>
          <a:xfrm>
            <a:off x="548640" y="2560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051560" y="2560320"/>
            <a:ext cx="7452360" cy="365760"/>
          </a:xfrm>
          <a:prstGeom prst="rect">
            <a:avLst/>
          </a:prstGeom>
          <a:noFill/>
          <a:ln/>
        </p:spPr>
        <p:txBody>
          <a:bodyPr wrap="square" lIns="0" tIns="0" rIns="0" bIns="0" rtlCol="0" anchor="ctr"/>
          <a:lstStyle/>
          <a:p>
            <a:pPr marL="0" indent="0">
              <a:buNone/>
            </a:pPr>
            <a:r>
              <a:rPr lang="en-US" sz="1150" dirty="0">
                <a:solidFill>
                  <a:srgbClr val="3D2B1F"/>
                </a:solidFill>
                <a:latin typeface="Calibri" pitchFamily="34" charset="0"/>
                <a:ea typeface="Calibri" pitchFamily="34" charset="-122"/>
                <a:cs typeface="Calibri" pitchFamily="34" charset="-120"/>
              </a:rPr>
              <a:t>When ready, open a Pull Request on GitHub.</a:t>
            </a:r>
            <a:endParaRPr lang="en-US" sz="1150" dirty="0"/>
          </a:p>
        </p:txBody>
      </p:sp>
      <p:sp>
        <p:nvSpPr>
          <p:cNvPr id="16" name="Shape 14"/>
          <p:cNvSpPr/>
          <p:nvPr/>
        </p:nvSpPr>
        <p:spPr>
          <a:xfrm>
            <a:off x="548640" y="3063240"/>
            <a:ext cx="365760" cy="365760"/>
          </a:xfrm>
          <a:prstGeom prst="roundRect">
            <a:avLst>
              <a:gd name="adj" fmla="val 10000"/>
            </a:avLst>
          </a:prstGeom>
          <a:solidFill>
            <a:srgbClr val="5C4033"/>
          </a:solidFill>
          <a:ln/>
        </p:spPr>
        <p:txBody>
          <a:bodyPr/>
          <a:lstStyle/>
          <a:p>
            <a:endParaRPr lang="en-US"/>
          </a:p>
        </p:txBody>
      </p:sp>
      <p:sp>
        <p:nvSpPr>
          <p:cNvPr id="17" name="Text 15"/>
          <p:cNvSpPr/>
          <p:nvPr/>
        </p:nvSpPr>
        <p:spPr>
          <a:xfrm>
            <a:off x="548640" y="30632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051560" y="3063240"/>
            <a:ext cx="7452360" cy="365760"/>
          </a:xfrm>
          <a:prstGeom prst="rect">
            <a:avLst/>
          </a:prstGeom>
          <a:noFill/>
          <a:ln/>
        </p:spPr>
        <p:txBody>
          <a:bodyPr wrap="square" lIns="0" tIns="0" rIns="0" bIns="0" rtlCol="0" anchor="ctr"/>
          <a:lstStyle/>
          <a:p>
            <a:pPr marL="0" indent="0">
              <a:buNone/>
            </a:pPr>
            <a:r>
              <a:rPr lang="en-US" sz="1150" dirty="0">
                <a:solidFill>
                  <a:srgbClr val="3D2B1F"/>
                </a:solidFill>
                <a:latin typeface="Calibri" pitchFamily="34" charset="0"/>
                <a:ea typeface="Calibri" pitchFamily="34" charset="-122"/>
                <a:cs typeface="Calibri" pitchFamily="34" charset="-120"/>
              </a:rPr>
              <a:t>A teammate reviews, then merges.</a:t>
            </a:r>
            <a:endParaRPr lang="en-US" sz="1150" dirty="0"/>
          </a:p>
        </p:txBody>
      </p:sp>
      <p:sp>
        <p:nvSpPr>
          <p:cNvPr id="19" name="Shape 17"/>
          <p:cNvSpPr/>
          <p:nvPr/>
        </p:nvSpPr>
        <p:spPr>
          <a:xfrm>
            <a:off x="548640" y="3566160"/>
            <a:ext cx="365760" cy="365760"/>
          </a:xfrm>
          <a:prstGeom prst="roundRect">
            <a:avLst>
              <a:gd name="adj" fmla="val 10000"/>
            </a:avLst>
          </a:prstGeom>
          <a:solidFill>
            <a:srgbClr val="A7BEAE"/>
          </a:solidFill>
          <a:ln/>
        </p:spPr>
        <p:txBody>
          <a:bodyPr/>
          <a:lstStyle/>
          <a:p>
            <a:endParaRPr lang="en-US"/>
          </a:p>
        </p:txBody>
      </p:sp>
      <p:sp>
        <p:nvSpPr>
          <p:cNvPr id="20" name="Text 18"/>
          <p:cNvSpPr/>
          <p:nvPr/>
        </p:nvSpPr>
        <p:spPr>
          <a:xfrm>
            <a:off x="548640" y="3566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051560" y="3566160"/>
            <a:ext cx="7452360" cy="365760"/>
          </a:xfrm>
          <a:prstGeom prst="rect">
            <a:avLst/>
          </a:prstGeom>
          <a:noFill/>
          <a:ln/>
        </p:spPr>
        <p:txBody>
          <a:bodyPr wrap="square" lIns="0" tIns="0" rIns="0" bIns="0" rtlCol="0" anchor="ctr"/>
          <a:lstStyle/>
          <a:p>
            <a:pPr marL="0" indent="0">
              <a:buNone/>
            </a:pPr>
            <a:r>
              <a:rPr lang="en-US" sz="1150" dirty="0">
                <a:solidFill>
                  <a:srgbClr val="3D2B1F"/>
                </a:solidFill>
                <a:latin typeface="Calibri" pitchFamily="34" charset="0"/>
                <a:ea typeface="Calibri" pitchFamily="34" charset="-122"/>
                <a:cs typeface="Calibri" pitchFamily="34" charset="-120"/>
              </a:rPr>
              <a:t>Delete the branch as best practice (optional)</a:t>
            </a:r>
            <a:endParaRPr lang="en-US" sz="1150" dirty="0"/>
          </a:p>
        </p:txBody>
      </p:sp>
      <p:sp>
        <p:nvSpPr>
          <p:cNvPr id="22" name="Shape 20"/>
          <p:cNvSpPr/>
          <p:nvPr/>
        </p:nvSpPr>
        <p:spPr>
          <a:xfrm>
            <a:off x="548640" y="420624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23" name="Text 21"/>
          <p:cNvSpPr/>
          <p:nvPr/>
        </p:nvSpPr>
        <p:spPr>
          <a:xfrm>
            <a:off x="678050" y="4176405"/>
            <a:ext cx="8179232"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New today: Steps 4 and 5 — opening and reviewing a Pull Request — are the skills we’re adding.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Typical Daily Cycle + The Handoff Layer</a:t>
            </a:r>
            <a:endParaRPr lang="en-US" sz="22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Review from Workshop 1, Part 6 — with a new dimension</a:t>
            </a:r>
            <a:endParaRPr lang="en-US" sz="1100" dirty="0"/>
          </a:p>
        </p:txBody>
      </p:sp>
      <p:sp>
        <p:nvSpPr>
          <p:cNvPr id="4" name="Shape 2"/>
          <p:cNvSpPr/>
          <p:nvPr/>
        </p:nvSpPr>
        <p:spPr>
          <a:xfrm>
            <a:off x="548640" y="1097280"/>
            <a:ext cx="3749040" cy="2286000"/>
          </a:xfrm>
          <a:prstGeom prst="roundRect">
            <a:avLst>
              <a:gd name="adj" fmla="val 3200"/>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731520" y="1188720"/>
            <a:ext cx="3383280" cy="274320"/>
          </a:xfrm>
          <a:prstGeom prst="rect">
            <a:avLst/>
          </a:prstGeom>
          <a:noFill/>
          <a:ln/>
        </p:spPr>
        <p:txBody>
          <a:bodyPr wrap="square" lIns="0" tIns="0" rIns="0" bIns="0" rtlCol="0" anchor="ctr"/>
          <a:lstStyle/>
          <a:p>
            <a:pPr marL="0" indent="0">
              <a:buNone/>
            </a:pPr>
            <a:r>
              <a:rPr lang="en-US" sz="1200" b="1" dirty="0">
                <a:solidFill>
                  <a:srgbClr val="B85042"/>
                </a:solidFill>
                <a:latin typeface="Cambria" pitchFamily="34" charset="0"/>
                <a:ea typeface="Cambria" pitchFamily="34" charset="-122"/>
                <a:cs typeface="Cambria" pitchFamily="34" charset="-120"/>
              </a:rPr>
              <a:t>Your Daily Cycle (recap)</a:t>
            </a:r>
            <a:endParaRPr lang="en-US" sz="1200" dirty="0"/>
          </a:p>
        </p:txBody>
      </p:sp>
      <p:sp>
        <p:nvSpPr>
          <p:cNvPr id="6" name="Text 4"/>
          <p:cNvSpPr/>
          <p:nvPr/>
        </p:nvSpPr>
        <p:spPr>
          <a:xfrm>
            <a:off x="731520" y="1554480"/>
            <a:ext cx="3383280" cy="1645920"/>
          </a:xfrm>
          <a:prstGeom prst="rect">
            <a:avLst/>
          </a:prstGeom>
          <a:noFill/>
          <a:ln/>
        </p:spPr>
        <p:txBody>
          <a:bodyPr wrap="square" lIns="0" tIns="0" rIns="0" bIns="0" rtlCol="0" anchor="ctr"/>
          <a:lstStyle/>
          <a:p>
            <a:pPr marL="0" indent="0">
              <a:lnSpc>
                <a:spcPct val="115000"/>
              </a:lnSpc>
              <a:buNone/>
            </a:pPr>
            <a:r>
              <a:rPr lang="en-US" sz="1100" b="1" dirty="0">
                <a:solidFill>
                  <a:srgbClr val="5C4033"/>
                </a:solidFill>
                <a:latin typeface="Calibri" pitchFamily="34" charset="0"/>
                <a:ea typeface="Calibri" pitchFamily="34" charset="-122"/>
                <a:cs typeface="Calibri" pitchFamily="34" charset="-120"/>
              </a:rPr>
              <a:t>Start: </a:t>
            </a:r>
            <a:r>
              <a:rPr lang="en-US" sz="1100" dirty="0">
                <a:solidFill>
                  <a:srgbClr val="5C4033"/>
                </a:solidFill>
                <a:latin typeface="Calibri" pitchFamily="34" charset="0"/>
                <a:ea typeface="Calibri" pitchFamily="34" charset="-122"/>
                <a:cs typeface="Calibri" pitchFamily="34" charset="-120"/>
              </a:rPr>
              <a:t>Fetch/Pull → Check your branch</a:t>
            </a:r>
            <a:endParaRPr lang="en-US" sz="1100" dirty="0"/>
          </a:p>
          <a:p>
            <a:pPr marL="0" indent="0">
              <a:lnSpc>
                <a:spcPct val="115000"/>
              </a:lnSpc>
              <a:buNone/>
            </a:pPr>
            <a:endParaRPr lang="en-US" sz="1100" dirty="0"/>
          </a:p>
          <a:p>
            <a:pPr marL="0" indent="0">
              <a:lnSpc>
                <a:spcPct val="115000"/>
              </a:lnSpc>
              <a:buNone/>
            </a:pPr>
            <a:r>
              <a:rPr lang="en-US" sz="1100" b="1" dirty="0">
                <a:solidFill>
                  <a:srgbClr val="5C4033"/>
                </a:solidFill>
                <a:latin typeface="Calibri" pitchFamily="34" charset="0"/>
                <a:ea typeface="Calibri" pitchFamily="34" charset="-122"/>
                <a:cs typeface="Calibri" pitchFamily="34" charset="-120"/>
              </a:rPr>
              <a:t>Work: </a:t>
            </a:r>
            <a:r>
              <a:rPr lang="en-US" sz="1100" dirty="0">
                <a:solidFill>
                  <a:srgbClr val="5C4033"/>
                </a:solidFill>
                <a:latin typeface="Calibri" pitchFamily="34" charset="0"/>
                <a:ea typeface="Calibri" pitchFamily="34" charset="-122"/>
                <a:cs typeface="Calibri" pitchFamily="34" charset="-120"/>
              </a:rPr>
              <a:t>Make changes in your editor</a:t>
            </a:r>
            <a:endParaRPr lang="en-US" sz="1100" dirty="0"/>
          </a:p>
          <a:p>
            <a:pPr marL="0" indent="0">
              <a:lnSpc>
                <a:spcPct val="115000"/>
              </a:lnSpc>
              <a:buNone/>
            </a:pPr>
            <a:endParaRPr lang="en-US" sz="1100" dirty="0"/>
          </a:p>
          <a:p>
            <a:pPr marL="0" indent="0">
              <a:lnSpc>
                <a:spcPct val="115000"/>
              </a:lnSpc>
              <a:buNone/>
            </a:pPr>
            <a:r>
              <a:rPr lang="en-US" sz="1100" b="1" dirty="0">
                <a:solidFill>
                  <a:srgbClr val="5C4033"/>
                </a:solidFill>
                <a:latin typeface="Calibri" pitchFamily="34" charset="0"/>
                <a:ea typeface="Calibri" pitchFamily="34" charset="-122"/>
                <a:cs typeface="Calibri" pitchFamily="34" charset="-120"/>
              </a:rPr>
              <a:t>End: </a:t>
            </a:r>
            <a:r>
              <a:rPr lang="en-US" sz="1100" dirty="0">
                <a:solidFill>
                  <a:srgbClr val="5C4033"/>
                </a:solidFill>
                <a:latin typeface="Calibri" pitchFamily="34" charset="0"/>
                <a:ea typeface="Calibri" pitchFamily="34" charset="-122"/>
                <a:cs typeface="Calibri" pitchFamily="34" charset="-120"/>
              </a:rPr>
              <a:t>Commit → Push before you close your laptop</a:t>
            </a:r>
            <a:endParaRPr lang="en-US" sz="1100" dirty="0"/>
          </a:p>
        </p:txBody>
      </p:sp>
      <p:sp>
        <p:nvSpPr>
          <p:cNvPr id="7" name="Shape 5"/>
          <p:cNvSpPr/>
          <p:nvPr/>
        </p:nvSpPr>
        <p:spPr>
          <a:xfrm>
            <a:off x="4663440" y="1097280"/>
            <a:ext cx="3931920" cy="2286000"/>
          </a:xfrm>
          <a:prstGeom prst="roundRect">
            <a:avLst>
              <a:gd name="adj" fmla="val 3200"/>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4846320" y="1188720"/>
            <a:ext cx="3566160" cy="27432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The Handoff Layer (new)</a:t>
            </a:r>
            <a:endParaRPr lang="en-US" sz="1200" dirty="0"/>
          </a:p>
        </p:txBody>
      </p:sp>
      <p:sp>
        <p:nvSpPr>
          <p:cNvPr id="9" name="Text 7"/>
          <p:cNvSpPr/>
          <p:nvPr/>
        </p:nvSpPr>
        <p:spPr>
          <a:xfrm>
            <a:off x="4846320" y="1554480"/>
            <a:ext cx="3566160" cy="1645920"/>
          </a:xfrm>
          <a:prstGeom prst="rect">
            <a:avLst/>
          </a:prstGeom>
          <a:noFill/>
          <a:ln/>
        </p:spPr>
        <p:txBody>
          <a:bodyPr wrap="square" lIns="0" tIns="0" rIns="0" bIns="0" rtlCol="0" anchor="ctr"/>
          <a:lstStyle/>
          <a:p>
            <a:pPr marL="0" indent="0">
              <a:lnSpc>
                <a:spcPct val="115000"/>
              </a:lnSpc>
              <a:buNone/>
            </a:pPr>
            <a:r>
              <a:rPr lang="en-US" sz="1050" b="1" dirty="0">
                <a:solidFill>
                  <a:srgbClr val="FFFFFF"/>
                </a:solidFill>
                <a:latin typeface="Calibri" pitchFamily="34" charset="0"/>
                <a:ea typeface="Calibri" pitchFamily="34" charset="-122"/>
                <a:cs typeface="Calibri" pitchFamily="34" charset="-120"/>
              </a:rPr>
              <a:t>Before you start: </a:t>
            </a:r>
            <a:r>
              <a:rPr lang="en-US" sz="1050" dirty="0">
                <a:solidFill>
                  <a:srgbClr val="FFFFFF"/>
                </a:solidFill>
                <a:latin typeface="Calibri" pitchFamily="34" charset="0"/>
                <a:ea typeface="Calibri" pitchFamily="34" charset="-122"/>
                <a:cs typeface="Calibri" pitchFamily="34" charset="-120"/>
              </a:rPr>
              <a:t>Pull to get your teammate’s latest</a:t>
            </a:r>
            <a:endParaRPr lang="en-US" sz="1050" dirty="0"/>
          </a:p>
          <a:p>
            <a:pPr marL="0" indent="0">
              <a:lnSpc>
                <a:spcPct val="115000"/>
              </a:lnSpc>
              <a:buNone/>
            </a:pPr>
            <a:endParaRPr lang="en-US" sz="1050" dirty="0"/>
          </a:p>
          <a:p>
            <a:pPr marL="0" indent="0">
              <a:lnSpc>
                <a:spcPct val="115000"/>
              </a:lnSpc>
              <a:buNone/>
            </a:pPr>
            <a:r>
              <a:rPr lang="en-US" sz="1050" b="1" dirty="0">
                <a:solidFill>
                  <a:srgbClr val="FFFFFF"/>
                </a:solidFill>
                <a:latin typeface="Calibri" pitchFamily="34" charset="0"/>
                <a:ea typeface="Calibri" pitchFamily="34" charset="-122"/>
                <a:cs typeface="Calibri" pitchFamily="34" charset="-120"/>
              </a:rPr>
              <a:t>Before you push: </a:t>
            </a:r>
            <a:r>
              <a:rPr lang="en-US" sz="1050" dirty="0">
                <a:solidFill>
                  <a:srgbClr val="FFFFFF"/>
                </a:solidFill>
                <a:latin typeface="Calibri" pitchFamily="34" charset="0"/>
                <a:ea typeface="Calibri" pitchFamily="34" charset="-122"/>
                <a:cs typeface="Calibri" pitchFamily="34" charset="-120"/>
              </a:rPr>
              <a:t>Confirm you’re on YOUR branch</a:t>
            </a:r>
            <a:endParaRPr lang="en-US" sz="1050" dirty="0"/>
          </a:p>
          <a:p>
            <a:pPr marL="0" indent="0">
              <a:lnSpc>
                <a:spcPct val="115000"/>
              </a:lnSpc>
              <a:buNone/>
            </a:pPr>
            <a:endParaRPr lang="en-US" sz="1050" dirty="0"/>
          </a:p>
          <a:p>
            <a:pPr marL="0" indent="0">
              <a:lnSpc>
                <a:spcPct val="115000"/>
              </a:lnSpc>
              <a:buNone/>
            </a:pPr>
            <a:r>
              <a:rPr lang="en-US" sz="1050" b="1" dirty="0">
                <a:solidFill>
                  <a:srgbClr val="FFFFFF"/>
                </a:solidFill>
                <a:latin typeface="Calibri" pitchFamily="34" charset="0"/>
                <a:ea typeface="Calibri" pitchFamily="34" charset="-122"/>
                <a:cs typeface="Calibri" pitchFamily="34" charset="-120"/>
              </a:rPr>
              <a:t>After you push: </a:t>
            </a:r>
            <a:r>
              <a:rPr lang="en-US" sz="1050" dirty="0">
                <a:solidFill>
                  <a:srgbClr val="FFFFFF"/>
                </a:solidFill>
                <a:latin typeface="Calibri" pitchFamily="34" charset="0"/>
                <a:ea typeface="Calibri" pitchFamily="34" charset="-122"/>
                <a:cs typeface="Calibri" pitchFamily="34" charset="-120"/>
              </a:rPr>
              <a:t>Open a Pull Request so your partner can review</a:t>
            </a:r>
            <a:endParaRPr lang="en-US" sz="1050" dirty="0"/>
          </a:p>
          <a:p>
            <a:pPr marL="0" indent="0">
              <a:lnSpc>
                <a:spcPct val="115000"/>
              </a:lnSpc>
              <a:buNone/>
            </a:pPr>
            <a:endParaRPr lang="en-US" sz="1050" dirty="0"/>
          </a:p>
          <a:p>
            <a:pPr marL="0" indent="0">
              <a:lnSpc>
                <a:spcPct val="115000"/>
              </a:lnSpc>
              <a:buNone/>
            </a:pPr>
            <a:r>
              <a:rPr lang="en-US" sz="1050" i="1" dirty="0">
                <a:solidFill>
                  <a:srgbClr val="FFFFFF"/>
                </a:solidFill>
                <a:latin typeface="Calibri" pitchFamily="34" charset="0"/>
                <a:ea typeface="Calibri" pitchFamily="34" charset="-122"/>
                <a:cs typeface="Calibri" pitchFamily="34" charset="-120"/>
              </a:rPr>
              <a:t>The cycle runs between people, not just between your machine and GitHub.</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AI and the Repo</a:t>
            </a:r>
            <a:endParaRPr lang="en-US" sz="22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Review from Workshop 1, Part 5</a:t>
            </a:r>
            <a:endParaRPr lang="en-US" sz="1100" dirty="0"/>
          </a:p>
        </p:txBody>
      </p:sp>
      <p:sp>
        <p:nvSpPr>
          <p:cNvPr id="4" name="Shape 2"/>
          <p:cNvSpPr/>
          <p:nvPr/>
        </p:nvSpPr>
        <p:spPr>
          <a:xfrm>
            <a:off x="548640" y="1097280"/>
            <a:ext cx="3749040" cy="1828800"/>
          </a:xfrm>
          <a:prstGeom prst="roundRect">
            <a:avLst>
              <a:gd name="adj" fmla="val 4000"/>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731520" y="1234440"/>
            <a:ext cx="3383280" cy="1554480"/>
          </a:xfrm>
          <a:prstGeom prst="rect">
            <a:avLst/>
          </a:prstGeom>
          <a:noFill/>
          <a:ln/>
        </p:spPr>
        <p:txBody>
          <a:bodyPr wrap="square" lIns="0" tIns="0" rIns="0" bIns="0" rtlCol="0" anchor="ctr"/>
          <a:lstStyle/>
          <a:p>
            <a:pPr marL="0" indent="0">
              <a:lnSpc>
                <a:spcPct val="120000"/>
              </a:lnSpc>
              <a:buNone/>
            </a:pPr>
            <a:r>
              <a:rPr lang="en-US" sz="1100" b="1" dirty="0">
                <a:solidFill>
                  <a:srgbClr val="5C4033"/>
                </a:solidFill>
                <a:latin typeface="Calibri" pitchFamily="34" charset="0"/>
                <a:ea typeface="Calibri" pitchFamily="34" charset="-122"/>
                <a:cs typeface="Calibri" pitchFamily="34" charset="-120"/>
              </a:rPr>
              <a:t>The prompt is part of the project materials</a:t>
            </a:r>
            <a:endParaRPr lang="en-US" sz="1100" dirty="0"/>
          </a:p>
          <a:p>
            <a:pPr marL="0" indent="0">
              <a:lnSpc>
                <a:spcPct val="120000"/>
              </a:lnSpc>
              <a:buNone/>
            </a:pPr>
            <a:endParaRPr lang="en-US" sz="1100" dirty="0"/>
          </a:p>
          <a:p>
            <a:pPr marL="0" indent="0">
              <a:lnSpc>
                <a:spcPct val="120000"/>
              </a:lnSpc>
              <a:buNone/>
            </a:pPr>
            <a:r>
              <a:rPr lang="en-US" sz="1100" dirty="0">
                <a:solidFill>
                  <a:srgbClr val="5C4033"/>
                </a:solidFill>
                <a:latin typeface="Calibri" pitchFamily="34" charset="0"/>
                <a:ea typeface="Calibri" pitchFamily="34" charset="-122"/>
                <a:cs typeface="Calibri" pitchFamily="34" charset="-120"/>
              </a:rPr>
              <a:t>/prompts folder — one markdown file per significant generation</a:t>
            </a:r>
            <a:endParaRPr lang="en-US" sz="1100" dirty="0"/>
          </a:p>
          <a:p>
            <a:pPr marL="0" indent="0">
              <a:lnSpc>
                <a:spcPct val="120000"/>
              </a:lnSpc>
              <a:buNone/>
            </a:pPr>
            <a:endParaRPr lang="en-US" sz="1100" dirty="0"/>
          </a:p>
          <a:p>
            <a:pPr marL="0" indent="0">
              <a:lnSpc>
                <a:spcPct val="120000"/>
              </a:lnSpc>
              <a:buNone/>
            </a:pPr>
            <a:r>
              <a:rPr lang="en-US" sz="1100" dirty="0">
                <a:solidFill>
                  <a:srgbClr val="5C4033"/>
                </a:solidFill>
                <a:latin typeface="Calibri" pitchFamily="34" charset="0"/>
                <a:ea typeface="Calibri" pitchFamily="34" charset="-122"/>
                <a:cs typeface="Calibri" pitchFamily="34" charset="-120"/>
              </a:rPr>
              <a:t>Commit messages carry context: AI-generated vs. hand-edited (advantages and drawbacks to each)</a:t>
            </a:r>
            <a:endParaRPr lang="en-US" sz="1100" dirty="0"/>
          </a:p>
        </p:txBody>
      </p:sp>
      <p:sp>
        <p:nvSpPr>
          <p:cNvPr id="6" name="Shape 4"/>
          <p:cNvSpPr/>
          <p:nvPr/>
        </p:nvSpPr>
        <p:spPr>
          <a:xfrm>
            <a:off x="4663440" y="1097280"/>
            <a:ext cx="3931920" cy="1828800"/>
          </a:xfrm>
          <a:prstGeom prst="roundRect">
            <a:avLst>
              <a:gd name="adj" fmla="val 4000"/>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4846320" y="1188720"/>
            <a:ext cx="3566160" cy="274320"/>
          </a:xfrm>
          <a:prstGeom prst="rect">
            <a:avLst/>
          </a:prstGeom>
          <a:noFill/>
          <a:ln/>
        </p:spPr>
        <p:txBody>
          <a:bodyPr wrap="square" lIns="0" tIns="0" rIns="0" bIns="0" rtlCol="0" anchor="ctr"/>
          <a:lstStyle/>
          <a:p>
            <a:pPr marL="0" indent="0">
              <a:buNone/>
            </a:pPr>
            <a:r>
              <a:rPr lang="en-US" sz="1200" b="1" dirty="0">
                <a:solidFill>
                  <a:srgbClr val="F0DCC0"/>
                </a:solidFill>
                <a:latin typeface="Cambria" pitchFamily="34" charset="0"/>
                <a:ea typeface="Cambria" pitchFamily="34" charset="-122"/>
                <a:cs typeface="Cambria" pitchFamily="34" charset="-120"/>
              </a:rPr>
              <a:t>Why This Matters in 20 Minutes</a:t>
            </a:r>
            <a:endParaRPr lang="en-US" sz="1200" dirty="0"/>
          </a:p>
        </p:txBody>
      </p:sp>
      <p:sp>
        <p:nvSpPr>
          <p:cNvPr id="8" name="Text 6"/>
          <p:cNvSpPr/>
          <p:nvPr/>
        </p:nvSpPr>
        <p:spPr>
          <a:xfrm>
            <a:off x="4846320" y="1554480"/>
            <a:ext cx="3566160" cy="1188720"/>
          </a:xfrm>
          <a:prstGeom prst="rect">
            <a:avLst/>
          </a:prstGeom>
          <a:noFill/>
          <a:ln/>
        </p:spPr>
        <p:txBody>
          <a:bodyPr wrap="square" lIns="0" tIns="0" rIns="0" bIns="0" rtlCol="0" anchor="ctr"/>
          <a:lstStyle/>
          <a:p>
            <a:pPr marL="0" indent="0">
              <a:lnSpc>
                <a:spcPct val="150000"/>
              </a:lnSpc>
              <a:buNone/>
            </a:pPr>
            <a:r>
              <a:rPr lang="en-US" sz="1100" dirty="0">
                <a:solidFill>
                  <a:srgbClr val="FFFFFF"/>
                </a:solidFill>
                <a:latin typeface="Calibri" pitchFamily="34" charset="0"/>
                <a:ea typeface="Calibri" pitchFamily="34" charset="-122"/>
                <a:cs typeface="Calibri" pitchFamily="34" charset="-120"/>
              </a:rPr>
              <a:t> Because you’ll receive your partner’s AI-built code but didn’t write it nor prompt it, </a:t>
            </a:r>
            <a:r>
              <a:rPr lang="en-US" sz="1100" b="1" i="1" dirty="0">
                <a:solidFill>
                  <a:srgbClr val="FFFFFF"/>
                </a:solidFill>
                <a:latin typeface="Calibri" pitchFamily="34" charset="0"/>
                <a:ea typeface="Calibri" pitchFamily="34" charset="-122"/>
                <a:cs typeface="Calibri" pitchFamily="34" charset="-120"/>
              </a:rPr>
              <a:t>a prompt doc can be an important!</a:t>
            </a:r>
          </a:p>
          <a:p>
            <a:pPr marL="0" indent="0">
              <a:lnSpc>
                <a:spcPct val="150000"/>
              </a:lnSpc>
              <a:buNone/>
            </a:pPr>
            <a:endParaRPr lang="en-US" sz="1100" dirty="0"/>
          </a:p>
        </p:txBody>
      </p:sp>
      <p:sp>
        <p:nvSpPr>
          <p:cNvPr id="9" name="Shape 8">
            <a:extLst>
              <a:ext uri="{FF2B5EF4-FFF2-40B4-BE49-F238E27FC236}">
                <a16:creationId xmlns:a16="http://schemas.microsoft.com/office/drawing/2014/main" id="{75D5720B-66CC-C828-4EE8-432C0844F651}"/>
              </a:ext>
            </a:extLst>
          </p:cNvPr>
          <p:cNvSpPr/>
          <p:nvPr/>
        </p:nvSpPr>
        <p:spPr>
          <a:xfrm>
            <a:off x="548640" y="3171341"/>
            <a:ext cx="8046720" cy="594360"/>
          </a:xfrm>
          <a:prstGeom prst="roundRect">
            <a:avLst>
              <a:gd name="adj" fmla="val 9231"/>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2" name="Text 21">
            <a:extLst>
              <a:ext uri="{FF2B5EF4-FFF2-40B4-BE49-F238E27FC236}">
                <a16:creationId xmlns:a16="http://schemas.microsoft.com/office/drawing/2014/main" id="{CE7BD99F-13EC-6948-4EA1-6C5654E576D4}"/>
              </a:ext>
            </a:extLst>
          </p:cNvPr>
          <p:cNvSpPr/>
          <p:nvPr/>
        </p:nvSpPr>
        <p:spPr>
          <a:xfrm>
            <a:off x="795449" y="3179090"/>
            <a:ext cx="7655776"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You will want to discuss a manageable approach to adding and naming prompts. These should be larger scale prompts that begin the feature building process. Chat histories can also be shared as a link with team members if that context is helpful for difficult features.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Today’s Loop</a:t>
            </a:r>
            <a:endParaRPr lang="en-US" sz="22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We’ll come back to this slide between every round.</a:t>
            </a:r>
            <a:endParaRPr lang="en-US" sz="1100" dirty="0"/>
          </a:p>
        </p:txBody>
      </p:sp>
      <p:sp>
        <p:nvSpPr>
          <p:cNvPr id="4" name="Text 2"/>
          <p:cNvSpPr/>
          <p:nvPr/>
        </p:nvSpPr>
        <p:spPr>
          <a:xfrm>
            <a:off x="247949" y="1003614"/>
            <a:ext cx="2078182" cy="502920"/>
          </a:xfrm>
          <a:prstGeom prst="rect">
            <a:avLst/>
          </a:prstGeom>
          <a:noFill/>
          <a:ln/>
        </p:spPr>
        <p:txBody>
          <a:bodyPr wrap="square" lIns="0" tIns="0" rIns="0" bIns="0" rtlCol="0" anchor="ctr"/>
          <a:lstStyle/>
          <a:p>
            <a:pPr marL="0" indent="0" algn="ctr">
              <a:buNone/>
            </a:pPr>
            <a:r>
              <a:rPr lang="en-US" sz="1300" b="1" dirty="0">
                <a:solidFill>
                  <a:srgbClr val="B85042"/>
                </a:solidFill>
                <a:latin typeface="Calibri" pitchFamily="34" charset="0"/>
                <a:ea typeface="Calibri" pitchFamily="34" charset="-122"/>
                <a:cs typeface="Calibri" pitchFamily="34" charset="-120"/>
              </a:rPr>
              <a:t>Builder</a:t>
            </a:r>
            <a:endParaRPr lang="en-US" sz="1300" dirty="0"/>
          </a:p>
        </p:txBody>
      </p:sp>
      <p:sp>
        <p:nvSpPr>
          <p:cNvPr id="5" name="Text 3"/>
          <p:cNvSpPr/>
          <p:nvPr/>
        </p:nvSpPr>
        <p:spPr>
          <a:xfrm>
            <a:off x="3494069" y="1003614"/>
            <a:ext cx="2078182" cy="502920"/>
          </a:xfrm>
          <a:prstGeom prst="rect">
            <a:avLst/>
          </a:prstGeom>
          <a:noFill/>
          <a:ln/>
        </p:spPr>
        <p:txBody>
          <a:bodyPr wrap="square" lIns="0" tIns="0" rIns="0" bIns="0" rtlCol="0" anchor="ctr"/>
          <a:lstStyle/>
          <a:p>
            <a:pPr marL="0" indent="0" algn="ctr">
              <a:buNone/>
            </a:pPr>
            <a:r>
              <a:rPr lang="en-US" sz="1300" b="1" dirty="0">
                <a:solidFill>
                  <a:srgbClr val="5C4033"/>
                </a:solidFill>
                <a:latin typeface="Calibri" pitchFamily="34" charset="0"/>
                <a:ea typeface="Calibri" pitchFamily="34" charset="-122"/>
                <a:cs typeface="Calibri" pitchFamily="34" charset="-120"/>
              </a:rPr>
              <a:t>GITHUB</a:t>
            </a:r>
            <a:endParaRPr lang="en-US" sz="1300" dirty="0"/>
          </a:p>
          <a:p>
            <a:pPr marL="0" indent="0" algn="ctr">
              <a:buNone/>
            </a:pPr>
            <a:r>
              <a:rPr lang="en-US" sz="900" dirty="0">
                <a:solidFill>
                  <a:srgbClr val="8B7355"/>
                </a:solidFill>
                <a:latin typeface="Calibri" pitchFamily="34" charset="0"/>
                <a:ea typeface="Calibri" pitchFamily="34" charset="-122"/>
                <a:cs typeface="Calibri" pitchFamily="34" charset="-120"/>
              </a:rPr>
              <a:t>(Hub)</a:t>
            </a:r>
            <a:endParaRPr lang="en-US" sz="1300" dirty="0"/>
          </a:p>
        </p:txBody>
      </p:sp>
      <p:sp>
        <p:nvSpPr>
          <p:cNvPr id="6" name="Text 4"/>
          <p:cNvSpPr/>
          <p:nvPr/>
        </p:nvSpPr>
        <p:spPr>
          <a:xfrm>
            <a:off x="6599388" y="1003614"/>
            <a:ext cx="2078182" cy="502920"/>
          </a:xfrm>
          <a:prstGeom prst="rect">
            <a:avLst/>
          </a:prstGeom>
          <a:noFill/>
          <a:ln/>
        </p:spPr>
        <p:txBody>
          <a:bodyPr wrap="square" lIns="0" tIns="0" rIns="0" bIns="0" rtlCol="0" anchor="ctr"/>
          <a:lstStyle/>
          <a:p>
            <a:pPr marL="0" indent="0" algn="ctr">
              <a:buNone/>
            </a:pPr>
            <a:r>
              <a:rPr lang="en-US" sz="1300" b="1" dirty="0">
                <a:solidFill>
                  <a:srgbClr val="A7BEAE"/>
                </a:solidFill>
                <a:latin typeface="Calibri" pitchFamily="34" charset="0"/>
                <a:ea typeface="Calibri" pitchFamily="34" charset="-122"/>
                <a:cs typeface="Calibri" pitchFamily="34" charset="-120"/>
              </a:rPr>
              <a:t>Editor</a:t>
            </a:r>
            <a:endParaRPr lang="en-US" sz="1300" dirty="0"/>
          </a:p>
        </p:txBody>
      </p:sp>
      <p:sp>
        <p:nvSpPr>
          <p:cNvPr id="7" name="Shape 5"/>
          <p:cNvSpPr/>
          <p:nvPr/>
        </p:nvSpPr>
        <p:spPr>
          <a:xfrm>
            <a:off x="548640" y="1645920"/>
            <a:ext cx="8046720" cy="1463040"/>
          </a:xfrm>
          <a:prstGeom prst="roundRect">
            <a:avLst>
              <a:gd name="adj" fmla="val 5000"/>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731520" y="1737360"/>
            <a:ext cx="7680960" cy="1280160"/>
          </a:xfrm>
          <a:prstGeom prst="rect">
            <a:avLst/>
          </a:prstGeom>
          <a:noFill/>
          <a:ln/>
        </p:spPr>
        <p:txBody>
          <a:bodyPr wrap="square" lIns="0" tIns="0" rIns="0" bIns="0" rtlCol="0" anchor="ctr"/>
          <a:lstStyle/>
          <a:p>
            <a:pPr marL="0" indent="0" algn="ctr">
              <a:lnSpc>
                <a:spcPct val="110000"/>
              </a:lnSpc>
              <a:buNone/>
            </a:pPr>
            <a:r>
              <a:rPr lang="en-US" sz="1050" dirty="0">
                <a:solidFill>
                  <a:srgbClr val="3D2B1F"/>
                </a:solidFill>
                <a:latin typeface="Calibri" pitchFamily="34" charset="0"/>
                <a:ea typeface="Calibri" pitchFamily="34" charset="-122"/>
                <a:cs typeface="Calibri" pitchFamily="34" charset="-120"/>
              </a:rPr>
              <a:t>Build in Replit → Push to GitHub → Partner clones, branches, edits → Opens PR → You review &amp; merge → Pull back</a:t>
            </a:r>
            <a:endParaRPr lang="en-US" sz="1050" dirty="0"/>
          </a:p>
          <a:p>
            <a:pPr marL="0" indent="0" algn="ctr">
              <a:lnSpc>
                <a:spcPct val="110000"/>
              </a:lnSpc>
              <a:buNone/>
            </a:pPr>
            <a:endParaRPr lang="en-US" sz="1050" dirty="0"/>
          </a:p>
          <a:p>
            <a:pPr marL="0" indent="0" algn="ctr">
              <a:lnSpc>
                <a:spcPct val="110000"/>
              </a:lnSpc>
              <a:buNone/>
            </a:pPr>
            <a:r>
              <a:rPr lang="en-US" sz="900" b="1" dirty="0">
                <a:solidFill>
                  <a:srgbClr val="8B7355"/>
                </a:solidFill>
                <a:latin typeface="Calibri" pitchFamily="34" charset="0"/>
                <a:ea typeface="Calibri" pitchFamily="34" charset="-122"/>
                <a:cs typeface="Calibri" pitchFamily="34" charset="-120"/>
              </a:rPr>
              <a:t>— AND AT THE SAME TIME, THE REVERSE —</a:t>
            </a:r>
            <a:endParaRPr lang="en-US" sz="1050" dirty="0"/>
          </a:p>
          <a:p>
            <a:pPr marL="0" indent="0" algn="ctr">
              <a:lnSpc>
                <a:spcPct val="110000"/>
              </a:lnSpc>
              <a:buNone/>
            </a:pPr>
            <a:endParaRPr lang="en-US" sz="1050" dirty="0"/>
          </a:p>
          <a:p>
            <a:pPr marL="0" indent="0" algn="ctr">
              <a:lnSpc>
                <a:spcPct val="110000"/>
              </a:lnSpc>
              <a:buNone/>
            </a:pPr>
            <a:r>
              <a:rPr lang="en-US" sz="1050" dirty="0">
                <a:solidFill>
                  <a:srgbClr val="3D2B1F"/>
                </a:solidFill>
                <a:latin typeface="Calibri" pitchFamily="34" charset="0"/>
                <a:ea typeface="Calibri" pitchFamily="34" charset="-122"/>
                <a:cs typeface="Calibri" pitchFamily="34" charset="-120"/>
              </a:rPr>
              <a:t>Partner builds → Pushes to GitHub → You clone, branch, edit → Open PR → Partner reviews &amp; merges → Pulls back</a:t>
            </a:r>
            <a:endParaRPr lang="en-US" sz="1050" dirty="0"/>
          </a:p>
        </p:txBody>
      </p:sp>
      <p:sp>
        <p:nvSpPr>
          <p:cNvPr id="9" name="Shape 7"/>
          <p:cNvSpPr/>
          <p:nvPr/>
        </p:nvSpPr>
        <p:spPr>
          <a:xfrm>
            <a:off x="548640" y="3383280"/>
            <a:ext cx="8046720" cy="502920"/>
          </a:xfrm>
          <a:prstGeom prst="roundRect">
            <a:avLst>
              <a:gd name="adj" fmla="val 10909"/>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685800" y="3383280"/>
            <a:ext cx="7772400" cy="502920"/>
          </a:xfrm>
          <a:prstGeom prst="rect">
            <a:avLst/>
          </a:prstGeom>
          <a:noFill/>
          <a:ln/>
        </p:spPr>
        <p:txBody>
          <a:bodyPr wrap="square" lIns="0" tIns="101600" rIns="10160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 </a:t>
            </a:r>
            <a:r>
              <a:rPr lang="en-US" sz="1150" b="1" dirty="0">
                <a:solidFill>
                  <a:srgbClr val="FFFFFF"/>
                </a:solidFill>
                <a:latin typeface="Calibri" pitchFamily="34" charset="0"/>
                <a:ea typeface="Calibri" pitchFamily="34" charset="-122"/>
                <a:cs typeface="Calibri" pitchFamily="34" charset="-120"/>
              </a:rPr>
              <a:t> </a:t>
            </a:r>
            <a:r>
              <a:rPr lang="en-US" sz="1050" b="1" dirty="0">
                <a:solidFill>
                  <a:srgbClr val="FFFFFF"/>
                </a:solidFill>
                <a:latin typeface="Calibri" pitchFamily="34" charset="0"/>
                <a:ea typeface="Calibri" pitchFamily="34" charset="-122"/>
                <a:cs typeface="Calibri" pitchFamily="34" charset="-120"/>
              </a:rPr>
              <a:t>Goal:</a:t>
            </a:r>
            <a:r>
              <a:rPr lang="en-US" sz="1050" dirty="0">
                <a:solidFill>
                  <a:srgbClr val="FFFFFF"/>
                </a:solidFill>
                <a:latin typeface="Calibri" pitchFamily="34" charset="0"/>
                <a:ea typeface="Calibri" pitchFamily="34" charset="-122"/>
                <a:cs typeface="Calibri" pitchFamily="34" charset="-120"/>
              </a:rPr>
              <a:t> Everyone leaves feeling comfortable pushing to and pulling from a project.</a:t>
            </a:r>
            <a:endParaRPr lang="en-US" sz="1150" dirty="0"/>
          </a:p>
        </p:txBody>
      </p:sp>
      <p:cxnSp>
        <p:nvCxnSpPr>
          <p:cNvPr id="12" name="Straight Arrow Connector 11">
            <a:extLst>
              <a:ext uri="{FF2B5EF4-FFF2-40B4-BE49-F238E27FC236}">
                <a16:creationId xmlns:a16="http://schemas.microsoft.com/office/drawing/2014/main" id="{E3AEF4D5-F278-2752-FAB9-34F042164F7D}"/>
              </a:ext>
            </a:extLst>
          </p:cNvPr>
          <p:cNvCxnSpPr>
            <a:cxnSpLocks/>
          </p:cNvCxnSpPr>
          <p:nvPr/>
        </p:nvCxnSpPr>
        <p:spPr>
          <a:xfrm>
            <a:off x="2605638" y="1278542"/>
            <a:ext cx="1294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AED31713-C7F8-D2D8-6EDF-54BB14252706}"/>
              </a:ext>
            </a:extLst>
          </p:cNvPr>
          <p:cNvCxnSpPr>
            <a:cxnSpLocks/>
          </p:cNvCxnSpPr>
          <p:nvPr/>
        </p:nvCxnSpPr>
        <p:spPr>
          <a:xfrm flipH="1">
            <a:off x="2303400" y="1399922"/>
            <a:ext cx="15132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1A64CE5C-513C-5410-A87D-22A0F96DD3A0}"/>
              </a:ext>
            </a:extLst>
          </p:cNvPr>
          <p:cNvCxnSpPr>
            <a:cxnSpLocks/>
          </p:cNvCxnSpPr>
          <p:nvPr/>
        </p:nvCxnSpPr>
        <p:spPr>
          <a:xfrm>
            <a:off x="5574876" y="1220549"/>
            <a:ext cx="1294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5468EC53-2FD4-59EF-D01A-FB637F68B47D}"/>
              </a:ext>
            </a:extLst>
          </p:cNvPr>
          <p:cNvCxnSpPr>
            <a:cxnSpLocks/>
          </p:cNvCxnSpPr>
          <p:nvPr/>
        </p:nvCxnSpPr>
        <p:spPr>
          <a:xfrm flipH="1">
            <a:off x="5272638" y="1341929"/>
            <a:ext cx="15132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5042"/>
          </a:solidFill>
          <a:ln/>
        </p:spPr>
        <p:txBody>
          <a:bodyPr/>
          <a:lstStyle/>
          <a:p>
            <a:endParaRPr lang="en-US"/>
          </a:p>
        </p:txBody>
      </p:sp>
      <p:sp>
        <p:nvSpPr>
          <p:cNvPr id="3" name="Text 1"/>
          <p:cNvSpPr/>
          <p:nvPr/>
        </p:nvSpPr>
        <p:spPr>
          <a:xfrm>
            <a:off x="548640" y="1097280"/>
            <a:ext cx="8046720" cy="365760"/>
          </a:xfrm>
          <a:prstGeom prst="rect">
            <a:avLst/>
          </a:prstGeom>
          <a:noFill/>
          <a:ln/>
        </p:spPr>
        <p:txBody>
          <a:bodyPr wrap="square" lIns="0" tIns="0" rIns="0" bIns="0" rtlCol="0" anchor="ctr"/>
          <a:lstStyle/>
          <a:p>
            <a:pPr marL="0" indent="0">
              <a:buNone/>
            </a:pPr>
            <a:r>
              <a:rPr lang="en-US" sz="1300" b="1" kern="0" spc="300" dirty="0">
                <a:solidFill>
                  <a:srgbClr val="B85042"/>
                </a:solidFill>
                <a:latin typeface="Calibri" pitchFamily="34" charset="0"/>
                <a:ea typeface="Calibri" pitchFamily="34" charset="-122"/>
                <a:cs typeface="Calibri" pitchFamily="34" charset="-120"/>
              </a:rPr>
              <a:t>PART 2</a:t>
            </a:r>
            <a:endParaRPr lang="en-US" sz="1300" dirty="0"/>
          </a:p>
        </p:txBody>
      </p:sp>
      <p:sp>
        <p:nvSpPr>
          <p:cNvPr id="4" name="Text 2"/>
          <p:cNvSpPr/>
          <p:nvPr/>
        </p:nvSpPr>
        <p:spPr>
          <a:xfrm>
            <a:off x="548640" y="1463040"/>
            <a:ext cx="8046720" cy="640080"/>
          </a:xfrm>
          <a:prstGeom prst="rect">
            <a:avLst/>
          </a:prstGeom>
          <a:noFill/>
          <a:ln/>
        </p:spPr>
        <p:txBody>
          <a:bodyPr wrap="square" lIns="0" tIns="0" rIns="0" bIns="0" rtlCol="0" anchor="ctr"/>
          <a:lstStyle/>
          <a:p>
            <a:pPr marL="0" indent="0">
              <a:buNone/>
            </a:pPr>
            <a:r>
              <a:rPr lang="en-US" sz="3000" b="1" dirty="0">
                <a:solidFill>
                  <a:srgbClr val="3D2B1F"/>
                </a:solidFill>
                <a:latin typeface="Cambria" pitchFamily="34" charset="0"/>
                <a:ea typeface="Cambria" pitchFamily="34" charset="-122"/>
                <a:cs typeface="Cambria" pitchFamily="34" charset="-120"/>
              </a:rPr>
              <a:t>Watch One Full Loop</a:t>
            </a:r>
            <a:endParaRPr lang="en-US" sz="3000" dirty="0"/>
          </a:p>
        </p:txBody>
      </p:sp>
      <p:sp>
        <p:nvSpPr>
          <p:cNvPr id="5" name="Text 3"/>
          <p:cNvSpPr/>
          <p:nvPr/>
        </p:nvSpPr>
        <p:spPr>
          <a:xfrm>
            <a:off x="548640" y="2103120"/>
            <a:ext cx="8046720" cy="411480"/>
          </a:xfrm>
          <a:prstGeom prst="rect">
            <a:avLst/>
          </a:prstGeom>
          <a:noFill/>
          <a:ln/>
        </p:spPr>
        <p:txBody>
          <a:bodyPr wrap="square" lIns="0" tIns="0" rIns="0" bIns="0" rtlCol="0" anchor="ctr"/>
          <a:lstStyle/>
          <a:p>
            <a:pPr marL="0" indent="0">
              <a:buNone/>
            </a:pPr>
            <a:r>
              <a:rPr lang="en-US" sz="1400" b="1" u="sng" dirty="0">
                <a:solidFill>
                  <a:srgbClr val="8B7355"/>
                </a:solidFill>
                <a:latin typeface="Calibri" pitchFamily="34" charset="0"/>
                <a:ea typeface="Calibri" pitchFamily="34" charset="-122"/>
                <a:cs typeface="Calibri" pitchFamily="34" charset="-120"/>
              </a:rPr>
              <a:t>Overview</a:t>
            </a:r>
            <a:r>
              <a:rPr lang="en-US" sz="1400" dirty="0">
                <a:solidFill>
                  <a:srgbClr val="8B7355"/>
                </a:solidFill>
                <a:latin typeface="Calibri" pitchFamily="34" charset="0"/>
                <a:ea typeface="Calibri" pitchFamily="34" charset="-122"/>
                <a:cs typeface="Calibri" pitchFamily="34" charset="-120"/>
              </a:rPr>
              <a:t> of Live Demo and Questions</a:t>
            </a:r>
            <a:endParaRPr lang="en-US" sz="1400" dirty="0"/>
          </a:p>
        </p:txBody>
      </p:sp>
      <p:sp>
        <p:nvSpPr>
          <p:cNvPr id="6" name="Text 4"/>
          <p:cNvSpPr/>
          <p:nvPr/>
        </p:nvSpPr>
        <p:spPr>
          <a:xfrm>
            <a:off x="548640" y="260604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~10 minutes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B85042"/>
          </a:solidFill>
          <a:ln/>
        </p:spPr>
        <p:txBody>
          <a:bodyPr/>
          <a:lstStyle/>
          <a:p>
            <a:endParaRPr lang="en-US"/>
          </a:p>
        </p:txBody>
      </p:sp>
      <p:sp>
        <p:nvSpPr>
          <p:cNvPr id="3" name="Text 1"/>
          <p:cNvSpPr/>
          <p:nvPr/>
        </p:nvSpPr>
        <p:spPr>
          <a:xfrm>
            <a:off x="548640" y="4572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4" name="Text 2"/>
          <p:cNvSpPr/>
          <p:nvPr/>
        </p:nvSpPr>
        <p:spPr>
          <a:xfrm>
            <a:off x="1371600" y="502920"/>
            <a:ext cx="6400800" cy="457200"/>
          </a:xfrm>
          <a:prstGeom prst="rect">
            <a:avLst/>
          </a:prstGeom>
          <a:noFill/>
          <a:ln/>
        </p:spPr>
        <p:txBody>
          <a:bodyPr wrap="square" lIns="0" tIns="0" rIns="0" bIns="0" rtlCol="0" anchor="ctr"/>
          <a:lstStyle/>
          <a:p>
            <a:pPr marL="0" indent="0">
              <a:buNone/>
            </a:pPr>
            <a:r>
              <a:rPr lang="en-US" sz="2000" b="1" dirty="0">
                <a:solidFill>
                  <a:srgbClr val="3D2B1F"/>
                </a:solidFill>
                <a:latin typeface="Cambria" pitchFamily="34" charset="0"/>
                <a:ea typeface="Cambria" pitchFamily="34" charset="-122"/>
                <a:cs typeface="Cambria" pitchFamily="34" charset="-120"/>
              </a:rPr>
              <a:t>DEMO — Phase 1: Build and Ship</a:t>
            </a:r>
            <a:endParaRPr lang="en-US" sz="2000" dirty="0"/>
          </a:p>
        </p:txBody>
      </p:sp>
      <p:sp>
        <p:nvSpPr>
          <p:cNvPr id="5" name="Text 3"/>
          <p:cNvSpPr/>
          <p:nvPr/>
        </p:nvSpPr>
        <p:spPr>
          <a:xfrm>
            <a:off x="1097280" y="137160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Paste Prompt 1 (filled in) into Replit</a:t>
            </a:r>
            <a:endParaRPr lang="en-US" sz="1400" dirty="0"/>
          </a:p>
        </p:txBody>
      </p:sp>
      <p:sp>
        <p:nvSpPr>
          <p:cNvPr id="6" name="Text 4"/>
          <p:cNvSpPr/>
          <p:nvPr/>
        </p:nvSpPr>
        <p:spPr>
          <a:xfrm>
            <a:off x="1097280" y="178308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Replit Agent builds the page</a:t>
            </a:r>
            <a:endParaRPr lang="en-US" sz="1400" dirty="0"/>
          </a:p>
        </p:txBody>
      </p:sp>
      <p:sp>
        <p:nvSpPr>
          <p:cNvPr id="7" name="Text 5"/>
          <p:cNvSpPr/>
          <p:nvPr/>
        </p:nvSpPr>
        <p:spPr>
          <a:xfrm>
            <a:off x="1097280" y="219456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Git pane: Stage → Commit → Push to GitHub</a:t>
            </a:r>
            <a:endParaRPr lang="en-US" sz="1400" dirty="0"/>
          </a:p>
        </p:txBody>
      </p:sp>
      <p:sp>
        <p:nvSpPr>
          <p:cNvPr id="8" name="Text 6"/>
          <p:cNvSpPr/>
          <p:nvPr/>
        </p:nvSpPr>
        <p:spPr>
          <a:xfrm>
            <a:off x="1097280" y="260604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On GitHub.com: create prompts/scaffold-prompt.md</a:t>
            </a:r>
            <a:endParaRPr lang="en-US" sz="1400" dirty="0"/>
          </a:p>
        </p:txBody>
      </p:sp>
      <p:sp>
        <p:nvSpPr>
          <p:cNvPr id="9" name="Text 7"/>
          <p:cNvSpPr/>
          <p:nvPr/>
        </p:nvSpPr>
        <p:spPr>
          <a:xfrm>
            <a:off x="1097280" y="301752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Settings → Collaborators → invite partner</a:t>
            </a:r>
            <a:endParaRPr lang="en-US" sz="1400" dirty="0"/>
          </a:p>
        </p:txBody>
      </p:sp>
      <p:sp>
        <p:nvSpPr>
          <p:cNvPr id="10" name="Shape 8"/>
          <p:cNvSpPr/>
          <p:nvPr/>
        </p:nvSpPr>
        <p:spPr>
          <a:xfrm>
            <a:off x="548640" y="3657600"/>
            <a:ext cx="8046720" cy="502920"/>
          </a:xfrm>
          <a:prstGeom prst="roundRect">
            <a:avLst>
              <a:gd name="adj" fmla="val 10909"/>
            </a:avLst>
          </a:prstGeom>
          <a:solidFill>
            <a:srgbClr val="FFF8F0"/>
          </a:solidFill>
          <a:ln/>
        </p:spPr>
        <p:txBody>
          <a:bodyPr/>
          <a:lstStyle/>
          <a:p>
            <a:endParaRPr lang="en-US"/>
          </a:p>
        </p:txBody>
      </p:sp>
      <p:sp>
        <p:nvSpPr>
          <p:cNvPr id="11" name="Text 9"/>
          <p:cNvSpPr/>
          <p:nvPr/>
        </p:nvSpPr>
        <p:spPr>
          <a:xfrm>
            <a:off x="731520" y="3657600"/>
            <a:ext cx="7680960" cy="502920"/>
          </a:xfrm>
          <a:prstGeom prst="rect">
            <a:avLst/>
          </a:prstGeom>
          <a:noFill/>
          <a:ln/>
        </p:spPr>
        <p:txBody>
          <a:bodyPr wrap="square" lIns="0" tIns="0" rIns="0" bIns="0"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HANDOFF ONE: </a:t>
            </a:r>
            <a:r>
              <a:rPr lang="en-US" sz="1300" i="1" dirty="0">
                <a:solidFill>
                  <a:srgbClr val="3D2B1F"/>
                </a:solidFill>
                <a:latin typeface="Calibri" pitchFamily="34" charset="0"/>
                <a:ea typeface="Calibri" pitchFamily="34" charset="-122"/>
                <a:cs typeface="Calibri" pitchFamily="34" charset="-120"/>
              </a:rPr>
              <a:t>“My work is now visible to my partner.”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5C4033"/>
          </a:solidFill>
          <a:ln/>
        </p:spPr>
        <p:txBody>
          <a:bodyPr/>
          <a:lstStyle/>
          <a:p>
            <a:endParaRPr lang="en-US"/>
          </a:p>
        </p:txBody>
      </p:sp>
      <p:sp>
        <p:nvSpPr>
          <p:cNvPr id="3" name="Text 1"/>
          <p:cNvSpPr/>
          <p:nvPr/>
        </p:nvSpPr>
        <p:spPr>
          <a:xfrm>
            <a:off x="548640" y="4572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4" name="Text 2"/>
          <p:cNvSpPr/>
          <p:nvPr/>
        </p:nvSpPr>
        <p:spPr>
          <a:xfrm>
            <a:off x="1371600" y="502920"/>
            <a:ext cx="6858000" cy="457200"/>
          </a:xfrm>
          <a:prstGeom prst="rect">
            <a:avLst/>
          </a:prstGeom>
          <a:noFill/>
          <a:ln/>
        </p:spPr>
        <p:txBody>
          <a:bodyPr wrap="square" lIns="0" tIns="0" rIns="0" bIns="0" rtlCol="0" anchor="ctr"/>
          <a:lstStyle/>
          <a:p>
            <a:pPr marL="0" indent="0">
              <a:buNone/>
            </a:pPr>
            <a:r>
              <a:rPr lang="en-US" sz="2000" b="1" dirty="0">
                <a:solidFill>
                  <a:srgbClr val="3D2B1F"/>
                </a:solidFill>
                <a:latin typeface="Cambria" pitchFamily="34" charset="0"/>
                <a:ea typeface="Cambria" pitchFamily="34" charset="-122"/>
                <a:cs typeface="Cambria" pitchFamily="34" charset="-120"/>
              </a:rPr>
              <a:t>DEMO — Phase 2: Clone, Branch, and Edit</a:t>
            </a:r>
            <a:endParaRPr lang="en-US" sz="2000" dirty="0"/>
          </a:p>
        </p:txBody>
      </p:sp>
      <p:sp>
        <p:nvSpPr>
          <p:cNvPr id="5" name="Text 3"/>
          <p:cNvSpPr/>
          <p:nvPr/>
        </p:nvSpPr>
        <p:spPr>
          <a:xfrm>
            <a:off x="1097280" y="137160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Clone in GitHub Desktop (File → Clone)</a:t>
            </a:r>
            <a:endParaRPr lang="en-US" sz="1400" dirty="0"/>
          </a:p>
        </p:txBody>
      </p:sp>
      <p:sp>
        <p:nvSpPr>
          <p:cNvPr id="6" name="Text 4"/>
          <p:cNvSpPr/>
          <p:nvPr/>
        </p:nvSpPr>
        <p:spPr>
          <a:xfrm>
            <a:off x="1097280" y="178308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IMMEDIATELY create a branch: feature/demo-edit</a:t>
            </a:r>
            <a:endParaRPr lang="en-US" sz="1400" dirty="0"/>
          </a:p>
        </p:txBody>
      </p:sp>
      <p:sp>
        <p:nvSpPr>
          <p:cNvPr id="7" name="Text 5"/>
          <p:cNvSpPr/>
          <p:nvPr/>
        </p:nvSpPr>
        <p:spPr>
          <a:xfrm>
            <a:off x="1097280" y="219456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Confirm the branch indicator — NOT main</a:t>
            </a:r>
            <a:endParaRPr lang="en-US" sz="1400" dirty="0"/>
          </a:p>
        </p:txBody>
      </p:sp>
      <p:sp>
        <p:nvSpPr>
          <p:cNvPr id="8" name="Text 6"/>
          <p:cNvSpPr/>
          <p:nvPr/>
        </p:nvSpPr>
        <p:spPr>
          <a:xfrm>
            <a:off x="1097280" y="260604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Project-wide search (Ctrl/Cmd+Shift+F) to find the headline</a:t>
            </a:r>
            <a:endParaRPr lang="en-US" sz="1400" dirty="0"/>
          </a:p>
        </p:txBody>
      </p:sp>
      <p:sp>
        <p:nvSpPr>
          <p:cNvPr id="9" name="Text 7"/>
          <p:cNvSpPr/>
          <p:nvPr/>
        </p:nvSpPr>
        <p:spPr>
          <a:xfrm>
            <a:off x="1097280" y="3017520"/>
            <a:ext cx="6858000" cy="365760"/>
          </a:xfrm>
          <a:prstGeom prst="rect">
            <a:avLst/>
          </a:prstGeom>
          <a:noFill/>
          <a:ln/>
        </p:spPr>
        <p:txBody>
          <a:bodyPr wrap="square" lIns="0" tIns="0" rIns="0" bIns="0" rtlCol="0" anchor="ctr"/>
          <a:lstStyle/>
          <a:p>
            <a:pPr marL="0" indent="0">
              <a:buNone/>
            </a:pPr>
            <a:r>
              <a:rPr lang="en-US" sz="1400" dirty="0">
                <a:solidFill>
                  <a:srgbClr val="5C4033"/>
                </a:solidFill>
                <a:latin typeface="Calibri" pitchFamily="34" charset="0"/>
                <a:ea typeface="Calibri" pitchFamily="34" charset="-122"/>
                <a:cs typeface="Calibri" pitchFamily="34" charset="-120"/>
              </a:rPr>
              <a:t>→  Make one change, commit with context, push the branch</a:t>
            </a:r>
            <a:endParaRPr lang="en-US" sz="1400" dirty="0"/>
          </a:p>
        </p:txBody>
      </p:sp>
      <p:sp>
        <p:nvSpPr>
          <p:cNvPr id="10" name="Shape 8"/>
          <p:cNvSpPr/>
          <p:nvPr/>
        </p:nvSpPr>
        <p:spPr>
          <a:xfrm>
            <a:off x="548640" y="3657600"/>
            <a:ext cx="8046720" cy="502920"/>
          </a:xfrm>
          <a:prstGeom prst="roundRect">
            <a:avLst>
              <a:gd name="adj" fmla="val 10909"/>
            </a:avLst>
          </a:prstGeom>
          <a:solidFill>
            <a:srgbClr val="FFF8F0"/>
          </a:solidFill>
          <a:ln/>
        </p:spPr>
        <p:txBody>
          <a:bodyPr/>
          <a:lstStyle/>
          <a:p>
            <a:endParaRPr lang="en-US"/>
          </a:p>
        </p:txBody>
      </p:sp>
      <p:sp>
        <p:nvSpPr>
          <p:cNvPr id="11" name="Text 9"/>
          <p:cNvSpPr/>
          <p:nvPr/>
        </p:nvSpPr>
        <p:spPr>
          <a:xfrm>
            <a:off x="731520" y="3657600"/>
            <a:ext cx="7680960" cy="502920"/>
          </a:xfrm>
          <a:prstGeom prst="rect">
            <a:avLst/>
          </a:prstGeom>
          <a:noFill/>
          <a:ln/>
        </p:spPr>
        <p:txBody>
          <a:bodyPr wrap="square" lIns="0" tIns="0" rIns="0" bIns="0" rtlCol="0" anchor="ctr"/>
          <a:lstStyle/>
          <a:p>
            <a:pPr marL="0" indent="0">
              <a:buNone/>
            </a:pPr>
            <a:r>
              <a:rPr lang="en-US" sz="1300" i="1" dirty="0">
                <a:solidFill>
                  <a:srgbClr val="3D2B1F"/>
                </a:solidFill>
                <a:latin typeface="Calibri" pitchFamily="34" charset="0"/>
                <a:ea typeface="Calibri" pitchFamily="34" charset="-122"/>
                <a:cs typeface="Calibri" pitchFamily="34" charset="-120"/>
              </a:rPr>
              <a:t>“Before you change anything — check your branch.”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548640" y="457200"/>
            <a:ext cx="640080" cy="640080"/>
          </a:xfrm>
          <a:prstGeom prst="ellipse">
            <a:avLst/>
          </a:prstGeom>
          <a:solidFill>
            <a:srgbClr val="A7BEAE"/>
          </a:solidFill>
          <a:ln/>
        </p:spPr>
        <p:txBody>
          <a:bodyPr/>
          <a:lstStyle/>
          <a:p>
            <a:endParaRPr lang="en-US"/>
          </a:p>
        </p:txBody>
      </p:sp>
      <p:sp>
        <p:nvSpPr>
          <p:cNvPr id="3" name="Text 1"/>
          <p:cNvSpPr/>
          <p:nvPr/>
        </p:nvSpPr>
        <p:spPr>
          <a:xfrm>
            <a:off x="548640" y="4572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4" name="Text 2"/>
          <p:cNvSpPr/>
          <p:nvPr/>
        </p:nvSpPr>
        <p:spPr>
          <a:xfrm>
            <a:off x="1371600" y="502920"/>
            <a:ext cx="6858000" cy="457200"/>
          </a:xfrm>
          <a:prstGeom prst="rect">
            <a:avLst/>
          </a:prstGeom>
          <a:noFill/>
          <a:ln/>
        </p:spPr>
        <p:txBody>
          <a:bodyPr wrap="square" lIns="0" tIns="0" rIns="0" bIns="0" rtlCol="0" anchor="ctr"/>
          <a:lstStyle/>
          <a:p>
            <a:pPr marL="0" indent="0">
              <a:buNone/>
            </a:pPr>
            <a:r>
              <a:rPr lang="en-US" sz="2000" b="1" dirty="0">
                <a:solidFill>
                  <a:srgbClr val="3D2B1F"/>
                </a:solidFill>
                <a:latin typeface="Cambria" pitchFamily="34" charset="0"/>
                <a:ea typeface="Cambria" pitchFamily="34" charset="-122"/>
                <a:cs typeface="Cambria" pitchFamily="34" charset="-120"/>
              </a:rPr>
              <a:t>DEMO — Phase 3: Propose, Review, Merge</a:t>
            </a:r>
            <a:endParaRPr lang="en-US" sz="2000" dirty="0"/>
          </a:p>
        </p:txBody>
      </p:sp>
      <p:sp>
        <p:nvSpPr>
          <p:cNvPr id="5" name="Text 3"/>
          <p:cNvSpPr/>
          <p:nvPr/>
        </p:nvSpPr>
        <p:spPr>
          <a:xfrm>
            <a:off x="1097280" y="1280160"/>
            <a:ext cx="6858000" cy="347472"/>
          </a:xfrm>
          <a:prstGeom prst="rect">
            <a:avLst/>
          </a:prstGeom>
          <a:noFill/>
          <a:ln/>
        </p:spPr>
        <p:txBody>
          <a:bodyPr wrap="square" lIns="0" tIns="0" rIns="0" bIns="0" rtlCol="0" anchor="ctr"/>
          <a:lstStyle/>
          <a:p>
            <a:pPr marL="0" indent="0">
              <a:buNone/>
            </a:pPr>
            <a:r>
              <a:rPr lang="en-US" sz="1350" dirty="0">
                <a:solidFill>
                  <a:srgbClr val="5C4033"/>
                </a:solidFill>
                <a:latin typeface="Calibri" pitchFamily="34" charset="0"/>
                <a:ea typeface="Calibri" pitchFamily="34" charset="-122"/>
                <a:cs typeface="Calibri" pitchFamily="34" charset="-120"/>
              </a:rPr>
              <a:t>→  GitHub.com: yellow banner → “Compare &amp; pull request”</a:t>
            </a:r>
            <a:endParaRPr lang="en-US" sz="1350" dirty="0"/>
          </a:p>
        </p:txBody>
      </p:sp>
      <p:sp>
        <p:nvSpPr>
          <p:cNvPr id="6" name="Text 4"/>
          <p:cNvSpPr/>
          <p:nvPr/>
        </p:nvSpPr>
        <p:spPr>
          <a:xfrm>
            <a:off x="1097280" y="1664208"/>
            <a:ext cx="6858000" cy="347472"/>
          </a:xfrm>
          <a:prstGeom prst="rect">
            <a:avLst/>
          </a:prstGeom>
          <a:noFill/>
          <a:ln/>
        </p:spPr>
        <p:txBody>
          <a:bodyPr wrap="square" lIns="0" tIns="0" rIns="0" bIns="0" rtlCol="0" anchor="ctr"/>
          <a:lstStyle/>
          <a:p>
            <a:pPr marL="0" indent="0">
              <a:buNone/>
            </a:pPr>
            <a:r>
              <a:rPr lang="en-US" sz="1350" dirty="0">
                <a:solidFill>
                  <a:srgbClr val="5C4033"/>
                </a:solidFill>
                <a:latin typeface="Calibri" pitchFamily="34" charset="0"/>
                <a:ea typeface="Calibri" pitchFamily="34" charset="-122"/>
                <a:cs typeface="Calibri" pitchFamily="34" charset="-120"/>
              </a:rPr>
              <a:t>→  Title it clearly, describe the change</a:t>
            </a:r>
            <a:endParaRPr lang="en-US" sz="1350" dirty="0"/>
          </a:p>
        </p:txBody>
      </p:sp>
      <p:sp>
        <p:nvSpPr>
          <p:cNvPr id="7" name="Text 5"/>
          <p:cNvSpPr/>
          <p:nvPr/>
        </p:nvSpPr>
        <p:spPr>
          <a:xfrm>
            <a:off x="1097280" y="2048256"/>
            <a:ext cx="6858000" cy="347472"/>
          </a:xfrm>
          <a:prstGeom prst="rect">
            <a:avLst/>
          </a:prstGeom>
          <a:noFill/>
          <a:ln/>
        </p:spPr>
        <p:txBody>
          <a:bodyPr wrap="square" lIns="0" tIns="0" rIns="0" bIns="0" rtlCol="0" anchor="ctr"/>
          <a:lstStyle/>
          <a:p>
            <a:pPr marL="0" indent="0">
              <a:buNone/>
            </a:pPr>
            <a:r>
              <a:rPr lang="en-US" sz="1350" dirty="0">
                <a:solidFill>
                  <a:srgbClr val="5C4033"/>
                </a:solidFill>
                <a:latin typeface="Calibri" pitchFamily="34" charset="0"/>
                <a:ea typeface="Calibri" pitchFamily="34" charset="-122"/>
                <a:cs typeface="Calibri" pitchFamily="34" charset="-120"/>
              </a:rPr>
              <a:t>→  Partner opens the PR → “Files changed”</a:t>
            </a:r>
            <a:endParaRPr lang="en-US" sz="1350" dirty="0"/>
          </a:p>
        </p:txBody>
      </p:sp>
      <p:sp>
        <p:nvSpPr>
          <p:cNvPr id="8" name="Text 6"/>
          <p:cNvSpPr/>
          <p:nvPr/>
        </p:nvSpPr>
        <p:spPr>
          <a:xfrm>
            <a:off x="1097280" y="2432304"/>
            <a:ext cx="6858000" cy="347472"/>
          </a:xfrm>
          <a:prstGeom prst="rect">
            <a:avLst/>
          </a:prstGeom>
          <a:noFill/>
          <a:ln/>
        </p:spPr>
        <p:txBody>
          <a:bodyPr wrap="square" lIns="0" tIns="0" rIns="0" bIns="0" rtlCol="0" anchor="ctr"/>
          <a:lstStyle/>
          <a:p>
            <a:pPr marL="0" indent="0">
              <a:buNone/>
            </a:pPr>
            <a:r>
              <a:rPr lang="en-US" sz="1350" dirty="0">
                <a:solidFill>
                  <a:srgbClr val="5C4033"/>
                </a:solidFill>
                <a:latin typeface="Calibri" pitchFamily="34" charset="0"/>
                <a:ea typeface="Calibri" pitchFamily="34" charset="-122"/>
                <a:cs typeface="Calibri" pitchFamily="34" charset="-120"/>
              </a:rPr>
              <a:t>→  Green = added. Red = removed.</a:t>
            </a:r>
            <a:endParaRPr lang="en-US" sz="1350" dirty="0"/>
          </a:p>
        </p:txBody>
      </p:sp>
      <p:sp>
        <p:nvSpPr>
          <p:cNvPr id="9" name="Text 7"/>
          <p:cNvSpPr/>
          <p:nvPr/>
        </p:nvSpPr>
        <p:spPr>
          <a:xfrm>
            <a:off x="1097280" y="2816352"/>
            <a:ext cx="6858000" cy="347472"/>
          </a:xfrm>
          <a:prstGeom prst="rect">
            <a:avLst/>
          </a:prstGeom>
          <a:noFill/>
          <a:ln/>
        </p:spPr>
        <p:txBody>
          <a:bodyPr wrap="square" lIns="0" tIns="0" rIns="0" bIns="0" rtlCol="0" anchor="ctr"/>
          <a:lstStyle/>
          <a:p>
            <a:pPr marL="0" indent="0">
              <a:buNone/>
            </a:pPr>
            <a:r>
              <a:rPr lang="en-US" sz="1350" dirty="0">
                <a:solidFill>
                  <a:srgbClr val="5C4033"/>
                </a:solidFill>
                <a:latin typeface="Calibri" pitchFamily="34" charset="0"/>
                <a:ea typeface="Calibri" pitchFamily="34" charset="-122"/>
                <a:cs typeface="Calibri" pitchFamily="34" charset="-120"/>
              </a:rPr>
              <a:t>→  Leave a comment → Merge → Delete branch</a:t>
            </a:r>
            <a:endParaRPr lang="en-US" sz="1350" dirty="0"/>
          </a:p>
        </p:txBody>
      </p:sp>
      <p:sp>
        <p:nvSpPr>
          <p:cNvPr id="10" name="Text 8"/>
          <p:cNvSpPr/>
          <p:nvPr/>
        </p:nvSpPr>
        <p:spPr>
          <a:xfrm>
            <a:off x="1097280" y="3200400"/>
            <a:ext cx="6858000" cy="347472"/>
          </a:xfrm>
          <a:prstGeom prst="rect">
            <a:avLst/>
          </a:prstGeom>
          <a:noFill/>
          <a:ln/>
        </p:spPr>
        <p:txBody>
          <a:bodyPr wrap="square" lIns="0" tIns="0" rIns="0" bIns="0" rtlCol="0" anchor="ctr"/>
          <a:lstStyle/>
          <a:p>
            <a:pPr marL="0" indent="0">
              <a:buNone/>
            </a:pPr>
            <a:r>
              <a:rPr lang="en-US" sz="1350" dirty="0">
                <a:solidFill>
                  <a:srgbClr val="5C4033"/>
                </a:solidFill>
                <a:latin typeface="Calibri" pitchFamily="34" charset="0"/>
                <a:ea typeface="Calibri" pitchFamily="34" charset="-122"/>
                <a:cs typeface="Calibri" pitchFamily="34" charset="-120"/>
              </a:rPr>
              <a:t>→  In Replit: Git pane → Pull</a:t>
            </a:r>
            <a:endParaRPr lang="en-US" sz="1350" dirty="0"/>
          </a:p>
        </p:txBody>
      </p:sp>
      <p:sp>
        <p:nvSpPr>
          <p:cNvPr id="11" name="Shape 9"/>
          <p:cNvSpPr/>
          <p:nvPr/>
        </p:nvSpPr>
        <p:spPr>
          <a:xfrm>
            <a:off x="548640" y="3749040"/>
            <a:ext cx="8046720" cy="502920"/>
          </a:xfrm>
          <a:prstGeom prst="roundRect">
            <a:avLst>
              <a:gd name="adj" fmla="val 10909"/>
            </a:avLst>
          </a:prstGeom>
          <a:solidFill>
            <a:srgbClr val="3D2B1F"/>
          </a:solidFill>
          <a:ln/>
        </p:spPr>
        <p:txBody>
          <a:bodyPr/>
          <a:lstStyle/>
          <a:p>
            <a:endParaRPr lang="en-US"/>
          </a:p>
        </p:txBody>
      </p:sp>
      <p:sp>
        <p:nvSpPr>
          <p:cNvPr id="12" name="Text 10"/>
          <p:cNvSpPr/>
          <p:nvPr/>
        </p:nvSpPr>
        <p:spPr>
          <a:xfrm>
            <a:off x="731520" y="3749040"/>
            <a:ext cx="76809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Questions?</a:t>
            </a:r>
            <a:endParaRPr lang="en-US" sz="1600" dirty="0"/>
          </a:p>
        </p:txBody>
      </p:sp>
      <p:pic>
        <p:nvPicPr>
          <p:cNvPr id="14" name="Picture 13">
            <a:extLst>
              <a:ext uri="{FF2B5EF4-FFF2-40B4-BE49-F238E27FC236}">
                <a16:creationId xmlns:a16="http://schemas.microsoft.com/office/drawing/2014/main" id="{F6B7C506-FC82-D227-7B39-4734DBB7ECD9}"/>
              </a:ext>
            </a:extLst>
          </p:cNvPr>
          <p:cNvPicPr>
            <a:picLocks noChangeAspect="1"/>
          </p:cNvPicPr>
          <p:nvPr/>
        </p:nvPicPr>
        <p:blipFill>
          <a:blip r:embed="rId3"/>
          <a:stretch>
            <a:fillRect/>
          </a:stretch>
        </p:blipFill>
        <p:spPr>
          <a:xfrm>
            <a:off x="4603712" y="1828800"/>
            <a:ext cx="3991647" cy="164261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5042"/>
          </a:solidFill>
          <a:ln/>
        </p:spPr>
        <p:txBody>
          <a:bodyPr/>
          <a:lstStyle/>
          <a:p>
            <a:endParaRPr lang="en-US"/>
          </a:p>
        </p:txBody>
      </p:sp>
      <p:sp>
        <p:nvSpPr>
          <p:cNvPr id="3" name="Text 1"/>
          <p:cNvSpPr/>
          <p:nvPr/>
        </p:nvSpPr>
        <p:spPr>
          <a:xfrm>
            <a:off x="548640" y="1097280"/>
            <a:ext cx="8046720" cy="365760"/>
          </a:xfrm>
          <a:prstGeom prst="rect">
            <a:avLst/>
          </a:prstGeom>
          <a:noFill/>
          <a:ln/>
        </p:spPr>
        <p:txBody>
          <a:bodyPr wrap="square" lIns="0" tIns="0" rIns="0" bIns="0" rtlCol="0" anchor="ctr"/>
          <a:lstStyle/>
          <a:p>
            <a:pPr marL="0" indent="0">
              <a:buNone/>
            </a:pPr>
            <a:r>
              <a:rPr lang="en-US" sz="1300" b="1" kern="0" spc="300" dirty="0">
                <a:solidFill>
                  <a:srgbClr val="B85042"/>
                </a:solidFill>
                <a:latin typeface="Calibri" pitchFamily="34" charset="0"/>
                <a:ea typeface="Calibri" pitchFamily="34" charset="-122"/>
                <a:cs typeface="Calibri" pitchFamily="34" charset="-120"/>
              </a:rPr>
              <a:t>PART 3</a:t>
            </a:r>
            <a:endParaRPr lang="en-US" sz="1300" dirty="0"/>
          </a:p>
        </p:txBody>
      </p:sp>
      <p:sp>
        <p:nvSpPr>
          <p:cNvPr id="4" name="Text 2"/>
          <p:cNvSpPr/>
          <p:nvPr/>
        </p:nvSpPr>
        <p:spPr>
          <a:xfrm>
            <a:off x="548640" y="1463040"/>
            <a:ext cx="8046720" cy="640080"/>
          </a:xfrm>
          <a:prstGeom prst="rect">
            <a:avLst/>
          </a:prstGeom>
          <a:noFill/>
          <a:ln/>
        </p:spPr>
        <p:txBody>
          <a:bodyPr wrap="square" lIns="0" tIns="0" rIns="0" bIns="0" rtlCol="0" anchor="ctr"/>
          <a:lstStyle/>
          <a:p>
            <a:pPr marL="0" indent="0">
              <a:buNone/>
            </a:pPr>
            <a:r>
              <a:rPr lang="en-US" sz="3000" b="1" dirty="0">
                <a:solidFill>
                  <a:srgbClr val="3D2B1F"/>
                </a:solidFill>
                <a:latin typeface="Cambria" pitchFamily="34" charset="0"/>
                <a:ea typeface="Cambria" pitchFamily="34" charset="-122"/>
                <a:cs typeface="Cambria" pitchFamily="34" charset="-120"/>
              </a:rPr>
              <a:t>Build and Ship</a:t>
            </a:r>
            <a:endParaRPr lang="en-US" sz="3000" dirty="0"/>
          </a:p>
        </p:txBody>
      </p:sp>
      <p:sp>
        <p:nvSpPr>
          <p:cNvPr id="5" name="Text 3"/>
          <p:cNvSpPr/>
          <p:nvPr/>
        </p:nvSpPr>
        <p:spPr>
          <a:xfrm>
            <a:off x="548640" y="2103120"/>
            <a:ext cx="8046720" cy="411480"/>
          </a:xfrm>
          <a:prstGeom prst="rect">
            <a:avLst/>
          </a:prstGeom>
          <a:noFill/>
          <a:ln/>
        </p:spPr>
        <p:txBody>
          <a:bodyPr wrap="square" lIns="0" tIns="0" rIns="0" bIns="0" rtlCol="0" anchor="ctr"/>
          <a:lstStyle/>
          <a:p>
            <a:pPr marL="0" indent="0">
              <a:buNone/>
            </a:pPr>
            <a:r>
              <a:rPr lang="en-US" sz="1400" dirty="0">
                <a:solidFill>
                  <a:srgbClr val="8B7355"/>
                </a:solidFill>
                <a:latin typeface="Calibri" pitchFamily="34" charset="0"/>
                <a:ea typeface="Calibri" pitchFamily="34" charset="-122"/>
                <a:cs typeface="Calibri" pitchFamily="34" charset="-120"/>
              </a:rPr>
              <a:t>Everyone Builds, Everyone Ships</a:t>
            </a:r>
            <a:endParaRPr lang="en-US" sz="1400" dirty="0"/>
          </a:p>
        </p:txBody>
      </p:sp>
      <p:sp>
        <p:nvSpPr>
          <p:cNvPr id="6" name="Text 4"/>
          <p:cNvSpPr/>
          <p:nvPr/>
        </p:nvSpPr>
        <p:spPr>
          <a:xfrm>
            <a:off x="548640" y="260604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~15 minutes</a:t>
            </a:r>
            <a:endParaRPr lang="en-US" sz="1100" dirty="0"/>
          </a:p>
        </p:txBody>
      </p:sp>
      <p:sp>
        <p:nvSpPr>
          <p:cNvPr id="7" name="Shape 5"/>
          <p:cNvSpPr/>
          <p:nvPr/>
        </p:nvSpPr>
        <p:spPr>
          <a:xfrm>
            <a:off x="548640" y="320040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685800" y="3200400"/>
            <a:ext cx="7772400"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Both of you build at the same time, on your own Replit accounts. Sit together, help each other troubleshoot!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Prompt 1: Fill in the Blanks</a:t>
            </a:r>
            <a:endParaRPr lang="en-US" sz="2200" dirty="0"/>
          </a:p>
        </p:txBody>
      </p:sp>
      <p:sp>
        <p:nvSpPr>
          <p:cNvPr id="3" name="Shape 1"/>
          <p:cNvSpPr/>
          <p:nvPr/>
        </p:nvSpPr>
        <p:spPr>
          <a:xfrm>
            <a:off x="457200" y="822960"/>
            <a:ext cx="8229600" cy="2743200"/>
          </a:xfrm>
          <a:prstGeom prst="roundRect">
            <a:avLst>
              <a:gd name="adj" fmla="val 3333"/>
            </a:avLst>
          </a:prstGeom>
          <a:solidFill>
            <a:srgbClr val="3D2B1F"/>
          </a:solidFill>
          <a:ln/>
        </p:spPr>
        <p:txBody>
          <a:bodyPr/>
          <a:lstStyle/>
          <a:p>
            <a:endParaRPr lang="en-US"/>
          </a:p>
        </p:txBody>
      </p:sp>
      <p:sp>
        <p:nvSpPr>
          <p:cNvPr id="4" name="Text 2"/>
          <p:cNvSpPr/>
          <p:nvPr/>
        </p:nvSpPr>
        <p:spPr>
          <a:xfrm>
            <a:off x="685800" y="914400"/>
            <a:ext cx="7772400" cy="2560320"/>
          </a:xfrm>
          <a:prstGeom prst="rect">
            <a:avLst/>
          </a:prstGeom>
          <a:noFill/>
          <a:ln/>
        </p:spPr>
        <p:txBody>
          <a:bodyPr wrap="square" lIns="0" tIns="0" rIns="0" bIns="0" rtlCol="0" anchor="ctr"/>
          <a:lstStyle/>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Build a single-page personal website. Keep it SIMPLE:</a:t>
            </a:r>
            <a:endParaRPr lang="en-US" sz="1000" dirty="0"/>
          </a:p>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one page, no routing, no backend, no forms.</a:t>
            </a:r>
            <a:endParaRPr lang="en-US" sz="1000" dirty="0"/>
          </a:p>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7C39A"/>
                </a:solidFill>
                <a:latin typeface="Courier New" pitchFamily="34" charset="0"/>
                <a:ea typeface="Courier New" pitchFamily="34" charset="-122"/>
                <a:cs typeface="Courier New" pitchFamily="34" charset="-120"/>
              </a:rPr>
              <a:t>The page is for: ___________     Headline: "___________"</a:t>
            </a:r>
            <a:endParaRPr lang="en-US" sz="1000" dirty="0"/>
          </a:p>
          <a:p>
            <a:pPr marL="0" indent="0">
              <a:lnSpc>
                <a:spcPct val="105000"/>
              </a:lnSpc>
              <a:buNone/>
            </a:pPr>
            <a:r>
              <a:rPr lang="en-US" sz="1000" dirty="0">
                <a:solidFill>
                  <a:srgbClr val="E7C39A"/>
                </a:solidFill>
                <a:latin typeface="Courier New" pitchFamily="34" charset="0"/>
                <a:ea typeface="Courier New" pitchFamily="34" charset="-122"/>
                <a:cs typeface="Courier New" pitchFamily="34" charset="-120"/>
              </a:rPr>
              <a:t>One sentence about me: "___________"</a:t>
            </a:r>
            <a:endParaRPr lang="en-US" sz="1000" dirty="0"/>
          </a:p>
          <a:p>
            <a:pPr marL="0" indent="0">
              <a:lnSpc>
                <a:spcPct val="105000"/>
              </a:lnSpc>
              <a:buNone/>
            </a:pPr>
            <a:r>
              <a:rPr lang="en-US" sz="1000" dirty="0">
                <a:solidFill>
                  <a:srgbClr val="E7C39A"/>
                </a:solidFill>
                <a:latin typeface="Courier New" pitchFamily="34" charset="0"/>
                <a:ea typeface="Courier New" pitchFamily="34" charset="-122"/>
                <a:cs typeface="Courier New" pitchFamily="34" charset="-120"/>
              </a:rPr>
              <a:t>Three Things About Me cards: ___________, ___________, ___________</a:t>
            </a:r>
            <a:endParaRPr lang="en-US" sz="1000" dirty="0"/>
          </a:p>
          <a:p>
            <a:pPr marL="0" indent="0">
              <a:lnSpc>
                <a:spcPct val="105000"/>
              </a:lnSpc>
              <a:buNone/>
            </a:pPr>
            <a:r>
              <a:rPr lang="en-US" sz="1000" dirty="0">
                <a:solidFill>
                  <a:srgbClr val="E7C39A"/>
                </a:solidFill>
                <a:latin typeface="Courier New" pitchFamily="34" charset="0"/>
                <a:ea typeface="Courier New" pitchFamily="34" charset="-122"/>
                <a:cs typeface="Courier New" pitchFamily="34" charset="-120"/>
              </a:rPr>
              <a:t>Color mood: ___________</a:t>
            </a:r>
            <a:endParaRPr lang="en-US" sz="1000" dirty="0"/>
          </a:p>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Footer: "Built at The Upskilling Labs — GitHub 2.0 Workshop"</a:t>
            </a:r>
            <a:endParaRPr lang="en-US" sz="1000" dirty="0"/>
          </a:p>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Keep all text easy to find and edit in the code.</a:t>
            </a:r>
            <a:endParaRPr lang="en-US" sz="1000" dirty="0"/>
          </a:p>
          <a:p>
            <a:pPr marL="0" indent="0">
              <a:lnSpc>
                <a:spcPct val="105000"/>
              </a:lnSpc>
              <a:buNone/>
            </a:pPr>
            <a:r>
              <a:rPr lang="en-US" sz="1000" dirty="0">
                <a:solidFill>
                  <a:srgbClr val="E8DDD0"/>
                </a:solidFill>
                <a:latin typeface="Courier New" pitchFamily="34" charset="0"/>
                <a:ea typeface="Courier New" pitchFamily="34" charset="-122"/>
                <a:cs typeface="Courier New" pitchFamily="34" charset="-120"/>
              </a:rPr>
              <a:t>No extra pages, animations, or heavy libraries.</a:t>
            </a:r>
            <a:endParaRPr lang="en-US" sz="1000" dirty="0"/>
          </a:p>
        </p:txBody>
      </p:sp>
      <p:sp>
        <p:nvSpPr>
          <p:cNvPr id="5" name="Shape 3"/>
          <p:cNvSpPr/>
          <p:nvPr/>
        </p:nvSpPr>
        <p:spPr>
          <a:xfrm>
            <a:off x="548640" y="374904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6" name="Text 4"/>
          <p:cNvSpPr/>
          <p:nvPr/>
        </p:nvSpPr>
        <p:spPr>
          <a:xfrm>
            <a:off x="685800" y="3749040"/>
            <a:ext cx="7772400"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Fill in your blanks, paste into Replit, let it build. Good enough is good enough — do NOT iterate.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Ship It: Your Checklist</a:t>
            </a:r>
            <a:endParaRPr lang="en-US" sz="2200" dirty="0"/>
          </a:p>
        </p:txBody>
      </p:sp>
      <p:sp>
        <p:nvSpPr>
          <p:cNvPr id="3" name="Shape 1"/>
          <p:cNvSpPr/>
          <p:nvPr/>
        </p:nvSpPr>
        <p:spPr>
          <a:xfrm>
            <a:off x="548640" y="914400"/>
            <a:ext cx="1550822" cy="1280160"/>
          </a:xfrm>
          <a:prstGeom prst="roundRect">
            <a:avLst>
              <a:gd name="adj" fmla="val 5714"/>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640080" y="969264"/>
            <a:ext cx="1367942" cy="117043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Build</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Replit Agent builds your page.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Click around the preview.</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Good enough!</a:t>
            </a:r>
            <a:endParaRPr lang="en-US" sz="1800" dirty="0"/>
          </a:p>
        </p:txBody>
      </p:sp>
      <p:sp>
        <p:nvSpPr>
          <p:cNvPr id="5" name="Shape 3"/>
          <p:cNvSpPr/>
          <p:nvPr/>
        </p:nvSpPr>
        <p:spPr>
          <a:xfrm>
            <a:off x="2172614" y="914400"/>
            <a:ext cx="1550822" cy="1280160"/>
          </a:xfrm>
          <a:prstGeom prst="roundRect">
            <a:avLst>
              <a:gd name="adj" fmla="val 5714"/>
            </a:avLst>
          </a:prstGeom>
          <a:solidFill>
            <a:srgbClr val="E7C39A"/>
          </a:solidFill>
          <a:ln/>
          <a:effectLst>
            <a:outerShdw blurRad="63500" dist="25400" dir="2700000" algn="bl" rotWithShape="0">
              <a:srgbClr val="000000">
                <a:alpha val="12000"/>
              </a:srgbClr>
            </a:outerShdw>
          </a:effectLst>
        </p:spPr>
        <p:txBody>
          <a:bodyPr/>
          <a:lstStyle/>
          <a:p>
            <a:endParaRPr lang="en-US"/>
          </a:p>
        </p:txBody>
      </p:sp>
      <p:sp>
        <p:nvSpPr>
          <p:cNvPr id="6" name="Text 4"/>
          <p:cNvSpPr/>
          <p:nvPr/>
        </p:nvSpPr>
        <p:spPr>
          <a:xfrm>
            <a:off x="2264054" y="969264"/>
            <a:ext cx="1367942" cy="117043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Push</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Git pane → Stage all → Commit → Push.</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Repo: &lt;yourname&gt;-handoff-lab</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For </a:t>
            </a:r>
            <a:r>
              <a:rPr lang="en-US" sz="850" dirty="0" err="1">
                <a:solidFill>
                  <a:srgbClr val="FFFFFF"/>
                </a:solidFill>
                <a:latin typeface="Calibri" pitchFamily="34" charset="0"/>
                <a:ea typeface="Calibri" pitchFamily="34" charset="-122"/>
                <a:cs typeface="Calibri" pitchFamily="34" charset="-120"/>
              </a:rPr>
              <a:t>Replit</a:t>
            </a:r>
            <a:r>
              <a:rPr lang="en-US" sz="850" dirty="0">
                <a:solidFill>
                  <a:srgbClr val="FFFFFF"/>
                </a:solidFill>
                <a:latin typeface="Calibri" pitchFamily="34" charset="0"/>
                <a:ea typeface="Calibri" pitchFamily="34" charset="-122"/>
                <a:cs typeface="Calibri" pitchFamily="34" charset="-120"/>
              </a:rPr>
              <a:t>: </a:t>
            </a:r>
            <a:r>
              <a:rPr lang="en-US" sz="850" b="1" dirty="0">
                <a:solidFill>
                  <a:srgbClr val="FFFFFF"/>
                </a:solidFill>
                <a:latin typeface="Calibri" pitchFamily="34" charset="0"/>
                <a:ea typeface="Calibri" pitchFamily="34" charset="-122"/>
                <a:cs typeface="Calibri" pitchFamily="34" charset="-120"/>
              </a:rPr>
              <a:t>Must be PUBLIC.</a:t>
            </a:r>
            <a:endParaRPr lang="en-US" sz="1800" b="1" dirty="0"/>
          </a:p>
        </p:txBody>
      </p:sp>
      <p:sp>
        <p:nvSpPr>
          <p:cNvPr id="7" name="Shape 5"/>
          <p:cNvSpPr/>
          <p:nvPr/>
        </p:nvSpPr>
        <p:spPr>
          <a:xfrm>
            <a:off x="3796589" y="914400"/>
            <a:ext cx="1550822" cy="1280160"/>
          </a:xfrm>
          <a:prstGeom prst="roundRect">
            <a:avLst>
              <a:gd name="adj" fmla="val 5714"/>
            </a:avLst>
          </a:prstGeom>
          <a:solidFill>
            <a:srgbClr val="5C4033"/>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3888029" y="969264"/>
            <a:ext cx="1367942" cy="117043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Confirm</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Check GitHub.com.</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See your code on main?</a:t>
            </a:r>
            <a:endParaRPr lang="en-US" sz="1800" dirty="0"/>
          </a:p>
        </p:txBody>
      </p:sp>
      <p:sp>
        <p:nvSpPr>
          <p:cNvPr id="9" name="Shape 7"/>
          <p:cNvSpPr/>
          <p:nvPr/>
        </p:nvSpPr>
        <p:spPr>
          <a:xfrm>
            <a:off x="5420563" y="914400"/>
            <a:ext cx="1550822" cy="1280160"/>
          </a:xfrm>
          <a:prstGeom prst="roundRect">
            <a:avLst>
              <a:gd name="adj" fmla="val 5714"/>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5512003" y="969264"/>
            <a:ext cx="1367942" cy="117043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Prompt Doc</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GitHub.com: Add file →</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prompts/scaffold-prompt.md</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 paste prompt → commit.</a:t>
            </a:r>
            <a:endParaRPr lang="en-US" sz="1800" dirty="0"/>
          </a:p>
        </p:txBody>
      </p:sp>
      <p:sp>
        <p:nvSpPr>
          <p:cNvPr id="11" name="Shape 9"/>
          <p:cNvSpPr/>
          <p:nvPr/>
        </p:nvSpPr>
        <p:spPr>
          <a:xfrm>
            <a:off x="7044538" y="914400"/>
            <a:ext cx="1550822" cy="1280160"/>
          </a:xfrm>
          <a:prstGeom prst="roundRect">
            <a:avLst>
              <a:gd name="adj" fmla="val 5714"/>
            </a:avLst>
          </a:prstGeom>
          <a:solidFill>
            <a:srgbClr val="8A7E5B"/>
          </a:solidFill>
          <a:ln/>
          <a:effectLst>
            <a:outerShdw blurRad="63500" dist="25400" dir="2700000" algn="bl" rotWithShape="0">
              <a:srgbClr val="000000">
                <a:alpha val="12000"/>
              </a:srgbClr>
            </a:outerShdw>
          </a:effectLst>
        </p:spPr>
        <p:txBody>
          <a:bodyPr/>
          <a:lstStyle/>
          <a:p>
            <a:endParaRPr lang="en-US"/>
          </a:p>
        </p:txBody>
      </p:sp>
      <p:sp>
        <p:nvSpPr>
          <p:cNvPr id="12" name="Text 10"/>
          <p:cNvSpPr/>
          <p:nvPr/>
        </p:nvSpPr>
        <p:spPr>
          <a:xfrm>
            <a:off x="7135978" y="969264"/>
            <a:ext cx="1367942" cy="117043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5</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Invite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Settings → Collaborators →</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add your partner’s</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GitHub username.</a:t>
            </a:r>
            <a:endParaRPr lang="en-US" sz="1800" dirty="0"/>
          </a:p>
        </p:txBody>
      </p:sp>
      <p:sp>
        <p:nvSpPr>
          <p:cNvPr id="13" name="Shape 11"/>
          <p:cNvSpPr/>
          <p:nvPr/>
        </p:nvSpPr>
        <p:spPr>
          <a:xfrm>
            <a:off x="548640" y="2423160"/>
            <a:ext cx="8046720" cy="411480"/>
          </a:xfrm>
          <a:prstGeom prst="roundRect">
            <a:avLst>
              <a:gd name="adj" fmla="val 13333"/>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4" name="Text 12"/>
          <p:cNvSpPr/>
          <p:nvPr/>
        </p:nvSpPr>
        <p:spPr>
          <a:xfrm>
            <a:off x="685800" y="2423160"/>
            <a:ext cx="7772400" cy="411480"/>
          </a:xfrm>
          <a:prstGeom prst="rect">
            <a:avLst/>
          </a:prstGeom>
          <a:noFill/>
          <a:ln/>
        </p:spPr>
        <p:txBody>
          <a:bodyPr wrap="square" lIns="0" tIns="101600" rIns="10160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Thumbs up when BOTH partners have a live repo on GitHub with a prompt doc committed and a collaborator invite sent.</a:t>
            </a:r>
            <a:endParaRPr lang="en-US" sz="1150" dirty="0"/>
          </a:p>
        </p:txBody>
      </p:sp>
      <p:sp>
        <p:nvSpPr>
          <p:cNvPr id="15" name="Text 13"/>
          <p:cNvSpPr/>
          <p:nvPr/>
        </p:nvSpPr>
        <p:spPr>
          <a:xfrm>
            <a:off x="731520" y="3017520"/>
            <a:ext cx="7680960" cy="365760"/>
          </a:xfrm>
          <a:prstGeom prst="rect">
            <a:avLst/>
          </a:prstGeom>
          <a:noFill/>
          <a:ln/>
        </p:spPr>
        <p:txBody>
          <a:bodyPr wrap="square" lIns="0" tIns="0" rIns="0" bIns="0" rtlCol="0" anchor="ctr"/>
          <a:lstStyle/>
          <a:p>
            <a:pPr marL="0" indent="0">
              <a:buNone/>
            </a:pPr>
            <a:r>
              <a:rPr lang="en-US" sz="1100" b="1" dirty="0">
                <a:solidFill>
                  <a:srgbClr val="5C4033"/>
                </a:solidFill>
                <a:latin typeface="Calibri" pitchFamily="34" charset="0"/>
                <a:ea typeface="Calibri" pitchFamily="34" charset="-122"/>
                <a:cs typeface="Calibri" pitchFamily="34" charset="-120"/>
              </a:rPr>
              <a:t>Also: </a:t>
            </a:r>
            <a:r>
              <a:rPr lang="en-US" sz="1100" dirty="0">
                <a:solidFill>
                  <a:srgbClr val="5C4033"/>
                </a:solidFill>
                <a:latin typeface="Calibri" pitchFamily="34" charset="0"/>
                <a:ea typeface="Calibri" pitchFamily="34" charset="-122"/>
                <a:cs typeface="Calibri" pitchFamily="34" charset="-120"/>
              </a:rPr>
              <a:t>Accept your partner’s invitation to their repo. Check email or github.com/notifications.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5042"/>
          </a:solidFill>
          <a:ln/>
        </p:spPr>
        <p:txBody>
          <a:bodyPr/>
          <a:lstStyle/>
          <a:p>
            <a:endParaRPr lang="en-US"/>
          </a:p>
        </p:txBody>
      </p:sp>
      <p:sp>
        <p:nvSpPr>
          <p:cNvPr id="3" name="Text 1"/>
          <p:cNvSpPr/>
          <p:nvPr/>
        </p:nvSpPr>
        <p:spPr>
          <a:xfrm>
            <a:off x="548640" y="1097280"/>
            <a:ext cx="8046720" cy="365760"/>
          </a:xfrm>
          <a:prstGeom prst="rect">
            <a:avLst/>
          </a:prstGeom>
          <a:noFill/>
          <a:ln/>
        </p:spPr>
        <p:txBody>
          <a:bodyPr wrap="square" lIns="0" tIns="0" rIns="0" bIns="0" rtlCol="0" anchor="ctr"/>
          <a:lstStyle/>
          <a:p>
            <a:pPr marL="0" indent="0">
              <a:buNone/>
            </a:pPr>
            <a:r>
              <a:rPr lang="en-US" sz="1300" b="1" kern="0" spc="300" dirty="0">
                <a:solidFill>
                  <a:srgbClr val="B85042"/>
                </a:solidFill>
                <a:latin typeface="Calibri" pitchFamily="34" charset="0"/>
                <a:ea typeface="Calibri" pitchFamily="34" charset="-122"/>
                <a:cs typeface="Calibri" pitchFamily="34" charset="-120"/>
              </a:rPr>
              <a:t>PART 4</a:t>
            </a:r>
            <a:endParaRPr lang="en-US" sz="1300" dirty="0"/>
          </a:p>
        </p:txBody>
      </p:sp>
      <p:sp>
        <p:nvSpPr>
          <p:cNvPr id="4" name="Text 2"/>
          <p:cNvSpPr/>
          <p:nvPr/>
        </p:nvSpPr>
        <p:spPr>
          <a:xfrm>
            <a:off x="548640" y="1463040"/>
            <a:ext cx="8046720" cy="640080"/>
          </a:xfrm>
          <a:prstGeom prst="rect">
            <a:avLst/>
          </a:prstGeom>
          <a:noFill/>
          <a:ln/>
        </p:spPr>
        <p:txBody>
          <a:bodyPr wrap="square" lIns="0" tIns="0" rIns="0" bIns="0" rtlCol="0" anchor="ctr"/>
          <a:lstStyle/>
          <a:p>
            <a:pPr marL="0" indent="0">
              <a:buNone/>
            </a:pPr>
            <a:r>
              <a:rPr lang="en-US" sz="3000" b="1" dirty="0">
                <a:solidFill>
                  <a:srgbClr val="3D2B1F"/>
                </a:solidFill>
                <a:latin typeface="Cambria" pitchFamily="34" charset="0"/>
                <a:ea typeface="Cambria" pitchFamily="34" charset="-122"/>
                <a:cs typeface="Cambria" pitchFamily="34" charset="-120"/>
              </a:rPr>
              <a:t>Clone, Branch, and Change</a:t>
            </a:r>
            <a:endParaRPr lang="en-US" sz="3000" dirty="0"/>
          </a:p>
        </p:txBody>
      </p:sp>
      <p:sp>
        <p:nvSpPr>
          <p:cNvPr id="5" name="Text 3"/>
          <p:cNvSpPr/>
          <p:nvPr/>
        </p:nvSpPr>
        <p:spPr>
          <a:xfrm>
            <a:off x="548640" y="2103120"/>
            <a:ext cx="8046720" cy="411480"/>
          </a:xfrm>
          <a:prstGeom prst="rect">
            <a:avLst/>
          </a:prstGeom>
          <a:noFill/>
          <a:ln/>
        </p:spPr>
        <p:txBody>
          <a:bodyPr wrap="square" lIns="0" tIns="0" rIns="0" bIns="0" rtlCol="0" anchor="ctr"/>
          <a:lstStyle/>
          <a:p>
            <a:pPr marL="0" indent="0">
              <a:buNone/>
            </a:pPr>
            <a:r>
              <a:rPr lang="en-US" sz="1400" dirty="0">
                <a:solidFill>
                  <a:srgbClr val="8B7355"/>
                </a:solidFill>
                <a:latin typeface="Calibri" pitchFamily="34" charset="0"/>
                <a:ea typeface="Calibri" pitchFamily="34" charset="-122"/>
                <a:cs typeface="Calibri" pitchFamily="34" charset="-120"/>
              </a:rPr>
              <a:t>Everyone Edits Their Partner’s Code</a:t>
            </a:r>
            <a:endParaRPr lang="en-US" sz="1400" dirty="0"/>
          </a:p>
        </p:txBody>
      </p:sp>
      <p:sp>
        <p:nvSpPr>
          <p:cNvPr id="6" name="Text 4"/>
          <p:cNvSpPr/>
          <p:nvPr/>
        </p:nvSpPr>
        <p:spPr>
          <a:xfrm>
            <a:off x="548640" y="260604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~20 minutes</a:t>
            </a:r>
            <a:endParaRPr lang="en-US" sz="1100" dirty="0"/>
          </a:p>
        </p:txBody>
      </p:sp>
      <p:sp>
        <p:nvSpPr>
          <p:cNvPr id="7" name="Shape 5"/>
          <p:cNvSpPr/>
          <p:nvPr/>
        </p:nvSpPr>
        <p:spPr>
          <a:xfrm>
            <a:off x="548640" y="320040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685800" y="3200400"/>
            <a:ext cx="7772400"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You’re about to open code you didn’t write, built by an AI you didn’t prompt. This is the most common situation in modern team development.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Your Mission as the Editor</a:t>
            </a:r>
            <a:endParaRPr lang="en-US" sz="2200" dirty="0"/>
          </a:p>
        </p:txBody>
      </p:sp>
      <p:sp>
        <p:nvSpPr>
          <p:cNvPr id="3" name="Shape 1"/>
          <p:cNvSpPr/>
          <p:nvPr/>
        </p:nvSpPr>
        <p:spPr>
          <a:xfrm>
            <a:off x="548640" y="914400"/>
            <a:ext cx="3749040" cy="2011680"/>
          </a:xfrm>
          <a:prstGeom prst="roundRect">
            <a:avLst>
              <a:gd name="adj" fmla="val 3636"/>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731520" y="1005840"/>
            <a:ext cx="3383280" cy="274320"/>
          </a:xfrm>
          <a:prstGeom prst="rect">
            <a:avLst/>
          </a:prstGeom>
          <a:noFill/>
          <a:ln/>
        </p:spPr>
        <p:txBody>
          <a:bodyPr wrap="square" lIns="0" tIns="0" rIns="0" bIns="0" rtlCol="0" anchor="ctr"/>
          <a:lstStyle/>
          <a:p>
            <a:pPr marL="0" indent="0">
              <a:buNone/>
            </a:pPr>
            <a:r>
              <a:rPr lang="en-US" sz="1200" b="1" dirty="0">
                <a:solidFill>
                  <a:srgbClr val="B85042"/>
                </a:solidFill>
                <a:latin typeface="Cambria" pitchFamily="34" charset="0"/>
                <a:ea typeface="Cambria" pitchFamily="34" charset="-122"/>
                <a:cs typeface="Cambria" pitchFamily="34" charset="-120"/>
              </a:rPr>
              <a:t>What Just Happened</a:t>
            </a:r>
            <a:endParaRPr lang="en-US" sz="1200" dirty="0"/>
          </a:p>
        </p:txBody>
      </p:sp>
      <p:sp>
        <p:nvSpPr>
          <p:cNvPr id="5" name="Text 3"/>
          <p:cNvSpPr/>
          <p:nvPr/>
        </p:nvSpPr>
        <p:spPr>
          <a:xfrm>
            <a:off x="731520" y="1371600"/>
            <a:ext cx="3383280" cy="1371600"/>
          </a:xfrm>
          <a:prstGeom prst="rect">
            <a:avLst/>
          </a:prstGeom>
          <a:noFill/>
          <a:ln/>
        </p:spPr>
        <p:txBody>
          <a:bodyPr wrap="square" lIns="0" tIns="0" rIns="0" bIns="0" rtlCol="0" anchor="ctr"/>
          <a:lstStyle/>
          <a:p>
            <a:pPr marL="0" indent="0">
              <a:lnSpc>
                <a:spcPct val="110000"/>
              </a:lnSpc>
              <a:buNone/>
            </a:pPr>
            <a:r>
              <a:rPr lang="en-US" sz="1100" dirty="0">
                <a:solidFill>
                  <a:srgbClr val="5C4033"/>
                </a:solidFill>
                <a:latin typeface="Calibri" pitchFamily="34" charset="0"/>
                <a:ea typeface="Calibri" pitchFamily="34" charset="-122"/>
                <a:cs typeface="Calibri" pitchFamily="34" charset="-120"/>
              </a:rPr>
              <a:t>Your partner built a page with AI and shipped it to GitHub</a:t>
            </a:r>
            <a:endParaRPr lang="en-US" sz="1100" dirty="0"/>
          </a:p>
          <a:p>
            <a:pPr marL="0" indent="0">
              <a:lnSpc>
                <a:spcPct val="110000"/>
              </a:lnSpc>
              <a:buNone/>
            </a:pPr>
            <a:endParaRPr lang="en-US" sz="1100" dirty="0"/>
          </a:p>
          <a:p>
            <a:pPr marL="0" indent="0">
              <a:lnSpc>
                <a:spcPct val="110000"/>
              </a:lnSpc>
              <a:buNone/>
            </a:pPr>
            <a:r>
              <a:rPr lang="en-US" sz="1100" dirty="0">
                <a:solidFill>
                  <a:srgbClr val="5C4033"/>
                </a:solidFill>
                <a:latin typeface="Calibri" pitchFamily="34" charset="0"/>
                <a:ea typeface="Calibri" pitchFamily="34" charset="-122"/>
                <a:cs typeface="Calibri" pitchFamily="34" charset="-120"/>
              </a:rPr>
              <a:t>You’ve been invited as a collaborator on their repo</a:t>
            </a:r>
            <a:endParaRPr lang="en-US" sz="1100" dirty="0"/>
          </a:p>
          <a:p>
            <a:pPr marL="0" indent="0">
              <a:lnSpc>
                <a:spcPct val="110000"/>
              </a:lnSpc>
              <a:buNone/>
            </a:pPr>
            <a:endParaRPr lang="en-US" sz="1100" dirty="0"/>
          </a:p>
          <a:p>
            <a:pPr marL="0" indent="0">
              <a:lnSpc>
                <a:spcPct val="110000"/>
              </a:lnSpc>
              <a:buNone/>
            </a:pPr>
            <a:r>
              <a:rPr lang="en-US" sz="1100" dirty="0">
                <a:solidFill>
                  <a:srgbClr val="5C4033"/>
                </a:solidFill>
                <a:latin typeface="Calibri" pitchFamily="34" charset="0"/>
                <a:ea typeface="Calibri" pitchFamily="34" charset="-122"/>
                <a:cs typeface="Calibri" pitchFamily="34" charset="-120"/>
              </a:rPr>
              <a:t>You didn’t write this code and didn’t prompt it</a:t>
            </a:r>
            <a:endParaRPr lang="en-US" sz="1100" dirty="0"/>
          </a:p>
          <a:p>
            <a:pPr marL="0" indent="0">
              <a:lnSpc>
                <a:spcPct val="110000"/>
              </a:lnSpc>
              <a:buNone/>
            </a:pPr>
            <a:endParaRPr lang="en-US" sz="1100" dirty="0"/>
          </a:p>
          <a:p>
            <a:pPr marL="0" indent="0">
              <a:lnSpc>
                <a:spcPct val="110000"/>
              </a:lnSpc>
              <a:buNone/>
            </a:pPr>
            <a:r>
              <a:rPr lang="en-US" sz="1100" i="1" dirty="0">
                <a:solidFill>
                  <a:srgbClr val="5C4033"/>
                </a:solidFill>
                <a:latin typeface="Calibri" pitchFamily="34" charset="0"/>
                <a:ea typeface="Calibri" pitchFamily="34" charset="-122"/>
                <a:cs typeface="Calibri" pitchFamily="34" charset="-120"/>
              </a:rPr>
              <a:t>This is normal — it’s how teams work</a:t>
            </a:r>
            <a:endParaRPr lang="en-US" sz="1100" dirty="0"/>
          </a:p>
        </p:txBody>
      </p:sp>
      <p:sp>
        <p:nvSpPr>
          <p:cNvPr id="6" name="Shape 4"/>
          <p:cNvSpPr/>
          <p:nvPr/>
        </p:nvSpPr>
        <p:spPr>
          <a:xfrm>
            <a:off x="4663440" y="914400"/>
            <a:ext cx="3931920" cy="2011680"/>
          </a:xfrm>
          <a:prstGeom prst="roundRect">
            <a:avLst>
              <a:gd name="adj" fmla="val 3636"/>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4846320" y="1005840"/>
            <a:ext cx="3566160" cy="27432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Your Toolkit</a:t>
            </a:r>
            <a:endParaRPr lang="en-US" sz="1200" dirty="0"/>
          </a:p>
        </p:txBody>
      </p:sp>
      <p:sp>
        <p:nvSpPr>
          <p:cNvPr id="8" name="Text 6"/>
          <p:cNvSpPr/>
          <p:nvPr/>
        </p:nvSpPr>
        <p:spPr>
          <a:xfrm>
            <a:off x="4846320" y="1371600"/>
            <a:ext cx="3566160" cy="1371600"/>
          </a:xfrm>
          <a:prstGeom prst="rect">
            <a:avLst/>
          </a:prstGeom>
          <a:noFill/>
          <a:ln/>
        </p:spPr>
        <p:txBody>
          <a:bodyPr wrap="square" lIns="0" tIns="0" rIns="0" bIns="0" rtlCol="0" anchor="ctr"/>
          <a:lstStyle/>
          <a:p>
            <a:pPr marL="0" indent="0">
              <a:lnSpc>
                <a:spcPct val="110000"/>
              </a:lnSpc>
              <a:buNone/>
            </a:pPr>
            <a:r>
              <a:rPr lang="en-US" sz="1050" b="1" dirty="0">
                <a:solidFill>
                  <a:srgbClr val="FFFFFF"/>
                </a:solidFill>
                <a:latin typeface="Calibri" pitchFamily="34" charset="0"/>
                <a:ea typeface="Calibri" pitchFamily="34" charset="-122"/>
                <a:cs typeface="Calibri" pitchFamily="34" charset="-120"/>
              </a:rPr>
              <a:t>prompts/scaffold-prompt.md</a:t>
            </a:r>
            <a:endParaRPr lang="en-US" sz="1050" dirty="0"/>
          </a:p>
          <a:p>
            <a:pPr marL="0" indent="0">
              <a:lnSpc>
                <a:spcPct val="110000"/>
              </a:lnSpc>
              <a:buNone/>
            </a:pPr>
            <a:r>
              <a:rPr lang="en-US" sz="1050" dirty="0">
                <a:solidFill>
                  <a:srgbClr val="FFFFFF"/>
                </a:solidFill>
                <a:latin typeface="Calibri" pitchFamily="34" charset="0"/>
                <a:ea typeface="Calibri" pitchFamily="34" charset="-122"/>
                <a:cs typeface="Calibri" pitchFamily="34" charset="-120"/>
              </a:rPr>
              <a:t>tells you what was built and why</a:t>
            </a:r>
            <a:endParaRPr lang="en-US" sz="1050" dirty="0"/>
          </a:p>
          <a:p>
            <a:pPr marL="0" indent="0">
              <a:lnSpc>
                <a:spcPct val="110000"/>
              </a:lnSpc>
              <a:buNone/>
            </a:pPr>
            <a:endParaRPr lang="en-US" sz="1050" dirty="0"/>
          </a:p>
          <a:p>
            <a:pPr marL="0" indent="0">
              <a:lnSpc>
                <a:spcPct val="110000"/>
              </a:lnSpc>
              <a:buNone/>
            </a:pPr>
            <a:r>
              <a:rPr lang="en-US" sz="1050" b="1" dirty="0">
                <a:solidFill>
                  <a:srgbClr val="FFFFFF"/>
                </a:solidFill>
                <a:latin typeface="Calibri" pitchFamily="34" charset="0"/>
                <a:ea typeface="Calibri" pitchFamily="34" charset="-122"/>
                <a:cs typeface="Calibri" pitchFamily="34" charset="-120"/>
              </a:rPr>
              <a:t>Ctrl/Cmd+Shift+F</a:t>
            </a:r>
            <a:endParaRPr lang="en-US" sz="1050" dirty="0"/>
          </a:p>
          <a:p>
            <a:pPr marL="0" indent="0">
              <a:lnSpc>
                <a:spcPct val="110000"/>
              </a:lnSpc>
              <a:buNone/>
            </a:pPr>
            <a:r>
              <a:rPr lang="en-US" sz="1050" dirty="0">
                <a:solidFill>
                  <a:srgbClr val="FFFFFF"/>
                </a:solidFill>
                <a:latin typeface="Calibri" pitchFamily="34" charset="0"/>
                <a:ea typeface="Calibri" pitchFamily="34" charset="-122"/>
                <a:cs typeface="Calibri" pitchFamily="34" charset="-120"/>
              </a:rPr>
              <a:t>project-wide search finds anything</a:t>
            </a:r>
            <a:endParaRPr lang="en-US" sz="1050" dirty="0"/>
          </a:p>
          <a:p>
            <a:pPr marL="0" indent="0">
              <a:lnSpc>
                <a:spcPct val="110000"/>
              </a:lnSpc>
              <a:buNone/>
            </a:pPr>
            <a:endParaRPr lang="en-US" sz="1050" dirty="0"/>
          </a:p>
          <a:p>
            <a:pPr marL="0" indent="0">
              <a:lnSpc>
                <a:spcPct val="110000"/>
              </a:lnSpc>
              <a:buNone/>
            </a:pPr>
            <a:r>
              <a:rPr lang="en-US" sz="1050" i="1" dirty="0">
                <a:solidFill>
                  <a:srgbClr val="FFFFFF"/>
                </a:solidFill>
                <a:latin typeface="Calibri" pitchFamily="34" charset="0"/>
                <a:ea typeface="Calibri" pitchFamily="34" charset="-122"/>
                <a:cs typeface="Calibri" pitchFamily="34" charset="-120"/>
              </a:rPr>
              <a:t>You don’t need to understand every line — just find the piece you’re changing</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Steps 1–4: Get Set Up</a:t>
            </a:r>
            <a:endParaRPr lang="en-US" sz="2200" dirty="0"/>
          </a:p>
        </p:txBody>
      </p:sp>
      <p:sp>
        <p:nvSpPr>
          <p:cNvPr id="3" name="Shape 1"/>
          <p:cNvSpPr/>
          <p:nvPr/>
        </p:nvSpPr>
        <p:spPr>
          <a:xfrm>
            <a:off x="548640" y="914400"/>
            <a:ext cx="1956816" cy="1188720"/>
          </a:xfrm>
          <a:prstGeom prst="roundRect">
            <a:avLst>
              <a:gd name="adj" fmla="val 6154"/>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640080"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Accept Invite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Check email or GitHub</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notifications for your</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partner’s repo.</a:t>
            </a:r>
            <a:endParaRPr lang="en-US" sz="1800" dirty="0"/>
          </a:p>
        </p:txBody>
      </p:sp>
      <p:sp>
        <p:nvSpPr>
          <p:cNvPr id="5" name="Shape 3"/>
          <p:cNvSpPr/>
          <p:nvPr/>
        </p:nvSpPr>
        <p:spPr>
          <a:xfrm>
            <a:off x="2578608" y="914400"/>
            <a:ext cx="1956816" cy="1188720"/>
          </a:xfrm>
          <a:prstGeom prst="roundRect">
            <a:avLst>
              <a:gd name="adj" fmla="val 6154"/>
            </a:avLst>
          </a:prstGeom>
          <a:solidFill>
            <a:srgbClr val="E7C39A"/>
          </a:solidFill>
          <a:ln/>
          <a:effectLst>
            <a:outerShdw blurRad="63500" dist="25400" dir="2700000" algn="bl" rotWithShape="0">
              <a:srgbClr val="000000">
                <a:alpha val="12000"/>
              </a:srgbClr>
            </a:outerShdw>
          </a:effectLst>
        </p:spPr>
        <p:txBody>
          <a:bodyPr/>
          <a:lstStyle/>
          <a:p>
            <a:endParaRPr lang="en-US"/>
          </a:p>
        </p:txBody>
      </p:sp>
      <p:sp>
        <p:nvSpPr>
          <p:cNvPr id="6" name="Text 4"/>
          <p:cNvSpPr/>
          <p:nvPr/>
        </p:nvSpPr>
        <p:spPr>
          <a:xfrm>
            <a:off x="2670048"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Clone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GitHub Desktop:</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File → Clone →</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find your partner’s repo.</a:t>
            </a:r>
            <a:endParaRPr lang="en-US" sz="1800" dirty="0"/>
          </a:p>
        </p:txBody>
      </p:sp>
      <p:sp>
        <p:nvSpPr>
          <p:cNvPr id="7" name="Shape 5"/>
          <p:cNvSpPr/>
          <p:nvPr/>
        </p:nvSpPr>
        <p:spPr>
          <a:xfrm>
            <a:off x="4608576" y="914400"/>
            <a:ext cx="1956816" cy="1188720"/>
          </a:xfrm>
          <a:prstGeom prst="roundRect">
            <a:avLst>
              <a:gd name="adj" fmla="val 6154"/>
            </a:avLst>
          </a:prstGeom>
          <a:solidFill>
            <a:srgbClr val="5C4033"/>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4700016"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Branch FIRST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Current Branch →</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New Branch →</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feature/&lt;yourname&gt;-edit</a:t>
            </a:r>
            <a:endParaRPr lang="en-US" sz="1800" dirty="0"/>
          </a:p>
        </p:txBody>
      </p:sp>
      <p:sp>
        <p:nvSpPr>
          <p:cNvPr id="9" name="Shape 7"/>
          <p:cNvSpPr/>
          <p:nvPr/>
        </p:nvSpPr>
        <p:spPr>
          <a:xfrm>
            <a:off x="6638544" y="914400"/>
            <a:ext cx="1956816" cy="1188720"/>
          </a:xfrm>
          <a:prstGeom prst="roundRect">
            <a:avLst>
              <a:gd name="adj" fmla="val 6154"/>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6729984"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Read the Map</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Open scaffold-</a:t>
            </a:r>
            <a:r>
              <a:rPr lang="en-US" sz="850" dirty="0" err="1">
                <a:solidFill>
                  <a:srgbClr val="FFFFFF"/>
                </a:solidFill>
                <a:latin typeface="Calibri" pitchFamily="34" charset="0"/>
                <a:ea typeface="Calibri" pitchFamily="34" charset="-122"/>
                <a:cs typeface="Calibri" pitchFamily="34" charset="-120"/>
              </a:rPr>
              <a:t>prompt.md</a:t>
            </a:r>
            <a:r>
              <a:rPr lang="en-US" sz="850" dirty="0">
                <a:solidFill>
                  <a:srgbClr val="FFFFFF"/>
                </a:solidFill>
                <a:latin typeface="Calibri" pitchFamily="34" charset="0"/>
                <a:ea typeface="Calibri" pitchFamily="34" charset="-122"/>
                <a:cs typeface="Calibri" pitchFamily="34" charset="-120"/>
              </a:rPr>
              <a:t> in VS Code.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Understand what was built. Copy and paste snippets into your AI chat if you need help.</a:t>
            </a:r>
            <a:endParaRPr lang="en-US" sz="1800" dirty="0"/>
          </a:p>
        </p:txBody>
      </p:sp>
      <p:sp>
        <p:nvSpPr>
          <p:cNvPr id="11" name="Shape 9"/>
          <p:cNvSpPr/>
          <p:nvPr/>
        </p:nvSpPr>
        <p:spPr>
          <a:xfrm>
            <a:off x="548640" y="2377440"/>
            <a:ext cx="8046720" cy="502920"/>
          </a:xfrm>
          <a:prstGeom prst="roundRect">
            <a:avLst>
              <a:gd name="adj" fmla="val 10909"/>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2" name="Text 10"/>
          <p:cNvSpPr/>
          <p:nvPr/>
        </p:nvSpPr>
        <p:spPr>
          <a:xfrm>
            <a:off x="685800" y="2377440"/>
            <a:ext cx="7772400" cy="502920"/>
          </a:xfrm>
          <a:prstGeom prst="rect">
            <a:avLst/>
          </a:prstGeom>
          <a:noFill/>
          <a:ln/>
        </p:spPr>
        <p:txBody>
          <a:bodyPr wrap="square" lIns="0" tIns="101600" rIns="10160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Before you touch any code: check the branch indicator in GitHub Desktop. If it says “main” — STOP. Create your branch first.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9">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Secret Help: </a:t>
            </a:r>
            <a:r>
              <a:rPr lang="en-US" sz="2200" b="1" dirty="0" err="1">
                <a:solidFill>
                  <a:srgbClr val="3D2B1F"/>
                </a:solidFill>
                <a:latin typeface="Cambria" pitchFamily="34" charset="0"/>
                <a:ea typeface="Cambria" pitchFamily="34" charset="-122"/>
                <a:cs typeface="Cambria" pitchFamily="34" charset="-120"/>
              </a:rPr>
              <a:t>github.dev</a:t>
            </a:r>
            <a:endParaRPr lang="en-US" sz="2200" dirty="0"/>
          </a:p>
        </p:txBody>
      </p:sp>
      <p:sp>
        <p:nvSpPr>
          <p:cNvPr id="3" name="Shape 1"/>
          <p:cNvSpPr/>
          <p:nvPr/>
        </p:nvSpPr>
        <p:spPr>
          <a:xfrm>
            <a:off x="548640" y="914400"/>
            <a:ext cx="8046720" cy="1188720"/>
          </a:xfrm>
          <a:prstGeom prst="roundRect">
            <a:avLst>
              <a:gd name="adj" fmla="val 6154"/>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731520" y="960120"/>
            <a:ext cx="2743200" cy="274320"/>
          </a:xfrm>
          <a:prstGeom prst="rect">
            <a:avLst/>
          </a:prstGeom>
          <a:noFill/>
          <a:ln/>
        </p:spPr>
        <p:txBody>
          <a:bodyPr wrap="square" lIns="0" tIns="0" rIns="0" bIns="0" rtlCol="0" anchor="ctr"/>
          <a:lstStyle/>
          <a:p>
            <a:pPr marL="0" indent="0">
              <a:buNone/>
            </a:pPr>
            <a:r>
              <a:rPr lang="en-US" sz="1200" b="1" dirty="0">
                <a:solidFill>
                  <a:srgbClr val="B85042"/>
                </a:solidFill>
                <a:latin typeface="Cambria" pitchFamily="34" charset="0"/>
                <a:ea typeface="Cambria" pitchFamily="34" charset="-122"/>
                <a:cs typeface="Cambria" pitchFamily="34" charset="-120"/>
              </a:rPr>
              <a:t>If Your Local Setup Breaks</a:t>
            </a:r>
            <a:endParaRPr lang="en-US" sz="1200" dirty="0"/>
          </a:p>
        </p:txBody>
      </p:sp>
      <p:sp>
        <p:nvSpPr>
          <p:cNvPr id="5" name="Text 3"/>
          <p:cNvSpPr/>
          <p:nvPr/>
        </p:nvSpPr>
        <p:spPr>
          <a:xfrm>
            <a:off x="731520" y="1280160"/>
            <a:ext cx="7680960" cy="73152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Open any repo on GitHub.com → press the  </a:t>
            </a:r>
            <a:r>
              <a:rPr lang="en-US" sz="2000" b="1" dirty="0">
                <a:solidFill>
                  <a:srgbClr val="3D2B1F"/>
                </a:solidFill>
                <a:latin typeface="Courier New" pitchFamily="34" charset="0"/>
                <a:ea typeface="Courier New" pitchFamily="34" charset="-122"/>
                <a:cs typeface="Courier New" pitchFamily="34" charset="-120"/>
              </a:rPr>
              <a:t>.</a:t>
            </a:r>
            <a:r>
              <a:rPr lang="en-US" sz="1200" dirty="0">
                <a:solidFill>
                  <a:srgbClr val="3D2B1F"/>
                </a:solidFill>
                <a:latin typeface="Calibri" pitchFamily="34" charset="0"/>
                <a:ea typeface="Calibri" pitchFamily="34" charset="-122"/>
                <a:cs typeface="Calibri" pitchFamily="34" charset="-120"/>
              </a:rPr>
              <a:t>  key → full VS Code opens in the browser. </a:t>
            </a:r>
          </a:p>
          <a:p>
            <a:pPr marL="0" indent="0">
              <a:buNone/>
            </a:pPr>
            <a:r>
              <a:rPr lang="en-US" sz="1200" dirty="0">
                <a:solidFill>
                  <a:srgbClr val="3D2B1F"/>
                </a:solidFill>
                <a:latin typeface="Calibri" pitchFamily="34" charset="0"/>
                <a:ea typeface="Calibri" pitchFamily="34" charset="-122"/>
                <a:cs typeface="Calibri" pitchFamily="34" charset="-120"/>
              </a:rPr>
              <a:t>Edit, commit, push. No install needed.</a:t>
            </a:r>
            <a:endParaRPr lang="en-US" sz="1200" dirty="0"/>
          </a:p>
        </p:txBody>
      </p:sp>
      <p:sp>
        <p:nvSpPr>
          <p:cNvPr id="6" name="Shape 4"/>
          <p:cNvSpPr/>
          <p:nvPr/>
        </p:nvSpPr>
        <p:spPr>
          <a:xfrm>
            <a:off x="548640" y="2377440"/>
            <a:ext cx="8046720" cy="1485900"/>
          </a:xfrm>
          <a:prstGeom prst="roundRect">
            <a:avLst>
              <a:gd name="adj" fmla="val 5333"/>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731520" y="2468880"/>
            <a:ext cx="2743200" cy="274320"/>
          </a:xfrm>
          <a:prstGeom prst="rect">
            <a:avLst/>
          </a:prstGeom>
          <a:noFill/>
          <a:ln/>
        </p:spPr>
        <p:txBody>
          <a:bodyPr wrap="square" lIns="0" tIns="0" rIns="0" bIns="0" rtlCol="0" anchor="ctr"/>
          <a:lstStyle/>
          <a:p>
            <a:pPr marL="0" indent="0">
              <a:buNone/>
            </a:pPr>
            <a:r>
              <a:rPr lang="en-US" sz="1200" b="1" dirty="0">
                <a:solidFill>
                  <a:srgbClr val="FFFFFF"/>
                </a:solidFill>
                <a:latin typeface="Cambria" pitchFamily="34" charset="0"/>
                <a:ea typeface="Cambria" pitchFamily="34" charset="-122"/>
                <a:cs typeface="Cambria" pitchFamily="34" charset="-120"/>
              </a:rPr>
              <a:t>Why Teams Use This</a:t>
            </a:r>
            <a:endParaRPr lang="en-US" sz="1200" dirty="0"/>
          </a:p>
        </p:txBody>
      </p:sp>
      <p:sp>
        <p:nvSpPr>
          <p:cNvPr id="8" name="Text 6"/>
          <p:cNvSpPr/>
          <p:nvPr/>
        </p:nvSpPr>
        <p:spPr>
          <a:xfrm>
            <a:off x="731520" y="2788920"/>
            <a:ext cx="7680960" cy="914400"/>
          </a:xfrm>
          <a:prstGeom prst="rect">
            <a:avLst/>
          </a:prstGeom>
          <a:noFill/>
          <a:ln/>
        </p:spPr>
        <p:txBody>
          <a:bodyPr wrap="square" lIns="0" tIns="0" rIns="0" bIns="0" rtlCol="0" anchor="ctr"/>
          <a:lstStyle/>
          <a:p>
            <a:pPr marL="171450" indent="-171450">
              <a:lnSpc>
                <a:spcPct val="145000"/>
              </a:lnSpc>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Working from a borrowed computer or a machine without your tools</a:t>
            </a:r>
            <a:endParaRPr lang="en-US" sz="1100" dirty="0"/>
          </a:p>
          <a:p>
            <a:pPr marL="171450" indent="-171450">
              <a:lnSpc>
                <a:spcPct val="145000"/>
              </a:lnSpc>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Quick edits when you’re away from your main setup</a:t>
            </a:r>
            <a:endParaRPr lang="en-US" sz="1100" dirty="0"/>
          </a:p>
          <a:p>
            <a:pPr marL="171450" indent="-171450">
              <a:lnSpc>
                <a:spcPct val="145000"/>
              </a:lnSpc>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Reviewing a teammate’s branch in a real editor (better than GitHub’s diff view)</a:t>
            </a:r>
            <a:endParaRPr lang="en-US" sz="1100" dirty="0"/>
          </a:p>
          <a:p>
            <a:pPr marL="171450" indent="-171450">
              <a:lnSpc>
                <a:spcPct val="145000"/>
              </a:lnSpc>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Getting a new team member productive before they’ve set up locally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The Change Menu — Pick ONE</a:t>
            </a:r>
            <a:endParaRPr lang="en-US" sz="2200" dirty="0"/>
          </a:p>
        </p:txBody>
      </p:sp>
      <p:sp>
        <p:nvSpPr>
          <p:cNvPr id="3" name="Shape 1"/>
          <p:cNvSpPr/>
          <p:nvPr/>
        </p:nvSpPr>
        <p:spPr>
          <a:xfrm>
            <a:off x="548640" y="914400"/>
            <a:ext cx="8046720" cy="868680"/>
          </a:xfrm>
          <a:prstGeom prst="roundRect">
            <a:avLst>
              <a:gd name="adj" fmla="val 8421"/>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731520" y="960120"/>
            <a:ext cx="768096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  Text Swap</a:t>
            </a:r>
            <a:endParaRPr lang="en-US" sz="1400" dirty="0"/>
          </a:p>
        </p:txBody>
      </p:sp>
      <p:sp>
        <p:nvSpPr>
          <p:cNvPr id="5" name="Text 3"/>
          <p:cNvSpPr/>
          <p:nvPr/>
        </p:nvSpPr>
        <p:spPr>
          <a:xfrm>
            <a:off x="731520" y="1280160"/>
            <a:ext cx="768096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Use project-wide search to find the headline text. Change it to something new. Save.</a:t>
            </a:r>
            <a:endParaRPr lang="en-US" sz="1100" dirty="0"/>
          </a:p>
        </p:txBody>
      </p:sp>
      <p:sp>
        <p:nvSpPr>
          <p:cNvPr id="6" name="Shape 4"/>
          <p:cNvSpPr/>
          <p:nvPr/>
        </p:nvSpPr>
        <p:spPr>
          <a:xfrm>
            <a:off x="548640" y="1965960"/>
            <a:ext cx="8046720" cy="868680"/>
          </a:xfrm>
          <a:prstGeom prst="roundRect">
            <a:avLst>
              <a:gd name="adj" fmla="val 8421"/>
            </a:avLst>
          </a:prstGeom>
          <a:solidFill>
            <a:srgbClr val="E7C39A"/>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731520" y="2011680"/>
            <a:ext cx="7680960" cy="320040"/>
          </a:xfrm>
          <a:prstGeom prst="rect">
            <a:avLst/>
          </a:prstGeom>
          <a:noFill/>
          <a:ln/>
        </p:spPr>
        <p:txBody>
          <a:bodyPr wrap="square" lIns="0" tIns="0" rIns="0" bIns="0" rtlCol="0" anchor="ctr"/>
          <a:lstStyle/>
          <a:p>
            <a:pPr marL="0" indent="0">
              <a:buNone/>
            </a:pPr>
            <a:r>
              <a:rPr lang="en-US" sz="1400" b="1" dirty="0">
                <a:solidFill>
                  <a:srgbClr val="5C4033"/>
                </a:solidFill>
                <a:latin typeface="Cambria" pitchFamily="34" charset="0"/>
                <a:ea typeface="Cambria" pitchFamily="34" charset="-122"/>
                <a:cs typeface="Cambria" pitchFamily="34" charset="-120"/>
              </a:rPr>
              <a:t>★★  Add a Fourth Card</a:t>
            </a:r>
            <a:endParaRPr lang="en-US" sz="1400" dirty="0"/>
          </a:p>
        </p:txBody>
      </p:sp>
      <p:sp>
        <p:nvSpPr>
          <p:cNvPr id="8" name="Text 6"/>
          <p:cNvSpPr/>
          <p:nvPr/>
        </p:nvSpPr>
        <p:spPr>
          <a:xfrm>
            <a:off x="731520" y="2331720"/>
            <a:ext cx="7680960" cy="411480"/>
          </a:xfrm>
          <a:prstGeom prst="rect">
            <a:avLst/>
          </a:prstGeom>
          <a:noFill/>
          <a:ln/>
        </p:spPr>
        <p:txBody>
          <a:bodyPr wrap="square" lIns="0" tIns="0" rIns="0" bIns="0" rtlCol="0" anchor="ctr"/>
          <a:lstStyle/>
          <a:p>
            <a:pPr marL="0" indent="0">
              <a:buNone/>
            </a:pPr>
            <a:r>
              <a:rPr lang="en-US" sz="1100" dirty="0">
                <a:solidFill>
                  <a:srgbClr val="3D2B1F"/>
                </a:solidFill>
                <a:latin typeface="Calibri" pitchFamily="34" charset="0"/>
                <a:ea typeface="Calibri" pitchFamily="34" charset="-122"/>
                <a:cs typeface="Calibri" pitchFamily="34" charset="-120"/>
              </a:rPr>
              <a:t>Find a “Three Things” card in the code. Copy that entire code block, paste below, edit the text.</a:t>
            </a:r>
            <a:endParaRPr lang="en-US" sz="1100" dirty="0"/>
          </a:p>
        </p:txBody>
      </p:sp>
      <p:sp>
        <p:nvSpPr>
          <p:cNvPr id="9" name="Shape 7"/>
          <p:cNvSpPr/>
          <p:nvPr/>
        </p:nvSpPr>
        <p:spPr>
          <a:xfrm>
            <a:off x="548640" y="3017520"/>
            <a:ext cx="8046720" cy="868680"/>
          </a:xfrm>
          <a:prstGeom prst="roundRect">
            <a:avLst>
              <a:gd name="adj" fmla="val 8421"/>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731520" y="3063240"/>
            <a:ext cx="768096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  AI Color Change</a:t>
            </a:r>
            <a:endParaRPr lang="en-US" sz="1400" dirty="0"/>
          </a:p>
        </p:txBody>
      </p:sp>
      <p:sp>
        <p:nvSpPr>
          <p:cNvPr id="11" name="Text 9"/>
          <p:cNvSpPr/>
          <p:nvPr/>
        </p:nvSpPr>
        <p:spPr>
          <a:xfrm>
            <a:off x="731520" y="3383280"/>
            <a:ext cx="7680960" cy="41148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Find color hex values. Ask your AI assistant how to shift the palette. Save the exchange as prompts/edit-1.md.</a:t>
            </a:r>
            <a:endParaRPr lang="en-US" sz="1100" dirty="0"/>
          </a:p>
        </p:txBody>
      </p:sp>
      <p:sp>
        <p:nvSpPr>
          <p:cNvPr id="12" name="Shape 10"/>
          <p:cNvSpPr/>
          <p:nvPr/>
        </p:nvSpPr>
        <p:spPr>
          <a:xfrm>
            <a:off x="548640" y="416052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13" name="Text 11"/>
          <p:cNvSpPr/>
          <p:nvPr/>
        </p:nvSpPr>
        <p:spPr>
          <a:xfrm>
            <a:off x="685800" y="4160520"/>
            <a:ext cx="7772400"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Finishing one clean change matters more than attempting something ambitious. Option 3 teaches using AI as a reading aid for inherited code, which is an important skill to learn!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Steps 5–8: Ship Your Change</a:t>
            </a:r>
            <a:endParaRPr lang="en-US" sz="2200" dirty="0"/>
          </a:p>
        </p:txBody>
      </p:sp>
      <p:sp>
        <p:nvSpPr>
          <p:cNvPr id="3" name="Shape 1"/>
          <p:cNvSpPr/>
          <p:nvPr/>
        </p:nvSpPr>
        <p:spPr>
          <a:xfrm>
            <a:off x="548640" y="914400"/>
            <a:ext cx="1956816" cy="1188720"/>
          </a:xfrm>
          <a:prstGeom prst="roundRect">
            <a:avLst>
              <a:gd name="adj" fmla="val 6154"/>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640080"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Edit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Make your change in VS Code.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Save (Ctrl/Cmd+S).</a:t>
            </a:r>
            <a:endParaRPr lang="en-US" sz="1800" dirty="0"/>
          </a:p>
        </p:txBody>
      </p:sp>
      <p:sp>
        <p:nvSpPr>
          <p:cNvPr id="5" name="Shape 3"/>
          <p:cNvSpPr/>
          <p:nvPr/>
        </p:nvSpPr>
        <p:spPr>
          <a:xfrm>
            <a:off x="2578608" y="914400"/>
            <a:ext cx="1956816" cy="1188720"/>
          </a:xfrm>
          <a:prstGeom prst="roundRect">
            <a:avLst>
              <a:gd name="adj" fmla="val 6154"/>
            </a:avLst>
          </a:prstGeom>
          <a:solidFill>
            <a:srgbClr val="E7C39A"/>
          </a:solidFill>
          <a:ln/>
          <a:effectLst>
            <a:outerShdw blurRad="63500" dist="25400" dir="2700000" algn="bl" rotWithShape="0">
              <a:srgbClr val="000000">
                <a:alpha val="12000"/>
              </a:srgbClr>
            </a:outerShdw>
          </a:effectLst>
        </p:spPr>
        <p:txBody>
          <a:bodyPr/>
          <a:lstStyle/>
          <a:p>
            <a:endParaRPr lang="en-US"/>
          </a:p>
        </p:txBody>
      </p:sp>
      <p:sp>
        <p:nvSpPr>
          <p:cNvPr id="6" name="Text 4"/>
          <p:cNvSpPr/>
          <p:nvPr/>
        </p:nvSpPr>
        <p:spPr>
          <a:xfrm>
            <a:off x="2670048"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Commit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GitHub Desktop:</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write a message with context.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E.g., “Change headline —</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hand-edited”</a:t>
            </a:r>
            <a:endParaRPr lang="en-US" sz="1800" dirty="0"/>
          </a:p>
        </p:txBody>
      </p:sp>
      <p:sp>
        <p:nvSpPr>
          <p:cNvPr id="7" name="Shape 5"/>
          <p:cNvSpPr/>
          <p:nvPr/>
        </p:nvSpPr>
        <p:spPr>
          <a:xfrm>
            <a:off x="4608576" y="914400"/>
            <a:ext cx="1956816" cy="1188720"/>
          </a:xfrm>
          <a:prstGeom prst="roundRect">
            <a:avLst>
              <a:gd name="adj" fmla="val 6154"/>
            </a:avLst>
          </a:prstGeom>
          <a:solidFill>
            <a:srgbClr val="5C4033"/>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4700016"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Push</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Click “Publish branch”</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to push your branch</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to GitHub.</a:t>
            </a:r>
            <a:endParaRPr lang="en-US" sz="1800" dirty="0"/>
          </a:p>
        </p:txBody>
      </p:sp>
      <p:sp>
        <p:nvSpPr>
          <p:cNvPr id="9" name="Shape 7"/>
          <p:cNvSpPr/>
          <p:nvPr/>
        </p:nvSpPr>
        <p:spPr>
          <a:xfrm>
            <a:off x="6638544" y="914400"/>
            <a:ext cx="1956816" cy="1188720"/>
          </a:xfrm>
          <a:prstGeom prst="roundRect">
            <a:avLst>
              <a:gd name="adj" fmla="val 6154"/>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6729984" y="969264"/>
            <a:ext cx="1773936" cy="107899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Open PR</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GitHub.com → yellow banner →</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“Compare &amp; pull request.”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Title + description.</a:t>
            </a:r>
            <a:endParaRPr lang="en-US" sz="1800" dirty="0"/>
          </a:p>
        </p:txBody>
      </p:sp>
      <p:sp>
        <p:nvSpPr>
          <p:cNvPr id="11" name="Shape 9"/>
          <p:cNvSpPr/>
          <p:nvPr/>
        </p:nvSpPr>
        <p:spPr>
          <a:xfrm>
            <a:off x="548640" y="2377440"/>
            <a:ext cx="8046720" cy="457200"/>
          </a:xfrm>
          <a:prstGeom prst="roundRect">
            <a:avLst>
              <a:gd name="adj" fmla="val 12000"/>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2" name="Text 10"/>
          <p:cNvSpPr/>
          <p:nvPr/>
        </p:nvSpPr>
        <p:spPr>
          <a:xfrm>
            <a:off x="685800" y="2377440"/>
            <a:ext cx="7772400" cy="457200"/>
          </a:xfrm>
          <a:prstGeom prst="rect">
            <a:avLst/>
          </a:prstGeom>
          <a:noFill/>
          <a:ln/>
        </p:spPr>
        <p:txBody>
          <a:bodyPr wrap="square" lIns="0" tIns="101600" rIns="10160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Thumbs up when you see the yellow “Compare &amp; pull request” banner on GitHub.com.</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Opening a Pull Request</a:t>
            </a:r>
            <a:endParaRPr lang="en-US" sz="22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The skill Workshop 1 described but never showed you</a:t>
            </a:r>
            <a:endParaRPr lang="en-US" sz="1100" dirty="0"/>
          </a:p>
        </p:txBody>
      </p:sp>
      <p:sp>
        <p:nvSpPr>
          <p:cNvPr id="5" name="Text 3"/>
          <p:cNvSpPr/>
          <p:nvPr/>
        </p:nvSpPr>
        <p:spPr>
          <a:xfrm>
            <a:off x="731520" y="1463040"/>
            <a:ext cx="320040" cy="36576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97280" y="1463040"/>
            <a:ext cx="7315200" cy="36576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You’ll see a yellow banner on GitHub.com. Click “Compare &amp; pull request.”</a:t>
            </a:r>
            <a:endParaRPr lang="en-US" sz="1200" dirty="0"/>
          </a:p>
        </p:txBody>
      </p:sp>
      <p:sp>
        <p:nvSpPr>
          <p:cNvPr id="7" name="Text 5"/>
          <p:cNvSpPr/>
          <p:nvPr/>
        </p:nvSpPr>
        <p:spPr>
          <a:xfrm>
            <a:off x="731520" y="1920240"/>
            <a:ext cx="320040" cy="36576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2.</a:t>
            </a:r>
            <a:endParaRPr lang="en-US" sz="1200" dirty="0"/>
          </a:p>
        </p:txBody>
      </p:sp>
      <p:sp>
        <p:nvSpPr>
          <p:cNvPr id="8" name="Text 6"/>
          <p:cNvSpPr/>
          <p:nvPr/>
        </p:nvSpPr>
        <p:spPr>
          <a:xfrm>
            <a:off x="1097280" y="1920240"/>
            <a:ext cx="7315200" cy="36576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Title: clear, short description. Example: “Add fourth card to Three Things section.”</a:t>
            </a:r>
            <a:endParaRPr lang="en-US" sz="1200" dirty="0"/>
          </a:p>
        </p:txBody>
      </p:sp>
      <p:sp>
        <p:nvSpPr>
          <p:cNvPr id="9" name="Text 7"/>
          <p:cNvSpPr/>
          <p:nvPr/>
        </p:nvSpPr>
        <p:spPr>
          <a:xfrm>
            <a:off x="731520" y="2377440"/>
            <a:ext cx="320040" cy="36576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3.</a:t>
            </a:r>
            <a:endParaRPr lang="en-US" sz="1200" dirty="0"/>
          </a:p>
        </p:txBody>
      </p:sp>
      <p:sp>
        <p:nvSpPr>
          <p:cNvPr id="10" name="Text 8"/>
          <p:cNvSpPr/>
          <p:nvPr/>
        </p:nvSpPr>
        <p:spPr>
          <a:xfrm>
            <a:off x="1097280" y="2377440"/>
            <a:ext cx="7315200" cy="36576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Description: one sentence — what you changed and why. Mention if AI-assisted.</a:t>
            </a:r>
            <a:endParaRPr lang="en-US" sz="1200" dirty="0"/>
          </a:p>
        </p:txBody>
      </p:sp>
      <p:sp>
        <p:nvSpPr>
          <p:cNvPr id="11" name="Text 9"/>
          <p:cNvSpPr/>
          <p:nvPr/>
        </p:nvSpPr>
        <p:spPr>
          <a:xfrm>
            <a:off x="731520" y="2834640"/>
            <a:ext cx="320040" cy="36576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4.</a:t>
            </a:r>
            <a:endParaRPr lang="en-US" sz="1200" dirty="0"/>
          </a:p>
        </p:txBody>
      </p:sp>
      <p:sp>
        <p:nvSpPr>
          <p:cNvPr id="12" name="Text 10"/>
          <p:cNvSpPr/>
          <p:nvPr/>
        </p:nvSpPr>
        <p:spPr>
          <a:xfrm>
            <a:off x="1097280" y="2834640"/>
            <a:ext cx="7315200" cy="36576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Check the arrow: feature/&lt;yourname&gt;-edit → main (your branch INTO main).</a:t>
            </a:r>
            <a:endParaRPr lang="en-US" sz="1200" dirty="0"/>
          </a:p>
        </p:txBody>
      </p:sp>
      <p:sp>
        <p:nvSpPr>
          <p:cNvPr id="13" name="Text 11"/>
          <p:cNvSpPr/>
          <p:nvPr/>
        </p:nvSpPr>
        <p:spPr>
          <a:xfrm>
            <a:off x="731520" y="3291840"/>
            <a:ext cx="320040" cy="36576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5.</a:t>
            </a:r>
            <a:endParaRPr lang="en-US" sz="1200" dirty="0"/>
          </a:p>
        </p:txBody>
      </p:sp>
      <p:sp>
        <p:nvSpPr>
          <p:cNvPr id="14" name="Text 12"/>
          <p:cNvSpPr/>
          <p:nvPr/>
        </p:nvSpPr>
        <p:spPr>
          <a:xfrm>
            <a:off x="1097280" y="3291840"/>
            <a:ext cx="7315200" cy="36576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Click “Create pull request.”</a:t>
            </a:r>
            <a:endParaRPr lang="en-US" sz="1200" dirty="0"/>
          </a:p>
        </p:txBody>
      </p:sp>
      <p:sp>
        <p:nvSpPr>
          <p:cNvPr id="15" name="Shape 13"/>
          <p:cNvSpPr/>
          <p:nvPr/>
        </p:nvSpPr>
        <p:spPr>
          <a:xfrm>
            <a:off x="548640" y="393192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16" name="Text 14"/>
          <p:cNvSpPr/>
          <p:nvPr/>
        </p:nvSpPr>
        <p:spPr>
          <a:xfrm>
            <a:off x="685800" y="3931920"/>
            <a:ext cx="7772400"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A Pull Request says: “Here’s what I’d like to change — look before it goes live.” It’s a proposal, not a command. This is how professional teams work.</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5042"/>
          </a:solidFill>
          <a:ln/>
        </p:spPr>
        <p:txBody>
          <a:bodyPr/>
          <a:lstStyle/>
          <a:p>
            <a:endParaRPr lang="en-US"/>
          </a:p>
        </p:txBody>
      </p:sp>
      <p:sp>
        <p:nvSpPr>
          <p:cNvPr id="3" name="Text 1"/>
          <p:cNvSpPr/>
          <p:nvPr/>
        </p:nvSpPr>
        <p:spPr>
          <a:xfrm>
            <a:off x="548640" y="1097280"/>
            <a:ext cx="8046720" cy="365760"/>
          </a:xfrm>
          <a:prstGeom prst="rect">
            <a:avLst/>
          </a:prstGeom>
          <a:noFill/>
          <a:ln/>
        </p:spPr>
        <p:txBody>
          <a:bodyPr wrap="square" lIns="0" tIns="0" rIns="0" bIns="0" rtlCol="0" anchor="ctr"/>
          <a:lstStyle/>
          <a:p>
            <a:pPr marL="0" indent="0">
              <a:buNone/>
            </a:pPr>
            <a:r>
              <a:rPr lang="en-US" sz="1300" b="1" kern="0" spc="300" dirty="0">
                <a:solidFill>
                  <a:srgbClr val="B85042"/>
                </a:solidFill>
                <a:latin typeface="Calibri" pitchFamily="34" charset="0"/>
                <a:ea typeface="Calibri" pitchFamily="34" charset="-122"/>
                <a:cs typeface="Calibri" pitchFamily="34" charset="-120"/>
              </a:rPr>
              <a:t>PART 5</a:t>
            </a:r>
            <a:endParaRPr lang="en-US" sz="1300" dirty="0"/>
          </a:p>
        </p:txBody>
      </p:sp>
      <p:sp>
        <p:nvSpPr>
          <p:cNvPr id="4" name="Text 2"/>
          <p:cNvSpPr/>
          <p:nvPr/>
        </p:nvSpPr>
        <p:spPr>
          <a:xfrm>
            <a:off x="548640" y="1463040"/>
            <a:ext cx="8046720" cy="640080"/>
          </a:xfrm>
          <a:prstGeom prst="rect">
            <a:avLst/>
          </a:prstGeom>
          <a:noFill/>
          <a:ln/>
        </p:spPr>
        <p:txBody>
          <a:bodyPr wrap="square" lIns="0" tIns="0" rIns="0" bIns="0" rtlCol="0" anchor="ctr"/>
          <a:lstStyle/>
          <a:p>
            <a:pPr marL="0" indent="0">
              <a:buNone/>
            </a:pPr>
            <a:r>
              <a:rPr lang="en-US" sz="3000" b="1" dirty="0">
                <a:solidFill>
                  <a:srgbClr val="3D2B1F"/>
                </a:solidFill>
                <a:latin typeface="Cambria" pitchFamily="34" charset="0"/>
                <a:ea typeface="Cambria" pitchFamily="34" charset="-122"/>
                <a:cs typeface="Cambria" pitchFamily="34" charset="-120"/>
              </a:rPr>
              <a:t>Close the Loop</a:t>
            </a:r>
            <a:endParaRPr lang="en-US" sz="3000" dirty="0"/>
          </a:p>
        </p:txBody>
      </p:sp>
      <p:sp>
        <p:nvSpPr>
          <p:cNvPr id="5" name="Text 3"/>
          <p:cNvSpPr/>
          <p:nvPr/>
        </p:nvSpPr>
        <p:spPr>
          <a:xfrm>
            <a:off x="548640" y="2103120"/>
            <a:ext cx="8046720" cy="411480"/>
          </a:xfrm>
          <a:prstGeom prst="rect">
            <a:avLst/>
          </a:prstGeom>
          <a:noFill/>
          <a:ln/>
        </p:spPr>
        <p:txBody>
          <a:bodyPr wrap="square" lIns="0" tIns="0" rIns="0" bIns="0" rtlCol="0" anchor="ctr"/>
          <a:lstStyle/>
          <a:p>
            <a:pPr marL="0" indent="0">
              <a:buNone/>
            </a:pPr>
            <a:r>
              <a:rPr lang="en-US" sz="1400" dirty="0">
                <a:solidFill>
                  <a:srgbClr val="8B7355"/>
                </a:solidFill>
                <a:latin typeface="Calibri" pitchFamily="34" charset="0"/>
                <a:ea typeface="Calibri" pitchFamily="34" charset="-122"/>
                <a:cs typeface="Calibri" pitchFamily="34" charset="-120"/>
              </a:rPr>
              <a:t>Review, Merge, and Sync Back</a:t>
            </a:r>
            <a:endParaRPr lang="en-US" sz="1400" dirty="0"/>
          </a:p>
        </p:txBody>
      </p:sp>
      <p:sp>
        <p:nvSpPr>
          <p:cNvPr id="6" name="Text 4"/>
          <p:cNvSpPr/>
          <p:nvPr/>
        </p:nvSpPr>
        <p:spPr>
          <a:xfrm>
            <a:off x="548640" y="260604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~12 minutes</a:t>
            </a:r>
            <a:endParaRPr lang="en-US" sz="1100" dirty="0"/>
          </a:p>
        </p:txBody>
      </p:sp>
      <p:sp>
        <p:nvSpPr>
          <p:cNvPr id="7" name="Shape 5"/>
          <p:cNvSpPr/>
          <p:nvPr/>
        </p:nvSpPr>
        <p:spPr>
          <a:xfrm>
            <a:off x="548640" y="3200400"/>
            <a:ext cx="8046720" cy="457200"/>
          </a:xfrm>
          <a:prstGeom prst="roundRect">
            <a:avLst>
              <a:gd name="adj" fmla="val 12000"/>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685800" y="3200400"/>
            <a:ext cx="7772400" cy="45720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Switch back to YOUR repo — you’ve got a Pull Request waiting from your partner.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Reviewing a Pull Request</a:t>
            </a:r>
            <a:endParaRPr lang="en-US" sz="22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The second new skill from today</a:t>
            </a:r>
            <a:endParaRPr lang="en-US" sz="1100" dirty="0"/>
          </a:p>
        </p:txBody>
      </p:sp>
      <p:sp>
        <p:nvSpPr>
          <p:cNvPr id="5" name="Text 3"/>
          <p:cNvSpPr/>
          <p:nvPr/>
        </p:nvSpPr>
        <p:spPr>
          <a:xfrm>
            <a:off x="731520" y="1417320"/>
            <a:ext cx="320040" cy="384048"/>
          </a:xfrm>
          <a:prstGeom prst="rect">
            <a:avLst/>
          </a:prstGeom>
          <a:noFill/>
          <a:ln/>
        </p:spPr>
        <p:txBody>
          <a:bodyPr wrap="square" lIns="0" tIns="0" rIns="0" bIns="0" rtlCol="0" anchor="ctr"/>
          <a:lstStyle/>
          <a:p>
            <a:pPr marL="0" indent="0">
              <a:buNone/>
            </a:pPr>
            <a:r>
              <a:rPr lang="en-US" sz="1200" b="1" dirty="0">
                <a:solidFill>
                  <a:srgbClr val="A7BEAE"/>
                </a:solidFill>
                <a:latin typeface="Calibri" pitchFamily="34" charset="0"/>
                <a:ea typeface="Calibri" pitchFamily="34" charset="-122"/>
                <a:cs typeface="Calibri" pitchFamily="34" charset="-120"/>
              </a:rPr>
              <a:t>1.</a:t>
            </a:r>
            <a:endParaRPr lang="en-US" sz="1200" dirty="0"/>
          </a:p>
        </p:txBody>
      </p:sp>
      <p:sp>
        <p:nvSpPr>
          <p:cNvPr id="6" name="Text 4"/>
          <p:cNvSpPr/>
          <p:nvPr/>
        </p:nvSpPr>
        <p:spPr>
          <a:xfrm>
            <a:off x="1097280" y="1510310"/>
            <a:ext cx="7315200" cy="384048"/>
          </a:xfrm>
          <a:prstGeom prst="rect">
            <a:avLst/>
          </a:prstGeom>
          <a:noFill/>
          <a:ln/>
        </p:spPr>
        <p:txBody>
          <a:bodyPr wrap="square" lIns="0" tIns="0" rIns="0" bIns="0" rtlCol="0" anchor="t"/>
          <a:lstStyle/>
          <a:p>
            <a:pPr marL="0" indent="0">
              <a:buNone/>
            </a:pPr>
            <a:r>
              <a:rPr lang="en-US" sz="1150" dirty="0">
                <a:solidFill>
                  <a:srgbClr val="3D2B1F"/>
                </a:solidFill>
                <a:latin typeface="Calibri" pitchFamily="34" charset="0"/>
                <a:ea typeface="Calibri" pitchFamily="34" charset="-122"/>
                <a:cs typeface="Calibri" pitchFamily="34" charset="-120"/>
              </a:rPr>
              <a:t>Open YOUR repo on GitHub.com. You should see your partner’s PR.</a:t>
            </a:r>
            <a:endParaRPr lang="en-US" sz="1150" dirty="0"/>
          </a:p>
        </p:txBody>
      </p:sp>
      <p:sp>
        <p:nvSpPr>
          <p:cNvPr id="7" name="Text 5"/>
          <p:cNvSpPr/>
          <p:nvPr/>
        </p:nvSpPr>
        <p:spPr>
          <a:xfrm>
            <a:off x="731520" y="1874520"/>
            <a:ext cx="320040" cy="384048"/>
          </a:xfrm>
          <a:prstGeom prst="rect">
            <a:avLst/>
          </a:prstGeom>
          <a:noFill/>
          <a:ln/>
        </p:spPr>
        <p:txBody>
          <a:bodyPr wrap="square" lIns="0" tIns="0" rIns="0" bIns="0" rtlCol="0" anchor="ctr"/>
          <a:lstStyle/>
          <a:p>
            <a:pPr marL="0" indent="0">
              <a:buNone/>
            </a:pPr>
            <a:r>
              <a:rPr lang="en-US" sz="1200" b="1" dirty="0">
                <a:solidFill>
                  <a:srgbClr val="A7BEAE"/>
                </a:solidFill>
                <a:latin typeface="Calibri" pitchFamily="34" charset="0"/>
                <a:ea typeface="Calibri" pitchFamily="34" charset="-122"/>
                <a:cs typeface="Calibri" pitchFamily="34" charset="-120"/>
              </a:rPr>
              <a:t>2.</a:t>
            </a:r>
            <a:endParaRPr lang="en-US" sz="1200" dirty="0"/>
          </a:p>
        </p:txBody>
      </p:sp>
      <p:sp>
        <p:nvSpPr>
          <p:cNvPr id="8" name="Text 6"/>
          <p:cNvSpPr/>
          <p:nvPr/>
        </p:nvSpPr>
        <p:spPr>
          <a:xfrm>
            <a:off x="1097280" y="1967510"/>
            <a:ext cx="7315200" cy="384048"/>
          </a:xfrm>
          <a:prstGeom prst="rect">
            <a:avLst/>
          </a:prstGeom>
          <a:noFill/>
          <a:ln/>
        </p:spPr>
        <p:txBody>
          <a:bodyPr wrap="square" lIns="0" tIns="0" rIns="0" bIns="0" rtlCol="0" anchor="t"/>
          <a:lstStyle/>
          <a:p>
            <a:pPr marL="0" indent="0">
              <a:buNone/>
            </a:pPr>
            <a:r>
              <a:rPr lang="en-US" sz="1150" dirty="0">
                <a:solidFill>
                  <a:srgbClr val="3D2B1F"/>
                </a:solidFill>
                <a:latin typeface="Calibri" pitchFamily="34" charset="0"/>
                <a:ea typeface="Calibri" pitchFamily="34" charset="-122"/>
                <a:cs typeface="Calibri" pitchFamily="34" charset="-120"/>
              </a:rPr>
              <a:t>Click the “Files changed” tab.</a:t>
            </a:r>
            <a:endParaRPr lang="en-US" sz="1150" dirty="0"/>
          </a:p>
        </p:txBody>
      </p:sp>
      <p:sp>
        <p:nvSpPr>
          <p:cNvPr id="9" name="Text 7"/>
          <p:cNvSpPr/>
          <p:nvPr/>
        </p:nvSpPr>
        <p:spPr>
          <a:xfrm>
            <a:off x="731520" y="2331720"/>
            <a:ext cx="320040" cy="384048"/>
          </a:xfrm>
          <a:prstGeom prst="rect">
            <a:avLst/>
          </a:prstGeom>
          <a:noFill/>
          <a:ln/>
        </p:spPr>
        <p:txBody>
          <a:bodyPr wrap="square" lIns="0" tIns="0" rIns="0" bIns="0" rtlCol="0" anchor="ctr"/>
          <a:lstStyle/>
          <a:p>
            <a:pPr marL="0" indent="0">
              <a:buNone/>
            </a:pPr>
            <a:r>
              <a:rPr lang="en-US" sz="1200" b="1" dirty="0">
                <a:solidFill>
                  <a:srgbClr val="A7BEAE"/>
                </a:solidFill>
                <a:latin typeface="Calibri" pitchFamily="34" charset="0"/>
                <a:ea typeface="Calibri" pitchFamily="34" charset="-122"/>
                <a:cs typeface="Calibri" pitchFamily="34" charset="-120"/>
              </a:rPr>
              <a:t>3.</a:t>
            </a:r>
            <a:endParaRPr lang="en-US" sz="1200" dirty="0"/>
          </a:p>
        </p:txBody>
      </p:sp>
      <p:sp>
        <p:nvSpPr>
          <p:cNvPr id="10" name="Text 8"/>
          <p:cNvSpPr/>
          <p:nvPr/>
        </p:nvSpPr>
        <p:spPr>
          <a:xfrm>
            <a:off x="1097280" y="2424710"/>
            <a:ext cx="7315200" cy="384048"/>
          </a:xfrm>
          <a:prstGeom prst="rect">
            <a:avLst/>
          </a:prstGeom>
          <a:noFill/>
          <a:ln/>
        </p:spPr>
        <p:txBody>
          <a:bodyPr wrap="square" lIns="0" tIns="0" rIns="0" bIns="0" rtlCol="0" anchor="t"/>
          <a:lstStyle/>
          <a:p>
            <a:pPr marL="0" indent="0">
              <a:buNone/>
            </a:pPr>
            <a:r>
              <a:rPr lang="en-US" sz="1150" dirty="0">
                <a:solidFill>
                  <a:srgbClr val="3D2B1F"/>
                </a:solidFill>
                <a:latin typeface="Calibri" pitchFamily="34" charset="0"/>
                <a:ea typeface="Calibri" pitchFamily="34" charset="-122"/>
                <a:cs typeface="Calibri" pitchFamily="34" charset="-120"/>
              </a:rPr>
              <a:t>Green lines = added. Red lines = removed. This is the diff — the exact picture of what changes.</a:t>
            </a:r>
            <a:endParaRPr lang="en-US" sz="1150" dirty="0"/>
          </a:p>
        </p:txBody>
      </p:sp>
      <p:sp>
        <p:nvSpPr>
          <p:cNvPr id="11" name="Text 9"/>
          <p:cNvSpPr/>
          <p:nvPr/>
        </p:nvSpPr>
        <p:spPr>
          <a:xfrm>
            <a:off x="731520" y="2788920"/>
            <a:ext cx="320040" cy="384048"/>
          </a:xfrm>
          <a:prstGeom prst="rect">
            <a:avLst/>
          </a:prstGeom>
          <a:noFill/>
          <a:ln/>
        </p:spPr>
        <p:txBody>
          <a:bodyPr wrap="square" lIns="0" tIns="0" rIns="0" bIns="0" rtlCol="0" anchor="ctr"/>
          <a:lstStyle/>
          <a:p>
            <a:pPr marL="0" indent="0">
              <a:buNone/>
            </a:pPr>
            <a:r>
              <a:rPr lang="en-US" sz="1200" b="1" dirty="0">
                <a:solidFill>
                  <a:srgbClr val="A7BEAE"/>
                </a:solidFill>
                <a:latin typeface="Calibri" pitchFamily="34" charset="0"/>
                <a:ea typeface="Calibri" pitchFamily="34" charset="-122"/>
                <a:cs typeface="Calibri" pitchFamily="34" charset="-120"/>
              </a:rPr>
              <a:t>4.</a:t>
            </a:r>
            <a:endParaRPr lang="en-US" sz="1200" dirty="0"/>
          </a:p>
        </p:txBody>
      </p:sp>
      <p:sp>
        <p:nvSpPr>
          <p:cNvPr id="12" name="Text 10"/>
          <p:cNvSpPr/>
          <p:nvPr/>
        </p:nvSpPr>
        <p:spPr>
          <a:xfrm>
            <a:off x="1097280" y="2881910"/>
            <a:ext cx="7315200" cy="384048"/>
          </a:xfrm>
          <a:prstGeom prst="rect">
            <a:avLst/>
          </a:prstGeom>
          <a:noFill/>
          <a:ln/>
        </p:spPr>
        <p:txBody>
          <a:bodyPr wrap="square" lIns="0" tIns="0" rIns="0" bIns="0" rtlCol="0" anchor="t"/>
          <a:lstStyle/>
          <a:p>
            <a:pPr marL="0" indent="0">
              <a:buNone/>
            </a:pPr>
            <a:r>
              <a:rPr lang="en-US" sz="1150" dirty="0">
                <a:solidFill>
                  <a:srgbClr val="3D2B1F"/>
                </a:solidFill>
                <a:latin typeface="Calibri" pitchFamily="34" charset="0"/>
                <a:ea typeface="Calibri" pitchFamily="34" charset="-122"/>
                <a:cs typeface="Calibri" pitchFamily="34" charset="-120"/>
              </a:rPr>
              <a:t>Click any line number to leave a comment. Even “Looks good!” counts.</a:t>
            </a:r>
            <a:endParaRPr lang="en-US" sz="1150" dirty="0"/>
          </a:p>
        </p:txBody>
      </p:sp>
      <p:sp>
        <p:nvSpPr>
          <p:cNvPr id="13" name="Text 11"/>
          <p:cNvSpPr/>
          <p:nvPr/>
        </p:nvSpPr>
        <p:spPr>
          <a:xfrm>
            <a:off x="731520" y="3246120"/>
            <a:ext cx="320040" cy="384048"/>
          </a:xfrm>
          <a:prstGeom prst="rect">
            <a:avLst/>
          </a:prstGeom>
          <a:noFill/>
          <a:ln/>
        </p:spPr>
        <p:txBody>
          <a:bodyPr wrap="square" lIns="0" tIns="0" rIns="0" bIns="0" rtlCol="0" anchor="ctr"/>
          <a:lstStyle/>
          <a:p>
            <a:pPr marL="0" indent="0">
              <a:buNone/>
            </a:pPr>
            <a:r>
              <a:rPr lang="en-US" sz="1200" b="1" dirty="0">
                <a:solidFill>
                  <a:srgbClr val="A7BEAE"/>
                </a:solidFill>
                <a:latin typeface="Calibri" pitchFamily="34" charset="0"/>
                <a:ea typeface="Calibri" pitchFamily="34" charset="-122"/>
                <a:cs typeface="Calibri" pitchFamily="34" charset="-120"/>
              </a:rPr>
              <a:t>5.</a:t>
            </a:r>
            <a:endParaRPr lang="en-US" sz="1200" dirty="0"/>
          </a:p>
        </p:txBody>
      </p:sp>
      <p:sp>
        <p:nvSpPr>
          <p:cNvPr id="14" name="Text 12"/>
          <p:cNvSpPr/>
          <p:nvPr/>
        </p:nvSpPr>
        <p:spPr>
          <a:xfrm>
            <a:off x="1097280" y="3339110"/>
            <a:ext cx="7315200" cy="384048"/>
          </a:xfrm>
          <a:prstGeom prst="rect">
            <a:avLst/>
          </a:prstGeom>
          <a:noFill/>
          <a:ln/>
        </p:spPr>
        <p:txBody>
          <a:bodyPr wrap="square" lIns="0" tIns="0" rIns="0" bIns="0" rtlCol="0" anchor="t"/>
          <a:lstStyle/>
          <a:p>
            <a:pPr marL="0" indent="0">
              <a:buNone/>
            </a:pPr>
            <a:r>
              <a:rPr lang="en-US" sz="1150" dirty="0">
                <a:solidFill>
                  <a:srgbClr val="3D2B1F"/>
                </a:solidFill>
                <a:latin typeface="Calibri" pitchFamily="34" charset="0"/>
                <a:ea typeface="Calibri" pitchFamily="34" charset="-122"/>
                <a:cs typeface="Calibri" pitchFamily="34" charset="-120"/>
              </a:rPr>
              <a:t>Back on “Conversation” tab → “Merge pull request” → Confirm → “Delete branch.”</a:t>
            </a:r>
            <a:endParaRPr lang="en-US" sz="1150" dirty="0"/>
          </a:p>
        </p:txBody>
      </p:sp>
      <p:sp>
        <p:nvSpPr>
          <p:cNvPr id="15" name="Shape 13"/>
          <p:cNvSpPr/>
          <p:nvPr/>
        </p:nvSpPr>
        <p:spPr>
          <a:xfrm>
            <a:off x="548640" y="3931920"/>
            <a:ext cx="8046720" cy="502920"/>
          </a:xfrm>
          <a:prstGeom prst="roundRect">
            <a:avLst>
              <a:gd name="adj" fmla="val 10909"/>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16" name="Text 14"/>
          <p:cNvSpPr/>
          <p:nvPr/>
        </p:nvSpPr>
        <p:spPr>
          <a:xfrm>
            <a:off x="685800" y="3931920"/>
            <a:ext cx="7772400" cy="502920"/>
          </a:xfrm>
          <a:prstGeom prst="rect">
            <a:avLst/>
          </a:prstGeom>
          <a:noFill/>
          <a:ln/>
        </p:spPr>
        <p:txBody>
          <a:bodyPr wrap="square" lIns="0" tIns="101600" rIns="10160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The “Files changed” view is the genius of the whole system. You see exactly what changes before they become official. No surprises, no overwritten work.</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Merge &amp; Watch the Sync</a:t>
            </a:r>
            <a:endParaRPr lang="en-US" sz="2200" dirty="0"/>
          </a:p>
        </p:txBody>
      </p:sp>
      <p:sp>
        <p:nvSpPr>
          <p:cNvPr id="3" name="Shape 1"/>
          <p:cNvSpPr/>
          <p:nvPr/>
        </p:nvSpPr>
        <p:spPr>
          <a:xfrm>
            <a:off x="548640" y="914400"/>
            <a:ext cx="3749040" cy="2011680"/>
          </a:xfrm>
          <a:prstGeom prst="roundRect">
            <a:avLst>
              <a:gd name="adj" fmla="val 3636"/>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731520" y="1005840"/>
            <a:ext cx="3383280" cy="274320"/>
          </a:xfrm>
          <a:prstGeom prst="rect">
            <a:avLst/>
          </a:prstGeom>
          <a:noFill/>
          <a:ln/>
        </p:spPr>
        <p:txBody>
          <a:bodyPr wrap="square" lIns="0" tIns="0" rIns="0" bIns="0" rtlCol="0" anchor="ctr"/>
          <a:lstStyle/>
          <a:p>
            <a:pPr marL="0" indent="0">
              <a:buNone/>
            </a:pPr>
            <a:r>
              <a:rPr lang="en-US" sz="1300" b="1" dirty="0">
                <a:solidFill>
                  <a:srgbClr val="3D2B1F"/>
                </a:solidFill>
                <a:latin typeface="Cambria" pitchFamily="34" charset="0"/>
                <a:ea typeface="Cambria" pitchFamily="34" charset="-122"/>
                <a:cs typeface="Cambria" pitchFamily="34" charset="-120"/>
              </a:rPr>
              <a:t>After Merging</a:t>
            </a:r>
            <a:endParaRPr lang="en-US" sz="1300" dirty="0"/>
          </a:p>
        </p:txBody>
      </p:sp>
      <p:sp>
        <p:nvSpPr>
          <p:cNvPr id="5" name="Text 3"/>
          <p:cNvSpPr/>
          <p:nvPr/>
        </p:nvSpPr>
        <p:spPr>
          <a:xfrm>
            <a:off x="731520" y="1371600"/>
            <a:ext cx="3383280" cy="1371600"/>
          </a:xfrm>
          <a:prstGeom prst="rect">
            <a:avLst/>
          </a:prstGeom>
          <a:noFill/>
          <a:ln/>
        </p:spPr>
        <p:txBody>
          <a:bodyPr wrap="square" lIns="0" tIns="0" rIns="0" bIns="0" rtlCol="0" anchor="ctr"/>
          <a:lstStyle/>
          <a:p>
            <a:pPr marL="0" indent="0">
              <a:lnSpc>
                <a:spcPct val="160000"/>
              </a:lnSpc>
              <a:buNone/>
            </a:pPr>
            <a:r>
              <a:rPr lang="en-US" sz="1150" dirty="0">
                <a:solidFill>
                  <a:srgbClr val="5C4033"/>
                </a:solidFill>
                <a:latin typeface="Calibri" pitchFamily="34" charset="0"/>
                <a:ea typeface="Calibri" pitchFamily="34" charset="-122"/>
                <a:cs typeface="Calibri" pitchFamily="34" charset="-120"/>
              </a:rPr>
              <a:t>1. The branch is deleted — repo is clean</a:t>
            </a:r>
            <a:endParaRPr lang="en-US" sz="1150" dirty="0"/>
          </a:p>
          <a:p>
            <a:pPr marL="0" indent="0">
              <a:lnSpc>
                <a:spcPct val="160000"/>
              </a:lnSpc>
              <a:buNone/>
            </a:pPr>
            <a:r>
              <a:rPr lang="en-US" sz="1150" dirty="0">
                <a:solidFill>
                  <a:srgbClr val="5C4033"/>
                </a:solidFill>
                <a:latin typeface="Calibri" pitchFamily="34" charset="0"/>
                <a:ea typeface="Calibri" pitchFamily="34" charset="-122"/>
                <a:cs typeface="Calibri" pitchFamily="34" charset="-120"/>
              </a:rPr>
              <a:t>2. Main now contains your partner’s change</a:t>
            </a:r>
            <a:endParaRPr lang="en-US" sz="1150" dirty="0"/>
          </a:p>
          <a:p>
            <a:pPr marL="0" indent="0">
              <a:lnSpc>
                <a:spcPct val="160000"/>
              </a:lnSpc>
              <a:buNone/>
            </a:pPr>
            <a:r>
              <a:rPr lang="en-US" sz="1150" b="1" dirty="0">
                <a:solidFill>
                  <a:srgbClr val="5C4033"/>
                </a:solidFill>
                <a:latin typeface="Calibri" pitchFamily="34" charset="0"/>
                <a:ea typeface="Calibri" pitchFamily="34" charset="-122"/>
                <a:cs typeface="Calibri" pitchFamily="34" charset="-120"/>
              </a:rPr>
              <a:t>3. Open Replit → Git pane → Pull</a:t>
            </a:r>
            <a:endParaRPr lang="en-US" sz="1150" dirty="0"/>
          </a:p>
          <a:p>
            <a:pPr marL="0" indent="0">
              <a:lnSpc>
                <a:spcPct val="160000"/>
              </a:lnSpc>
              <a:buNone/>
            </a:pPr>
            <a:r>
              <a:rPr lang="en-US" sz="1150" dirty="0">
                <a:solidFill>
                  <a:srgbClr val="5C4033"/>
                </a:solidFill>
                <a:latin typeface="Calibri" pitchFamily="34" charset="0"/>
                <a:ea typeface="Calibri" pitchFamily="34" charset="-122"/>
                <a:cs typeface="Calibri" pitchFamily="34" charset="-120"/>
              </a:rPr>
              <a:t>4. The change appears in your Replit project</a:t>
            </a:r>
            <a:endParaRPr lang="en-US" sz="1150" dirty="0"/>
          </a:p>
        </p:txBody>
      </p:sp>
      <p:sp>
        <p:nvSpPr>
          <p:cNvPr id="6" name="Shape 4"/>
          <p:cNvSpPr/>
          <p:nvPr/>
        </p:nvSpPr>
        <p:spPr>
          <a:xfrm>
            <a:off x="4663440" y="914400"/>
            <a:ext cx="3931920" cy="2011680"/>
          </a:xfrm>
          <a:prstGeom prst="roundRect">
            <a:avLst>
              <a:gd name="adj" fmla="val 3636"/>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4846320" y="1005840"/>
            <a:ext cx="3566160" cy="274320"/>
          </a:xfrm>
          <a:prstGeom prst="rect">
            <a:avLst/>
          </a:prstGeom>
          <a:noFill/>
          <a:ln/>
        </p:spPr>
        <p:txBody>
          <a:bodyPr wrap="square" lIns="0" tIns="0" rIns="0" bIns="0" rtlCol="0" anchor="ctr"/>
          <a:lstStyle/>
          <a:p>
            <a:pPr marL="0" indent="0">
              <a:buNone/>
            </a:pPr>
            <a:r>
              <a:rPr lang="en-US" sz="1300" b="1" dirty="0">
                <a:solidFill>
                  <a:srgbClr val="E7C39A"/>
                </a:solidFill>
                <a:latin typeface="Cambria" pitchFamily="34" charset="0"/>
              </a:rPr>
              <a:t>Result</a:t>
            </a:r>
            <a:endParaRPr lang="en-US" sz="1300" dirty="0"/>
          </a:p>
        </p:txBody>
      </p:sp>
      <p:sp>
        <p:nvSpPr>
          <p:cNvPr id="8" name="Text 6"/>
          <p:cNvSpPr/>
          <p:nvPr/>
        </p:nvSpPr>
        <p:spPr>
          <a:xfrm>
            <a:off x="4846320" y="1371600"/>
            <a:ext cx="3566160" cy="1371600"/>
          </a:xfrm>
          <a:prstGeom prst="rect">
            <a:avLst/>
          </a:prstGeom>
          <a:noFill/>
          <a:ln/>
        </p:spPr>
        <p:txBody>
          <a:bodyPr wrap="square" lIns="0" tIns="0" rIns="0" bIns="0" rtlCol="0" anchor="ctr"/>
          <a:lstStyle/>
          <a:p>
            <a:pPr marL="0" indent="0">
              <a:lnSpc>
                <a:spcPct val="115000"/>
              </a:lnSpc>
              <a:buNone/>
            </a:pPr>
            <a:r>
              <a:rPr lang="en-US" sz="1050" i="1" dirty="0">
                <a:solidFill>
                  <a:srgbClr val="FFFFFF"/>
                </a:solidFill>
                <a:latin typeface="Calibri" pitchFamily="34" charset="0"/>
                <a:ea typeface="Calibri" pitchFamily="34" charset="-122"/>
                <a:cs typeface="Calibri" pitchFamily="34" charset="-120"/>
              </a:rPr>
              <a:t>The code made a full round trip:</a:t>
            </a:r>
            <a:endParaRPr lang="en-US" sz="1050" dirty="0"/>
          </a:p>
          <a:p>
            <a:pPr marL="0" indent="0">
              <a:lnSpc>
                <a:spcPct val="115000"/>
              </a:lnSpc>
              <a:buNone/>
            </a:pPr>
            <a:endParaRPr lang="en-US" sz="1050" dirty="0"/>
          </a:p>
          <a:p>
            <a:pPr marL="0" indent="0">
              <a:lnSpc>
                <a:spcPct val="115000"/>
              </a:lnSpc>
              <a:buNone/>
            </a:pPr>
            <a:r>
              <a:rPr lang="en-US" sz="1100" b="1" dirty="0">
                <a:solidFill>
                  <a:srgbClr val="FFFFFF"/>
                </a:solidFill>
                <a:latin typeface="Calibri" pitchFamily="34" charset="0"/>
                <a:ea typeface="Calibri" pitchFamily="34" charset="-122"/>
                <a:cs typeface="Calibri" pitchFamily="34" charset="-120"/>
              </a:rPr>
              <a:t>Builder → GitHub → Partner → Branch → PR → Main → Builder</a:t>
            </a:r>
            <a:endParaRPr lang="en-US" sz="1050" dirty="0"/>
          </a:p>
        </p:txBody>
      </p:sp>
      <p:sp>
        <p:nvSpPr>
          <p:cNvPr id="9" name="Shape 7"/>
          <p:cNvSpPr/>
          <p:nvPr/>
        </p:nvSpPr>
        <p:spPr>
          <a:xfrm>
            <a:off x="548640" y="3200400"/>
            <a:ext cx="8046720" cy="502920"/>
          </a:xfrm>
          <a:prstGeom prst="roundRect">
            <a:avLst>
              <a:gd name="adj" fmla="val 10909"/>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685800" y="3200400"/>
            <a:ext cx="7772400" cy="502920"/>
          </a:xfrm>
          <a:prstGeom prst="rect">
            <a:avLst/>
          </a:prstGeom>
          <a:noFill/>
          <a:ln/>
        </p:spPr>
        <p:txBody>
          <a:bodyPr wrap="square" lIns="0" tIns="101600" rIns="10160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a:t>
            </a:r>
            <a:r>
              <a:rPr lang="en-US" sz="1050" dirty="0">
                <a:solidFill>
                  <a:srgbClr val="FFFFFF"/>
                </a:solidFill>
                <a:latin typeface="Calibri" pitchFamily="34" charset="0"/>
                <a:ea typeface="Calibri" pitchFamily="34" charset="-122"/>
                <a:cs typeface="Calibri" pitchFamily="34" charset="-120"/>
              </a:rPr>
              <a:t>Two complete handoff loops — one on each repo. That’s the workflow your build-cycle team will run dozens of times.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3EB"/>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B85042"/>
          </a:solidFill>
          <a:ln/>
        </p:spPr>
        <p:txBody>
          <a:bodyPr/>
          <a:lstStyle/>
          <a:p>
            <a:endParaRPr lang="en-US"/>
          </a:p>
        </p:txBody>
      </p:sp>
      <p:sp>
        <p:nvSpPr>
          <p:cNvPr id="3" name="Text 1"/>
          <p:cNvSpPr/>
          <p:nvPr/>
        </p:nvSpPr>
        <p:spPr>
          <a:xfrm>
            <a:off x="548640" y="1097280"/>
            <a:ext cx="8046720" cy="365760"/>
          </a:xfrm>
          <a:prstGeom prst="rect">
            <a:avLst/>
          </a:prstGeom>
          <a:noFill/>
          <a:ln/>
        </p:spPr>
        <p:txBody>
          <a:bodyPr wrap="square" lIns="0" tIns="0" rIns="0" bIns="0" rtlCol="0" anchor="ctr"/>
          <a:lstStyle/>
          <a:p>
            <a:pPr marL="0" indent="0">
              <a:buNone/>
            </a:pPr>
            <a:r>
              <a:rPr lang="en-US" sz="1300" b="1" kern="0" spc="300" dirty="0">
                <a:solidFill>
                  <a:srgbClr val="B85042"/>
                </a:solidFill>
                <a:latin typeface="Calibri" pitchFamily="34" charset="0"/>
                <a:ea typeface="Calibri" pitchFamily="34" charset="-122"/>
                <a:cs typeface="Calibri" pitchFamily="34" charset="-120"/>
              </a:rPr>
              <a:t>PART 6</a:t>
            </a:r>
            <a:endParaRPr lang="en-US" sz="1300" dirty="0"/>
          </a:p>
        </p:txBody>
      </p:sp>
      <p:sp>
        <p:nvSpPr>
          <p:cNvPr id="4" name="Text 2"/>
          <p:cNvSpPr/>
          <p:nvPr/>
        </p:nvSpPr>
        <p:spPr>
          <a:xfrm>
            <a:off x="548640" y="1463040"/>
            <a:ext cx="8046720" cy="640080"/>
          </a:xfrm>
          <a:prstGeom prst="rect">
            <a:avLst/>
          </a:prstGeom>
          <a:noFill/>
          <a:ln/>
        </p:spPr>
        <p:txBody>
          <a:bodyPr wrap="square" lIns="0" tIns="0" rIns="0" bIns="0" rtlCol="0" anchor="ctr"/>
          <a:lstStyle/>
          <a:p>
            <a:pPr marL="0" indent="0">
              <a:buNone/>
            </a:pPr>
            <a:r>
              <a:rPr lang="en-US" sz="3000" b="1" dirty="0">
                <a:solidFill>
                  <a:srgbClr val="3D2B1F"/>
                </a:solidFill>
                <a:latin typeface="Cambria" pitchFamily="34" charset="0"/>
                <a:ea typeface="Cambria" pitchFamily="34" charset="-122"/>
                <a:cs typeface="Cambria" pitchFamily="34" charset="-120"/>
              </a:rPr>
              <a:t>The Handoff Protocol</a:t>
            </a:r>
            <a:endParaRPr lang="en-US" sz="3000" dirty="0"/>
          </a:p>
        </p:txBody>
      </p:sp>
      <p:sp>
        <p:nvSpPr>
          <p:cNvPr id="5" name="Text 3"/>
          <p:cNvSpPr/>
          <p:nvPr/>
        </p:nvSpPr>
        <p:spPr>
          <a:xfrm>
            <a:off x="548640" y="2103120"/>
            <a:ext cx="8046720" cy="411480"/>
          </a:xfrm>
          <a:prstGeom prst="rect">
            <a:avLst/>
          </a:prstGeom>
          <a:noFill/>
          <a:ln/>
        </p:spPr>
        <p:txBody>
          <a:bodyPr wrap="square" lIns="0" tIns="0" rIns="0" bIns="0" rtlCol="0" anchor="ctr"/>
          <a:lstStyle/>
          <a:p>
            <a:pPr marL="0" indent="0">
              <a:buNone/>
            </a:pPr>
            <a:r>
              <a:rPr lang="en-US" sz="1400" dirty="0">
                <a:solidFill>
                  <a:srgbClr val="8B7355"/>
                </a:solidFill>
                <a:latin typeface="Calibri" pitchFamily="34" charset="0"/>
                <a:ea typeface="Calibri" pitchFamily="34" charset="-122"/>
                <a:cs typeface="Calibri" pitchFamily="34" charset="-120"/>
              </a:rPr>
              <a:t>Reflection and Discussion of Moving from Workshop to Build Cycle</a:t>
            </a:r>
            <a:endParaRPr lang="en-US" sz="1400" dirty="0"/>
          </a:p>
        </p:txBody>
      </p:sp>
      <p:sp>
        <p:nvSpPr>
          <p:cNvPr id="6" name="Text 4"/>
          <p:cNvSpPr/>
          <p:nvPr/>
        </p:nvSpPr>
        <p:spPr>
          <a:xfrm>
            <a:off x="548640" y="2606040"/>
            <a:ext cx="8046720" cy="320040"/>
          </a:xfrm>
          <a:prstGeom prst="rect">
            <a:avLst/>
          </a:prstGeom>
          <a:noFill/>
          <a:ln/>
        </p:spPr>
        <p:txBody>
          <a:bodyPr wrap="square" lIns="0" tIns="0" rIns="0" bIns="0" rtlCol="0" anchor="ctr"/>
          <a:lstStyle/>
          <a:p>
            <a:pPr marL="0" indent="0">
              <a:buNone/>
            </a:pPr>
            <a:r>
              <a:rPr lang="en-US" sz="1100" i="1" dirty="0">
                <a:solidFill>
                  <a:srgbClr val="8B7355"/>
                </a:solidFill>
                <a:latin typeface="Calibri" pitchFamily="34" charset="0"/>
                <a:ea typeface="Calibri" pitchFamily="34" charset="-122"/>
                <a:cs typeface="Calibri" pitchFamily="34" charset="-120"/>
              </a:rPr>
              <a:t>~10 minutes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182880"/>
            <a:ext cx="8046720" cy="274320"/>
          </a:xfrm>
          <a:prstGeom prst="rect">
            <a:avLst/>
          </a:prstGeom>
          <a:noFill/>
          <a:ln/>
        </p:spPr>
        <p:txBody>
          <a:bodyPr wrap="square" lIns="0" tIns="0" rIns="0" bIns="0" rtlCol="0" anchor="ctr"/>
          <a:lstStyle/>
          <a:p>
            <a:pPr marL="0" indent="0">
              <a:buNone/>
            </a:pPr>
            <a:r>
              <a:rPr lang="en-US" sz="1000" b="1" kern="0" spc="300" dirty="0">
                <a:solidFill>
                  <a:srgbClr val="B85042"/>
                </a:solidFill>
                <a:latin typeface="Calibri" pitchFamily="34" charset="0"/>
                <a:ea typeface="Calibri" pitchFamily="34" charset="-122"/>
                <a:cs typeface="Calibri" pitchFamily="34" charset="-120"/>
              </a:rPr>
              <a:t>THE HANDOFF PROTOCOL</a:t>
            </a:r>
            <a:endParaRPr lang="en-US" sz="1000" dirty="0"/>
          </a:p>
        </p:txBody>
      </p:sp>
      <p:sp>
        <p:nvSpPr>
          <p:cNvPr id="3" name="Text 1"/>
          <p:cNvSpPr/>
          <p:nvPr/>
        </p:nvSpPr>
        <p:spPr>
          <a:xfrm>
            <a:off x="548640" y="411480"/>
            <a:ext cx="4572000" cy="320040"/>
          </a:xfrm>
          <a:prstGeom prst="rect">
            <a:avLst/>
          </a:prstGeom>
          <a:noFill/>
          <a:ln/>
        </p:spPr>
        <p:txBody>
          <a:bodyPr wrap="square" lIns="0" tIns="0" rIns="0" bIns="0" rtlCol="0" anchor="ctr"/>
          <a:lstStyle/>
          <a:p>
            <a:pPr marL="0" indent="0">
              <a:buNone/>
            </a:pPr>
            <a:r>
              <a:rPr lang="en-US" sz="1800" b="1" dirty="0">
                <a:solidFill>
                  <a:srgbClr val="3D2B1F"/>
                </a:solidFill>
                <a:latin typeface="Cambria" pitchFamily="34" charset="0"/>
                <a:ea typeface="Cambria" pitchFamily="34" charset="-122"/>
                <a:cs typeface="Cambria" pitchFamily="34" charset="-120"/>
              </a:rPr>
              <a:t>The Upskilling Labs</a:t>
            </a:r>
            <a:endParaRPr lang="en-US" sz="1800" dirty="0"/>
          </a:p>
        </p:txBody>
      </p:sp>
      <p:sp>
        <p:nvSpPr>
          <p:cNvPr id="4" name="Shape 2"/>
          <p:cNvSpPr/>
          <p:nvPr/>
        </p:nvSpPr>
        <p:spPr>
          <a:xfrm>
            <a:off x="548640" y="868680"/>
            <a:ext cx="411480" cy="384048"/>
          </a:xfrm>
          <a:prstGeom prst="roundRect">
            <a:avLst>
              <a:gd name="adj" fmla="val 9524"/>
            </a:avLst>
          </a:prstGeom>
          <a:solidFill>
            <a:srgbClr val="B85042"/>
          </a:solidFill>
          <a:ln/>
        </p:spPr>
        <p:txBody>
          <a:bodyPr/>
          <a:lstStyle/>
          <a:p>
            <a:endParaRPr lang="en-US"/>
          </a:p>
        </p:txBody>
      </p:sp>
      <p:sp>
        <p:nvSpPr>
          <p:cNvPr id="5" name="Text 3"/>
          <p:cNvSpPr/>
          <p:nvPr/>
        </p:nvSpPr>
        <p:spPr>
          <a:xfrm>
            <a:off x="548640" y="868680"/>
            <a:ext cx="4114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1005840" y="868680"/>
            <a:ext cx="7589520" cy="384048"/>
          </a:xfrm>
          <a:prstGeom prst="roundRect">
            <a:avLst>
              <a:gd name="adj" fmla="val 9524"/>
            </a:avLst>
          </a:prstGeom>
          <a:solidFill>
            <a:srgbClr val="FFF8F0"/>
          </a:solidFill>
          <a:ln/>
        </p:spPr>
        <p:txBody>
          <a:bodyPr/>
          <a:lstStyle/>
          <a:p>
            <a:endParaRPr lang="en-US"/>
          </a:p>
        </p:txBody>
      </p:sp>
      <p:sp>
        <p:nvSpPr>
          <p:cNvPr id="7" name="Text 5"/>
          <p:cNvSpPr/>
          <p:nvPr/>
        </p:nvSpPr>
        <p:spPr>
          <a:xfrm>
            <a:off x="1097280" y="868680"/>
            <a:ext cx="7406640" cy="384048"/>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Main should always works.</a:t>
            </a:r>
            <a:r>
              <a:rPr lang="en-US" sz="1050" dirty="0">
                <a:solidFill>
                  <a:srgbClr val="5C4033"/>
                </a:solidFill>
                <a:latin typeface="Calibri" pitchFamily="34" charset="0"/>
                <a:ea typeface="Calibri" pitchFamily="34" charset="-122"/>
                <a:cs typeface="Calibri" pitchFamily="34" charset="-120"/>
              </a:rPr>
              <a:t>  No direct commits to main. </a:t>
            </a:r>
            <a:endParaRPr lang="en-US" sz="1100" dirty="0"/>
          </a:p>
        </p:txBody>
      </p:sp>
      <p:sp>
        <p:nvSpPr>
          <p:cNvPr id="8" name="Shape 6"/>
          <p:cNvSpPr/>
          <p:nvPr/>
        </p:nvSpPr>
        <p:spPr>
          <a:xfrm>
            <a:off x="548640" y="1344168"/>
            <a:ext cx="411480" cy="384048"/>
          </a:xfrm>
          <a:prstGeom prst="roundRect">
            <a:avLst>
              <a:gd name="adj" fmla="val 9524"/>
            </a:avLst>
          </a:prstGeom>
          <a:solidFill>
            <a:srgbClr val="B85042"/>
          </a:solidFill>
          <a:ln/>
        </p:spPr>
        <p:txBody>
          <a:bodyPr/>
          <a:lstStyle/>
          <a:p>
            <a:endParaRPr lang="en-US"/>
          </a:p>
        </p:txBody>
      </p:sp>
      <p:sp>
        <p:nvSpPr>
          <p:cNvPr id="9" name="Text 7"/>
          <p:cNvSpPr/>
          <p:nvPr/>
        </p:nvSpPr>
        <p:spPr>
          <a:xfrm>
            <a:off x="548640" y="1344168"/>
            <a:ext cx="4114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Shape 8"/>
          <p:cNvSpPr/>
          <p:nvPr/>
        </p:nvSpPr>
        <p:spPr>
          <a:xfrm>
            <a:off x="1005840" y="1344168"/>
            <a:ext cx="7589520" cy="384048"/>
          </a:xfrm>
          <a:prstGeom prst="roundRect">
            <a:avLst>
              <a:gd name="adj" fmla="val 9524"/>
            </a:avLst>
          </a:prstGeom>
          <a:solidFill>
            <a:srgbClr val="FFF8F0"/>
          </a:solidFill>
          <a:ln/>
        </p:spPr>
        <p:txBody>
          <a:bodyPr/>
          <a:lstStyle/>
          <a:p>
            <a:endParaRPr lang="en-US"/>
          </a:p>
        </p:txBody>
      </p:sp>
      <p:sp>
        <p:nvSpPr>
          <p:cNvPr id="11" name="Text 9"/>
          <p:cNvSpPr/>
          <p:nvPr/>
        </p:nvSpPr>
        <p:spPr>
          <a:xfrm>
            <a:off x="1097280" y="1344168"/>
            <a:ext cx="7406640" cy="384048"/>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Branch first, then edit.</a:t>
            </a:r>
            <a:r>
              <a:rPr lang="en-US" sz="1050" dirty="0">
                <a:solidFill>
                  <a:srgbClr val="5C4033"/>
                </a:solidFill>
                <a:latin typeface="Calibri" pitchFamily="34" charset="0"/>
                <a:ea typeface="Calibri" pitchFamily="34" charset="-122"/>
                <a:cs typeface="Calibri" pitchFamily="34" charset="-120"/>
              </a:rPr>
              <a:t>  Check the branch indicator before you type.</a:t>
            </a:r>
            <a:endParaRPr lang="en-US" sz="1100" dirty="0"/>
          </a:p>
        </p:txBody>
      </p:sp>
      <p:sp>
        <p:nvSpPr>
          <p:cNvPr id="12" name="Shape 10"/>
          <p:cNvSpPr/>
          <p:nvPr/>
        </p:nvSpPr>
        <p:spPr>
          <a:xfrm>
            <a:off x="548640" y="1819656"/>
            <a:ext cx="411480" cy="384048"/>
          </a:xfrm>
          <a:prstGeom prst="roundRect">
            <a:avLst>
              <a:gd name="adj" fmla="val 9524"/>
            </a:avLst>
          </a:prstGeom>
          <a:solidFill>
            <a:srgbClr val="B85042"/>
          </a:solidFill>
          <a:ln/>
        </p:spPr>
        <p:txBody>
          <a:bodyPr/>
          <a:lstStyle/>
          <a:p>
            <a:endParaRPr lang="en-US"/>
          </a:p>
        </p:txBody>
      </p:sp>
      <p:sp>
        <p:nvSpPr>
          <p:cNvPr id="13" name="Text 11"/>
          <p:cNvSpPr/>
          <p:nvPr/>
        </p:nvSpPr>
        <p:spPr>
          <a:xfrm>
            <a:off x="548640" y="1819656"/>
            <a:ext cx="4114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Shape 12"/>
          <p:cNvSpPr/>
          <p:nvPr/>
        </p:nvSpPr>
        <p:spPr>
          <a:xfrm>
            <a:off x="1005840" y="1819656"/>
            <a:ext cx="7589520" cy="384048"/>
          </a:xfrm>
          <a:prstGeom prst="roundRect">
            <a:avLst>
              <a:gd name="adj" fmla="val 9524"/>
            </a:avLst>
          </a:prstGeom>
          <a:solidFill>
            <a:srgbClr val="FFF8F0"/>
          </a:solidFill>
          <a:ln/>
        </p:spPr>
        <p:txBody>
          <a:bodyPr/>
          <a:lstStyle/>
          <a:p>
            <a:endParaRPr lang="en-US"/>
          </a:p>
        </p:txBody>
      </p:sp>
      <p:sp>
        <p:nvSpPr>
          <p:cNvPr id="15" name="Text 13"/>
          <p:cNvSpPr/>
          <p:nvPr/>
        </p:nvSpPr>
        <p:spPr>
          <a:xfrm>
            <a:off x="1097280" y="1819656"/>
            <a:ext cx="7406640" cy="384048"/>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One branch = one person = one task.</a:t>
            </a:r>
            <a:r>
              <a:rPr lang="en-US" sz="1050" dirty="0">
                <a:solidFill>
                  <a:srgbClr val="5C4033"/>
                </a:solidFill>
                <a:latin typeface="Calibri" pitchFamily="34" charset="0"/>
                <a:ea typeface="Calibri" pitchFamily="34" charset="-122"/>
                <a:cs typeface="Calibri" pitchFamily="34" charset="-120"/>
              </a:rPr>
              <a:t>  Name descriptively: feature/…, fix/…</a:t>
            </a:r>
            <a:endParaRPr lang="en-US" sz="1100" dirty="0"/>
          </a:p>
        </p:txBody>
      </p:sp>
      <p:sp>
        <p:nvSpPr>
          <p:cNvPr id="16" name="Shape 14"/>
          <p:cNvSpPr/>
          <p:nvPr/>
        </p:nvSpPr>
        <p:spPr>
          <a:xfrm>
            <a:off x="548640" y="2295144"/>
            <a:ext cx="411480" cy="384048"/>
          </a:xfrm>
          <a:prstGeom prst="roundRect">
            <a:avLst>
              <a:gd name="adj" fmla="val 9524"/>
            </a:avLst>
          </a:prstGeom>
          <a:solidFill>
            <a:srgbClr val="5C4033"/>
          </a:solidFill>
          <a:ln/>
        </p:spPr>
        <p:txBody>
          <a:bodyPr/>
          <a:lstStyle/>
          <a:p>
            <a:endParaRPr lang="en-US"/>
          </a:p>
        </p:txBody>
      </p:sp>
      <p:sp>
        <p:nvSpPr>
          <p:cNvPr id="17" name="Text 15"/>
          <p:cNvSpPr/>
          <p:nvPr/>
        </p:nvSpPr>
        <p:spPr>
          <a:xfrm>
            <a:off x="548640" y="2295144"/>
            <a:ext cx="4114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Shape 16"/>
          <p:cNvSpPr/>
          <p:nvPr/>
        </p:nvSpPr>
        <p:spPr>
          <a:xfrm>
            <a:off x="1005840" y="2295144"/>
            <a:ext cx="7589520" cy="384048"/>
          </a:xfrm>
          <a:prstGeom prst="roundRect">
            <a:avLst>
              <a:gd name="adj" fmla="val 9524"/>
            </a:avLst>
          </a:prstGeom>
          <a:solidFill>
            <a:srgbClr val="FFF8F0"/>
          </a:solidFill>
          <a:ln/>
        </p:spPr>
        <p:txBody>
          <a:bodyPr/>
          <a:lstStyle/>
          <a:p>
            <a:endParaRPr lang="en-US"/>
          </a:p>
        </p:txBody>
      </p:sp>
      <p:sp>
        <p:nvSpPr>
          <p:cNvPr id="19" name="Text 17"/>
          <p:cNvSpPr/>
          <p:nvPr/>
        </p:nvSpPr>
        <p:spPr>
          <a:xfrm>
            <a:off x="1097280" y="2295144"/>
            <a:ext cx="7406640" cy="384048"/>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Every AI generated feature gets a prompt doc</a:t>
            </a:r>
            <a:r>
              <a:rPr lang="en-US" sz="1050" dirty="0">
                <a:solidFill>
                  <a:srgbClr val="5C4033"/>
                </a:solidFill>
                <a:latin typeface="Calibri" pitchFamily="34" charset="0"/>
                <a:ea typeface="Calibri" pitchFamily="34" charset="-122"/>
                <a:cs typeface="Calibri" pitchFamily="34" charset="-120"/>
              </a:rPr>
              <a:t>  in /prompts, committed with the code.</a:t>
            </a:r>
            <a:endParaRPr lang="en-US" sz="1100" dirty="0"/>
          </a:p>
        </p:txBody>
      </p:sp>
      <p:sp>
        <p:nvSpPr>
          <p:cNvPr id="20" name="Shape 18"/>
          <p:cNvSpPr/>
          <p:nvPr/>
        </p:nvSpPr>
        <p:spPr>
          <a:xfrm>
            <a:off x="548640" y="2770632"/>
            <a:ext cx="411480" cy="384048"/>
          </a:xfrm>
          <a:prstGeom prst="roundRect">
            <a:avLst>
              <a:gd name="adj" fmla="val 9524"/>
            </a:avLst>
          </a:prstGeom>
          <a:solidFill>
            <a:srgbClr val="5C4033"/>
          </a:solidFill>
          <a:ln/>
        </p:spPr>
        <p:txBody>
          <a:bodyPr/>
          <a:lstStyle/>
          <a:p>
            <a:endParaRPr lang="en-US"/>
          </a:p>
        </p:txBody>
      </p:sp>
      <p:sp>
        <p:nvSpPr>
          <p:cNvPr id="21" name="Text 19"/>
          <p:cNvSpPr/>
          <p:nvPr/>
        </p:nvSpPr>
        <p:spPr>
          <a:xfrm>
            <a:off x="548640" y="2770632"/>
            <a:ext cx="4114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Shape 20"/>
          <p:cNvSpPr/>
          <p:nvPr/>
        </p:nvSpPr>
        <p:spPr>
          <a:xfrm>
            <a:off x="1005840" y="2770632"/>
            <a:ext cx="7589520" cy="384048"/>
          </a:xfrm>
          <a:prstGeom prst="roundRect">
            <a:avLst>
              <a:gd name="adj" fmla="val 9524"/>
            </a:avLst>
          </a:prstGeom>
          <a:solidFill>
            <a:srgbClr val="FFF8F0"/>
          </a:solidFill>
          <a:ln/>
        </p:spPr>
        <p:txBody>
          <a:bodyPr/>
          <a:lstStyle/>
          <a:p>
            <a:endParaRPr lang="en-US" dirty="0"/>
          </a:p>
        </p:txBody>
      </p:sp>
      <p:sp>
        <p:nvSpPr>
          <p:cNvPr id="23" name="Text 21"/>
          <p:cNvSpPr/>
          <p:nvPr/>
        </p:nvSpPr>
        <p:spPr>
          <a:xfrm>
            <a:off x="1097280" y="2770632"/>
            <a:ext cx="7406640" cy="384048"/>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Commits say who/how.</a:t>
            </a:r>
            <a:r>
              <a:rPr lang="en-US" sz="1050" dirty="0">
                <a:solidFill>
                  <a:srgbClr val="5C4033"/>
                </a:solidFill>
                <a:latin typeface="Calibri" pitchFamily="34" charset="0"/>
                <a:ea typeface="Calibri" pitchFamily="34" charset="-122"/>
                <a:cs typeface="Calibri" pitchFamily="34" charset="-120"/>
              </a:rPr>
              <a:t> Hand-edited vs. AI-generated, and which prompt doc was used</a:t>
            </a:r>
            <a:endParaRPr lang="en-US" sz="1100" dirty="0"/>
          </a:p>
        </p:txBody>
      </p:sp>
      <p:sp>
        <p:nvSpPr>
          <p:cNvPr id="24" name="Shape 22"/>
          <p:cNvSpPr/>
          <p:nvPr/>
        </p:nvSpPr>
        <p:spPr>
          <a:xfrm>
            <a:off x="548640" y="3246120"/>
            <a:ext cx="411480" cy="384048"/>
          </a:xfrm>
          <a:prstGeom prst="roundRect">
            <a:avLst>
              <a:gd name="adj" fmla="val 9524"/>
            </a:avLst>
          </a:prstGeom>
          <a:solidFill>
            <a:srgbClr val="5C4033"/>
          </a:solidFill>
          <a:ln/>
        </p:spPr>
        <p:txBody>
          <a:bodyPr/>
          <a:lstStyle/>
          <a:p>
            <a:endParaRPr lang="en-US"/>
          </a:p>
        </p:txBody>
      </p:sp>
      <p:sp>
        <p:nvSpPr>
          <p:cNvPr id="25" name="Text 23"/>
          <p:cNvSpPr/>
          <p:nvPr/>
        </p:nvSpPr>
        <p:spPr>
          <a:xfrm>
            <a:off x="548640" y="3246120"/>
            <a:ext cx="4114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Shape 24"/>
          <p:cNvSpPr/>
          <p:nvPr/>
        </p:nvSpPr>
        <p:spPr>
          <a:xfrm>
            <a:off x="1005840" y="3246120"/>
            <a:ext cx="7589520" cy="384048"/>
          </a:xfrm>
          <a:prstGeom prst="roundRect">
            <a:avLst>
              <a:gd name="adj" fmla="val 9524"/>
            </a:avLst>
          </a:prstGeom>
          <a:solidFill>
            <a:srgbClr val="FFF8F0"/>
          </a:solidFill>
          <a:ln/>
        </p:spPr>
        <p:txBody>
          <a:bodyPr/>
          <a:lstStyle/>
          <a:p>
            <a:endParaRPr lang="en-US"/>
          </a:p>
        </p:txBody>
      </p:sp>
      <p:sp>
        <p:nvSpPr>
          <p:cNvPr id="27" name="Text 25"/>
          <p:cNvSpPr/>
          <p:nvPr/>
        </p:nvSpPr>
        <p:spPr>
          <a:xfrm>
            <a:off x="1097280" y="3246120"/>
            <a:ext cx="7406640" cy="384048"/>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All changes enter main through a PR.</a:t>
            </a:r>
            <a:r>
              <a:rPr lang="en-US" sz="1050" dirty="0">
                <a:solidFill>
                  <a:srgbClr val="5C4033"/>
                </a:solidFill>
                <a:latin typeface="Calibri" pitchFamily="34" charset="0"/>
                <a:ea typeface="Calibri" pitchFamily="34" charset="-122"/>
                <a:cs typeface="Calibri" pitchFamily="34" charset="-120"/>
              </a:rPr>
              <a:t>  At least one teammate reviews before merging.</a:t>
            </a:r>
            <a:endParaRPr lang="en-US" sz="1100" dirty="0"/>
          </a:p>
        </p:txBody>
      </p:sp>
      <p:sp>
        <p:nvSpPr>
          <p:cNvPr id="28" name="Shape 26"/>
          <p:cNvSpPr/>
          <p:nvPr/>
        </p:nvSpPr>
        <p:spPr>
          <a:xfrm>
            <a:off x="548640" y="3721608"/>
            <a:ext cx="411480" cy="384048"/>
          </a:xfrm>
          <a:prstGeom prst="roundRect">
            <a:avLst>
              <a:gd name="adj" fmla="val 9524"/>
            </a:avLst>
          </a:prstGeom>
          <a:solidFill>
            <a:srgbClr val="7A9E87"/>
          </a:solidFill>
          <a:ln/>
        </p:spPr>
        <p:txBody>
          <a:bodyPr/>
          <a:lstStyle/>
          <a:p>
            <a:endParaRPr lang="en-US"/>
          </a:p>
        </p:txBody>
      </p:sp>
      <p:sp>
        <p:nvSpPr>
          <p:cNvPr id="29" name="Text 27"/>
          <p:cNvSpPr/>
          <p:nvPr/>
        </p:nvSpPr>
        <p:spPr>
          <a:xfrm>
            <a:off x="548640" y="3721608"/>
            <a:ext cx="411480" cy="384048"/>
          </a:xfrm>
          <a:prstGeom prst="rect">
            <a:avLst/>
          </a:prstGeom>
          <a:noFill/>
          <a:ln/>
        </p:spPr>
        <p:txBody>
          <a:bodyPr wrap="square" lIns="0" tIns="0" rIns="0" bIns="0" rtlCol="0" anchor="ctr"/>
          <a:lstStyle/>
          <a:p>
            <a:pPr marL="0" indent="0" algn="ctr">
              <a:buNone/>
            </a:pPr>
            <a:endParaRPr lang="en-US" sz="1400" dirty="0"/>
          </a:p>
        </p:txBody>
      </p:sp>
      <p:sp>
        <p:nvSpPr>
          <p:cNvPr id="30" name="Shape 28"/>
          <p:cNvSpPr/>
          <p:nvPr/>
        </p:nvSpPr>
        <p:spPr>
          <a:xfrm>
            <a:off x="1005840" y="3721608"/>
            <a:ext cx="7589520" cy="384048"/>
          </a:xfrm>
          <a:prstGeom prst="roundRect">
            <a:avLst>
              <a:gd name="adj" fmla="val 9524"/>
            </a:avLst>
          </a:prstGeom>
          <a:solidFill>
            <a:srgbClr val="FFF8F0"/>
          </a:solidFill>
          <a:ln/>
        </p:spPr>
        <p:txBody>
          <a:bodyPr/>
          <a:lstStyle/>
          <a:p>
            <a:endParaRPr lang="en-US"/>
          </a:p>
        </p:txBody>
      </p:sp>
      <p:sp>
        <p:nvSpPr>
          <p:cNvPr id="31" name="Text 29"/>
          <p:cNvSpPr/>
          <p:nvPr/>
        </p:nvSpPr>
        <p:spPr>
          <a:xfrm>
            <a:off x="1097280" y="3721608"/>
            <a:ext cx="7406640" cy="384048"/>
          </a:xfrm>
          <a:prstGeom prst="rect">
            <a:avLst/>
          </a:prstGeom>
          <a:noFill/>
          <a:ln/>
        </p:spPr>
        <p:txBody>
          <a:bodyPr wrap="square" lIns="0" tIns="0" rIns="0" bIns="0" rtlCol="0" anchor="ctr"/>
          <a:lstStyle/>
          <a:p>
            <a:pPr marL="0" indent="0">
              <a:buNone/>
            </a:pPr>
            <a:r>
              <a:rPr lang="en-US" sz="1100" b="1" dirty="0">
                <a:solidFill>
                  <a:srgbClr val="3D2B1F"/>
                </a:solidFill>
                <a:latin typeface="Calibri" pitchFamily="34" charset="0"/>
                <a:ea typeface="Calibri" pitchFamily="34" charset="-122"/>
                <a:cs typeface="Calibri" pitchFamily="34" charset="-120"/>
              </a:rPr>
              <a:t>Pull before you start;</a:t>
            </a:r>
            <a:r>
              <a:rPr lang="en-US" sz="1050" dirty="0">
                <a:solidFill>
                  <a:srgbClr val="5C4033"/>
                </a:solidFill>
                <a:latin typeface="Calibri" pitchFamily="34" charset="0"/>
                <a:ea typeface="Calibri" pitchFamily="34" charset="-122"/>
                <a:cs typeface="Calibri" pitchFamily="34" charset="-120"/>
              </a:rPr>
              <a:t>  push before you stop.</a:t>
            </a:r>
            <a:endParaRPr lang="en-US" sz="1100" dirty="0"/>
          </a:p>
        </p:txBody>
      </p:sp>
      <p:sp>
        <p:nvSpPr>
          <p:cNvPr id="33" name="Text 31"/>
          <p:cNvSpPr/>
          <p:nvPr/>
        </p:nvSpPr>
        <p:spPr>
          <a:xfrm>
            <a:off x="548640" y="4197096"/>
            <a:ext cx="411480" cy="384048"/>
          </a:xfrm>
          <a:prstGeom prst="rect">
            <a:avLst/>
          </a:prstGeom>
          <a:noFill/>
          <a:ln/>
        </p:spPr>
        <p:txBody>
          <a:bodyPr wrap="square" lIns="0" tIns="0" rIns="0" bIns="0" rtlCol="0" anchor="ctr"/>
          <a:lstStyle/>
          <a:p>
            <a:pPr marL="0" indent="0" algn="ctr">
              <a:buNone/>
            </a:pPr>
            <a:endParaRPr lang="en-US" sz="1400" dirty="0"/>
          </a:p>
        </p:txBody>
      </p:sp>
      <p:sp>
        <p:nvSpPr>
          <p:cNvPr id="34" name="Shape 32"/>
          <p:cNvSpPr/>
          <p:nvPr/>
        </p:nvSpPr>
        <p:spPr>
          <a:xfrm>
            <a:off x="1005840" y="4197096"/>
            <a:ext cx="7589520" cy="384048"/>
          </a:xfrm>
          <a:prstGeom prst="roundRect">
            <a:avLst>
              <a:gd name="adj" fmla="val 9524"/>
            </a:avLst>
          </a:prstGeom>
          <a:solidFill>
            <a:srgbClr val="FFF8F0"/>
          </a:solidFill>
          <a:ln/>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Before Your First Build-Cycle Session</a:t>
            </a:r>
            <a:endParaRPr lang="en-US" sz="2200" dirty="0"/>
          </a:p>
        </p:txBody>
      </p:sp>
      <p:sp>
        <p:nvSpPr>
          <p:cNvPr id="3" name="Shape 1"/>
          <p:cNvSpPr/>
          <p:nvPr/>
        </p:nvSpPr>
        <p:spPr>
          <a:xfrm>
            <a:off x="548640" y="914400"/>
            <a:ext cx="1956816" cy="1371600"/>
          </a:xfrm>
          <a:prstGeom prst="roundRect">
            <a:avLst>
              <a:gd name="adj" fmla="val 5333"/>
            </a:avLst>
          </a:prstGeom>
          <a:solidFill>
            <a:srgbClr val="B85042"/>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640080" y="969264"/>
            <a:ext cx="1773936" cy="126187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1</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Set Up the Team Repo</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One teammate creates the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repo and invites everyone.</a:t>
            </a:r>
            <a:endParaRPr lang="en-US" sz="1800" dirty="0"/>
          </a:p>
        </p:txBody>
      </p:sp>
      <p:sp>
        <p:nvSpPr>
          <p:cNvPr id="5" name="Shape 3"/>
          <p:cNvSpPr/>
          <p:nvPr/>
        </p:nvSpPr>
        <p:spPr>
          <a:xfrm>
            <a:off x="2578608" y="914400"/>
            <a:ext cx="1956816" cy="1371600"/>
          </a:xfrm>
          <a:prstGeom prst="roundRect">
            <a:avLst>
              <a:gd name="adj" fmla="val 5333"/>
            </a:avLst>
          </a:prstGeom>
          <a:solidFill>
            <a:srgbClr val="E7C39A"/>
          </a:solidFill>
          <a:ln/>
          <a:effectLst>
            <a:outerShdw blurRad="63500" dist="25400" dir="2700000" algn="bl" rotWithShape="0">
              <a:srgbClr val="000000">
                <a:alpha val="12000"/>
              </a:srgbClr>
            </a:outerShdw>
          </a:effectLst>
        </p:spPr>
        <p:txBody>
          <a:bodyPr/>
          <a:lstStyle/>
          <a:p>
            <a:endParaRPr lang="en-US"/>
          </a:p>
        </p:txBody>
      </p:sp>
      <p:sp>
        <p:nvSpPr>
          <p:cNvPr id="6" name="Text 4"/>
          <p:cNvSpPr/>
          <p:nvPr/>
        </p:nvSpPr>
        <p:spPr>
          <a:xfrm>
            <a:off x="2670048" y="969264"/>
            <a:ext cx="1773936" cy="126187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2</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Test the Loop</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Everyone clones, pushes one</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test commit ON A BRANCH</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with a PR — your “hello world”</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handoff.</a:t>
            </a:r>
            <a:endParaRPr lang="en-US" sz="1800" dirty="0"/>
          </a:p>
        </p:txBody>
      </p:sp>
      <p:sp>
        <p:nvSpPr>
          <p:cNvPr id="7" name="Shape 5"/>
          <p:cNvSpPr/>
          <p:nvPr/>
        </p:nvSpPr>
        <p:spPr>
          <a:xfrm>
            <a:off x="4608576" y="914400"/>
            <a:ext cx="1956816" cy="1371600"/>
          </a:xfrm>
          <a:prstGeom prst="roundRect">
            <a:avLst>
              <a:gd name="adj" fmla="val 5333"/>
            </a:avLst>
          </a:prstGeom>
          <a:solidFill>
            <a:srgbClr val="5C4033"/>
          </a:solidFill>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4700016" y="969264"/>
            <a:ext cx="1773936" cy="126187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3</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Plan Together</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Write your scaffold prompt</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together. Commit to /prompts</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before anyone builds.</a:t>
            </a:r>
            <a:endParaRPr lang="en-US" sz="1800" dirty="0"/>
          </a:p>
        </p:txBody>
      </p:sp>
      <p:sp>
        <p:nvSpPr>
          <p:cNvPr id="9" name="Shape 7"/>
          <p:cNvSpPr/>
          <p:nvPr/>
        </p:nvSpPr>
        <p:spPr>
          <a:xfrm>
            <a:off x="6638544" y="914400"/>
            <a:ext cx="1956816" cy="1371600"/>
          </a:xfrm>
          <a:prstGeom prst="roundRect">
            <a:avLst>
              <a:gd name="adj" fmla="val 5333"/>
            </a:avLst>
          </a:prstGeom>
          <a:solidFill>
            <a:srgbClr val="A7BEAE"/>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6729984" y="969264"/>
            <a:ext cx="1773936" cy="1261872"/>
          </a:xfrm>
          <a:prstGeom prst="rect">
            <a:avLst/>
          </a:prstGeom>
          <a:noFill/>
          <a:ln/>
        </p:spPr>
        <p:txBody>
          <a:bodyPr wrap="square" lIns="0" tIns="0" rIns="0" bIns="0" rtlCol="0" anchor="t"/>
          <a:lstStyle/>
          <a:p>
            <a:pPr marL="0" indent="0">
              <a:lnSpc>
                <a:spcPct val="105000"/>
              </a:lnSpc>
              <a:buNone/>
            </a:pPr>
            <a:r>
              <a:rPr lang="en-US" sz="1800" b="1" dirty="0">
                <a:solidFill>
                  <a:srgbClr val="FFFFFF"/>
                </a:solidFill>
                <a:latin typeface="Calibri" pitchFamily="34" charset="0"/>
                <a:ea typeface="Calibri" pitchFamily="34" charset="-122"/>
                <a:cs typeface="Calibri" pitchFamily="34" charset="-120"/>
              </a:rPr>
              <a:t>4</a:t>
            </a:r>
            <a:endParaRPr lang="en-US" sz="1800" dirty="0"/>
          </a:p>
          <a:p>
            <a:pPr marL="0" indent="0">
              <a:lnSpc>
                <a:spcPct val="105000"/>
              </a:lnSpc>
              <a:buNone/>
            </a:pPr>
            <a:r>
              <a:rPr lang="en-US" sz="1100" b="1" dirty="0">
                <a:solidFill>
                  <a:srgbClr val="FFFFFF"/>
                </a:solidFill>
                <a:latin typeface="Calibri" pitchFamily="34" charset="0"/>
                <a:ea typeface="Calibri" pitchFamily="34" charset="-122"/>
                <a:cs typeface="Calibri" pitchFamily="34" charset="-120"/>
              </a:rPr>
              <a:t>Agree on the Protocol</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Read the Handoff Protocol</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as a team. Out loud.</a:t>
            </a:r>
            <a:endParaRPr lang="en-US" sz="1800" dirty="0"/>
          </a:p>
          <a:p>
            <a:pPr marL="0" indent="0">
              <a:lnSpc>
                <a:spcPct val="105000"/>
              </a:lnSpc>
              <a:buNone/>
            </a:pPr>
            <a:r>
              <a:rPr lang="en-US" sz="850" dirty="0">
                <a:solidFill>
                  <a:srgbClr val="FFFFFF"/>
                </a:solidFill>
                <a:latin typeface="Calibri" pitchFamily="34" charset="0"/>
                <a:ea typeface="Calibri" pitchFamily="34" charset="-122"/>
                <a:cs typeface="Calibri" pitchFamily="34" charset="-120"/>
              </a:rPr>
              <a:t>These are your house rules.</a:t>
            </a:r>
            <a:endParaRPr lang="en-US" sz="1800" dirty="0"/>
          </a:p>
        </p:txBody>
      </p:sp>
      <p:sp>
        <p:nvSpPr>
          <p:cNvPr id="11" name="Shape 7">
            <a:extLst>
              <a:ext uri="{FF2B5EF4-FFF2-40B4-BE49-F238E27FC236}">
                <a16:creationId xmlns:a16="http://schemas.microsoft.com/office/drawing/2014/main" id="{5ACC268A-2B2D-DA53-693E-5986C1ED85AB}"/>
              </a:ext>
            </a:extLst>
          </p:cNvPr>
          <p:cNvSpPr/>
          <p:nvPr/>
        </p:nvSpPr>
        <p:spPr>
          <a:xfrm>
            <a:off x="548640" y="2706785"/>
            <a:ext cx="8046720" cy="502920"/>
          </a:xfrm>
          <a:prstGeom prst="roundRect">
            <a:avLst>
              <a:gd name="adj" fmla="val 10909"/>
            </a:avLst>
          </a:prstGeom>
          <a:solidFill>
            <a:srgbClr val="3D2B1F"/>
          </a:solidFill>
          <a:ln/>
          <a:effectLst>
            <a:outerShdw blurRad="63500" dist="25400" dir="2700000" algn="bl" rotWithShape="0">
              <a:srgbClr val="000000">
                <a:alpha val="12000"/>
              </a:srgbClr>
            </a:outerShdw>
          </a:effectLst>
        </p:spPr>
        <p:txBody>
          <a:bodyPr/>
          <a:lstStyle/>
          <a:p>
            <a:endParaRPr lang="en-US"/>
          </a:p>
        </p:txBody>
      </p:sp>
      <p:sp>
        <p:nvSpPr>
          <p:cNvPr id="12" name="Text 8">
            <a:extLst>
              <a:ext uri="{FF2B5EF4-FFF2-40B4-BE49-F238E27FC236}">
                <a16:creationId xmlns:a16="http://schemas.microsoft.com/office/drawing/2014/main" id="{30E66E07-8198-6EDB-0195-4811081B2A0D}"/>
              </a:ext>
            </a:extLst>
          </p:cNvPr>
          <p:cNvSpPr/>
          <p:nvPr/>
        </p:nvSpPr>
        <p:spPr>
          <a:xfrm>
            <a:off x="685800" y="2706785"/>
            <a:ext cx="7772400" cy="502920"/>
          </a:xfrm>
          <a:prstGeom prst="rect">
            <a:avLst/>
          </a:prstGeom>
          <a:noFill/>
          <a:ln/>
        </p:spPr>
        <p:txBody>
          <a:bodyPr wrap="square" lIns="0" tIns="101600" rIns="10160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 Questions about next steps for your project?</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AF3EB"/>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marL="0" indent="0">
              <a:buNone/>
            </a:pPr>
            <a:r>
              <a:rPr lang="en-US" sz="2200" b="1" dirty="0">
                <a:solidFill>
                  <a:srgbClr val="3D2B1F"/>
                </a:solidFill>
                <a:latin typeface="Cambria" pitchFamily="34" charset="0"/>
                <a:ea typeface="Cambria" pitchFamily="34" charset="-122"/>
                <a:cs typeface="Cambria" pitchFamily="34" charset="-120"/>
              </a:rPr>
              <a:t>Before You Close Your Laptop</a:t>
            </a:r>
            <a:endParaRPr lang="en-US" sz="2200" dirty="0"/>
          </a:p>
        </p:txBody>
      </p:sp>
      <p:sp>
        <p:nvSpPr>
          <p:cNvPr id="3" name="Shape 1"/>
          <p:cNvSpPr/>
          <p:nvPr/>
        </p:nvSpPr>
        <p:spPr>
          <a:xfrm>
            <a:off x="548640" y="1097280"/>
            <a:ext cx="8046720" cy="640080"/>
          </a:xfrm>
          <a:prstGeom prst="roundRect">
            <a:avLst>
              <a:gd name="adj" fmla="val 8571"/>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731520" y="1097280"/>
            <a:ext cx="457200" cy="64008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 name="Text 3"/>
          <p:cNvSpPr/>
          <p:nvPr/>
        </p:nvSpPr>
        <p:spPr>
          <a:xfrm>
            <a:off x="1280160" y="1097280"/>
            <a:ext cx="7132320" cy="64008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Star both repos (yours and your partner’s) on GitHub.com — click the star icon so you can find them in Your Stars later.</a:t>
            </a:r>
            <a:endParaRPr lang="en-US" sz="1200" dirty="0"/>
          </a:p>
        </p:txBody>
      </p:sp>
      <p:sp>
        <p:nvSpPr>
          <p:cNvPr id="6" name="Shape 4"/>
          <p:cNvSpPr/>
          <p:nvPr/>
        </p:nvSpPr>
        <p:spPr>
          <a:xfrm>
            <a:off x="548640" y="1920240"/>
            <a:ext cx="8046720" cy="640080"/>
          </a:xfrm>
          <a:prstGeom prst="roundRect">
            <a:avLst>
              <a:gd name="adj" fmla="val 8571"/>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731520" y="1920240"/>
            <a:ext cx="457200" cy="64008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8" name="Text 6"/>
          <p:cNvSpPr/>
          <p:nvPr/>
        </p:nvSpPr>
        <p:spPr>
          <a:xfrm>
            <a:off x="1280160" y="1920240"/>
            <a:ext cx="7132320" cy="64008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Bookmark the workshop materials folder (Google Drive link).</a:t>
            </a:r>
            <a:endParaRPr lang="en-US" sz="1200" dirty="0"/>
          </a:p>
        </p:txBody>
      </p:sp>
      <p:sp>
        <p:nvSpPr>
          <p:cNvPr id="9" name="Shape 7"/>
          <p:cNvSpPr/>
          <p:nvPr/>
        </p:nvSpPr>
        <p:spPr>
          <a:xfrm>
            <a:off x="548640" y="2743200"/>
            <a:ext cx="8046720" cy="640080"/>
          </a:xfrm>
          <a:prstGeom prst="roundRect">
            <a:avLst>
              <a:gd name="adj" fmla="val 8571"/>
            </a:avLst>
          </a:prstGeom>
          <a:solidFill>
            <a:srgbClr val="FFF8F0"/>
          </a:solidFill>
          <a:ln/>
          <a:effectLst>
            <a:outerShdw blurRad="63500" dist="25400" dir="2700000" algn="bl" rotWithShape="0">
              <a:srgbClr val="000000">
                <a:alpha val="12000"/>
              </a:srgbClr>
            </a:outerShdw>
          </a:effectLst>
        </p:spPr>
        <p:txBody>
          <a:bodyPr/>
          <a:lstStyle/>
          <a:p>
            <a:endParaRPr lang="en-US"/>
          </a:p>
        </p:txBody>
      </p:sp>
      <p:sp>
        <p:nvSpPr>
          <p:cNvPr id="10" name="Text 8"/>
          <p:cNvSpPr/>
          <p:nvPr/>
        </p:nvSpPr>
        <p:spPr>
          <a:xfrm>
            <a:off x="731520" y="2743200"/>
            <a:ext cx="457200" cy="64008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1" name="Text 9"/>
          <p:cNvSpPr/>
          <p:nvPr/>
        </p:nvSpPr>
        <p:spPr>
          <a:xfrm>
            <a:off x="1280160" y="2743200"/>
            <a:ext cx="7132320" cy="640080"/>
          </a:xfrm>
          <a:prstGeom prst="rect">
            <a:avLst/>
          </a:prstGeom>
          <a:noFill/>
          <a:ln/>
        </p:spPr>
        <p:txBody>
          <a:bodyPr wrap="square" lIns="0" tIns="0" rIns="0" bIns="0" rtlCol="0" anchor="ctr"/>
          <a:lstStyle/>
          <a:p>
            <a:pPr marL="0" indent="0">
              <a:buNone/>
            </a:pPr>
            <a:r>
              <a:rPr lang="en-US" sz="1200" dirty="0">
                <a:solidFill>
                  <a:srgbClr val="3D2B1F"/>
                </a:solidFill>
                <a:latin typeface="Calibri" pitchFamily="34" charset="0"/>
                <a:ea typeface="Calibri" pitchFamily="34" charset="-122"/>
                <a:cs typeface="Calibri" pitchFamily="34" charset="-120"/>
              </a:rPr>
              <a:t>Confirm you can find your repos from your GitHub profile → Your Repositories.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3D2B1F"/>
        </a:solidFill>
        <a:effectLst/>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Thanks, Upskillers.</a:t>
            </a:r>
            <a:endParaRPr lang="en-US" sz="3000" dirty="0"/>
          </a:p>
        </p:txBody>
      </p:sp>
      <p:sp>
        <p:nvSpPr>
          <p:cNvPr id="3" name="Text 1"/>
          <p:cNvSpPr/>
          <p:nvPr/>
        </p:nvSpPr>
        <p:spPr>
          <a:xfrm>
            <a:off x="1097280" y="1737360"/>
            <a:ext cx="6949440" cy="1463040"/>
          </a:xfrm>
          <a:prstGeom prst="rect">
            <a:avLst/>
          </a:prstGeom>
          <a:noFill/>
          <a:ln/>
        </p:spPr>
        <p:txBody>
          <a:bodyPr wrap="square" lIns="0" tIns="0" rIns="0" bIns="0" rtlCol="0" anchor="ctr"/>
          <a:lstStyle/>
          <a:p>
            <a:pPr marL="0" indent="0" algn="ctr">
              <a:lnSpc>
                <a:spcPct val="160000"/>
              </a:lnSpc>
              <a:buNone/>
            </a:pPr>
            <a:r>
              <a:rPr lang="en-US" sz="1500" b="1" dirty="0">
                <a:solidFill>
                  <a:srgbClr val="F0DCC0"/>
                </a:solidFill>
                <a:latin typeface="Calibri" pitchFamily="34" charset="0"/>
                <a:ea typeface="Calibri" pitchFamily="34" charset="-122"/>
                <a:cs typeface="Calibri" pitchFamily="34" charset="-120"/>
              </a:rPr>
              <a:t>Short anecdote: </a:t>
            </a:r>
            <a:r>
              <a:rPr lang="en-US" sz="1500" dirty="0">
                <a:solidFill>
                  <a:srgbClr val="F0DCC0"/>
                </a:solidFill>
                <a:latin typeface="Calibri" pitchFamily="34" charset="0"/>
                <a:ea typeface="Calibri" pitchFamily="34" charset="-122"/>
                <a:cs typeface="Calibri" pitchFamily="34" charset="-120"/>
              </a:rPr>
              <a:t>It took me a while to get used to Git and GitHub.</a:t>
            </a:r>
            <a:endParaRPr lang="en-US" sz="1500" dirty="0"/>
          </a:p>
          <a:p>
            <a:pPr marL="0" indent="0" algn="ctr">
              <a:lnSpc>
                <a:spcPct val="160000"/>
              </a:lnSpc>
              <a:buNone/>
            </a:pPr>
            <a:r>
              <a:rPr lang="en-US" sz="1500" dirty="0">
                <a:solidFill>
                  <a:srgbClr val="F0DCC0"/>
                </a:solidFill>
                <a:latin typeface="Calibri" pitchFamily="34" charset="0"/>
                <a:ea typeface="Calibri" pitchFamily="34" charset="-122"/>
                <a:cs typeface="Calibri" pitchFamily="34" charset="-120"/>
              </a:rPr>
              <a:t>However, as you build with your team and run through the cycle dozens of times,</a:t>
            </a:r>
            <a:endParaRPr lang="en-US" sz="1500" dirty="0"/>
          </a:p>
          <a:p>
            <a:pPr marL="0" indent="0" algn="ctr">
              <a:lnSpc>
                <a:spcPct val="160000"/>
              </a:lnSpc>
              <a:buNone/>
            </a:pPr>
            <a:r>
              <a:rPr lang="en-US" sz="1500" dirty="0">
                <a:solidFill>
                  <a:srgbClr val="F0DCC0"/>
                </a:solidFill>
                <a:latin typeface="Calibri" pitchFamily="34" charset="0"/>
                <a:ea typeface="Calibri" pitchFamily="34" charset="-122"/>
                <a:cs typeface="Calibri" pitchFamily="34" charset="-120"/>
              </a:rPr>
              <a:t>it will become second nature.</a:t>
            </a:r>
            <a:endParaRPr lang="en-US" sz="1500" dirty="0"/>
          </a:p>
          <a:p>
            <a:pPr marL="0" indent="0" algn="ctr">
              <a:lnSpc>
                <a:spcPct val="160000"/>
              </a:lnSpc>
              <a:buNone/>
            </a:pPr>
            <a:r>
              <a:rPr lang="en-US" sz="1500" b="1" dirty="0">
                <a:solidFill>
                  <a:srgbClr val="F0DCC0"/>
                </a:solidFill>
                <a:latin typeface="Calibri" pitchFamily="34" charset="0"/>
                <a:ea typeface="Calibri" pitchFamily="34" charset="-122"/>
                <a:cs typeface="Calibri" pitchFamily="34" charset="-120"/>
              </a:rPr>
              <a:t>Just start make sure you start early and keep working with version control!</a:t>
            </a:r>
            <a:endParaRPr lang="en-US" sz="1500" dirty="0"/>
          </a:p>
        </p:txBody>
      </p:sp>
      <p:sp>
        <p:nvSpPr>
          <p:cNvPr id="4" name="Text 2"/>
          <p:cNvSpPr/>
          <p:nvPr/>
        </p:nvSpPr>
        <p:spPr>
          <a:xfrm>
            <a:off x="1097280" y="3474720"/>
            <a:ext cx="6949440" cy="914400"/>
          </a:xfrm>
          <a:prstGeom prst="rect">
            <a:avLst/>
          </a:prstGeom>
          <a:noFill/>
          <a:ln/>
        </p:spPr>
        <p:txBody>
          <a:bodyPr wrap="square" lIns="0" tIns="0" rIns="0" bIns="0" rtlCol="0" anchor="ctr"/>
          <a:lstStyle/>
          <a:p>
            <a:pPr marL="0" indent="0" algn="ctr">
              <a:buNone/>
            </a:pPr>
            <a:r>
              <a:rPr lang="en-US" sz="1300" b="1" dirty="0">
                <a:solidFill>
                  <a:srgbClr val="E7C39A"/>
                </a:solidFill>
                <a:latin typeface="Calibri" pitchFamily="34" charset="0"/>
                <a:ea typeface="Calibri" pitchFamily="34" charset="-122"/>
                <a:cs typeface="Calibri" pitchFamily="34" charset="-120"/>
              </a:rPr>
              <a:t>Aaron McKeever</a:t>
            </a:r>
            <a:endParaRPr lang="en-US" sz="1300" dirty="0"/>
          </a:p>
          <a:p>
            <a:pPr marL="0" indent="0" algn="ctr">
              <a:buNone/>
            </a:pPr>
            <a:r>
              <a:rPr lang="en-US" sz="1100" dirty="0">
                <a:solidFill>
                  <a:srgbClr val="E7C39A"/>
                </a:solidFill>
                <a:latin typeface="Calibri" pitchFamily="34" charset="0"/>
                <a:ea typeface="Calibri" pitchFamily="34" charset="-122"/>
                <a:cs typeface="Calibri" pitchFamily="34" charset="-120"/>
              </a:rPr>
              <a:t>Slack  |  Calendly  | GitHub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3590</Words>
  <Application>Microsoft Macintosh PowerPoint</Application>
  <PresentationFormat>On-screen Show (16:9)</PresentationFormat>
  <Paragraphs>398</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2.0: The Handoff</dc:title>
  <dc:subject>PptxGenJS Presentation</dc:subject>
  <dc:creator>The Upskilling Labs</dc:creator>
  <cp:lastModifiedBy>Aaron McKeever</cp:lastModifiedBy>
  <cp:revision>2</cp:revision>
  <dcterms:created xsi:type="dcterms:W3CDTF">2026-06-16T16:43:10Z</dcterms:created>
  <dcterms:modified xsi:type="dcterms:W3CDTF">2026-06-16T20:10:12Z</dcterms:modified>
</cp:coreProperties>
</file>