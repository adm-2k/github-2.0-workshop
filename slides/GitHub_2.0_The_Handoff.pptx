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p:scale>
          <a:sx n="93" d="100"/>
          <a:sy n="93" d="100"/>
        </p:scale>
        <p:origin x="1512" y="8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5797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up while people settle. One minute of framing when you start: last time we each made our own repo and pushed our own changes. Today we hand code to a partner and get it back in one piece. Both of you build, both of you edit, both of you review. Nobody watches from the sidelines.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ARRIVAL · 10 MIN. Walk the room and personally confirm every Replit account shows GitHub as connected. The OAuth hiccup (browser opens, nothing happens back in Replit) usually clears by signing out of Replit and back in. Have two or three pre-connected backup Replit accounts. Anyone whose Desktop or VS Code is broken is in Lane B (browser) today; note who they are so mentors can find them in Round 2. Anyone who missed Workshop 1 entirely: pair them with someone who did not, and let the partner navigate.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Say the bait line out loud; you will say it again when pairs start perfecting their page. We wait for the room at three checkpoints, one after each round. If you fall behind, the handout has the same step numbers as the slides.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 10 MIN. Frame this as "here is the map for today", not "remember last time". Do not re-teach account setup, installation or the glossary. If someone missed Workshop 1, the handout has everything and their partner navigates.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 out loud: "I know. Last time I literally told you to commit to main. That was training wheels. Today the training wheels come off." Two minutes. The exception is deliberate: we do not want people making a branch just to add a prompt doc to an empty repo, and it gives you a chance to say "that is the last commit to main you will make this cycle".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Trace it with your hand: off main, work, propose, merge back. The scratch-paper line does the work. Ask the room to predict what happens if two people change the same line on two branches and both open pull requests. Confirm: GitHub will not guess; it shows you both and asks you to decide. That is a feature.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 three minutes. This is the slide that answers the question you get asked most. Moment 2 is the one people miss: "I got the header working, now I want to try the nav, do I keep going on this branch?" No. Merge what works, then branch again. Small merges are boring merges. If asked "how small is too small", the answer is: a branch with one commit and a one-line PR is completely fine.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Steps 1 to 5 are Workshop 1 muscle memory. Steps 6 to 8 were defined last time but never shown; today everyone does them for real, twice (once as the author, once as the reviewer).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This is the slide that answers "can we use Git in Replit?" Yes, and here is how it connects to everything else. A commit made in any window shows up in the others. The build cycle will have teammates in different windows on the same repo; GitHub.com is where they meet. Lane B (browser) is the fallback for anyone whose install is broken, and it is also a legitimate window for quick edits.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wrap · 60 seconds. "Take fifteen seconds and trace the three rounds with your eyes." We return to this slide before every round with the current round highlighted. The handout has the same three columns on page 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 8 MIN, hard stop. Use the pre-built demo repo so the Replit generation is already done; do not generate live. A co-mentor plays the partner on a second laptop. Resist teaching during the demo; the teaching happens in their hands in Rounds 1 to 3. If the projector shows a permission prompt or a fork prompt, do not hide it: that is exactly what they will see.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script, one line per moment. (1) "I paste my prompt, Replit builds, I push from the Git pane. My code is on main. Now my prompt doc and my invite. My work is visible to my partner." (2) "My partner accepts the invite, clones in Desktop, and before touching anything makes a branch. Top bar: feature/demo-edit, not main." (3) "One change, commit with context, Publish branch. On GitHub.com the yellow banner. Compare &amp; pull request. This is a proposal." (4) "I read the diff, green and red, one comment, merge, delete the branch. In Replit, Git pane, Pull. The change came home and I never touched the code." Stop there.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"Round 1: you build. Both of you, at the same time, on your own Replit account."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 15 MIN. Mentors circulate hardest during steps 1.2 and 1.6. The room will finish at different speeds; fast pairs should open index.html in Replit and find their own tagline in the code, which primes them to help their partner in Round 2. Say the credit rule out loud: one generation, no iterating.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5 MIN. Watch for people who start iterating ("can you make it blue?"). Stop them kindly: every extra generation is a credit they need in the build cycle. If Agent wraps the page in a small Node or Python server, that is fine; the prompt still produces a readable index.html. If generation stalls past three minutes, move that pair to the backup repo.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4 MIN. The most common stall is a Replit account that was never connected to GitHub. Second most common: the repo was created private. Public matters today because the browser lane and troubleshooting are simpler with public repos. Confirm the button labels on the demo machine before the session; Replit renames things without notice.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3 MIN. The prompt doc is the map your partner reads in Round 2, so it has to contain the actual filled-in text, not the blank template. The main/master check is the accuracy fix from last time: if a pair has two branches, either switch the default branch to master in Settings → General, or rename the branch in Replit's Git pane and push again. Decide once for the pair and tell the partner which branch to branch from.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3 MIN. Step 1.6 is the gate for Round 2, so we hold here. The fork trap: Desktop happily clones a public repo you do not have write access to, and when you try to Publish branch it says "You don't have write access, do you want to fork?" People click yes, the branch goes to their fork, and the PR banner appears on the fork instead of the partner's repo. Accepting first prevents all of it. Call it out twice.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1. Ask for thumbs, count them, and wait. This is the moment the workshop either works or does not, because everything in Round 2 depends on the invite being accepted. Pairs who are done: have them open their own index.html and find the tagline in the code. Pairs who are stuck on Replit: hand them the backup repo now and let them start Round 2 on time.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"Round 2: you edit your partner's code. Both of you at once. The person whose repo it is reads the steps aloud and keeps their hands off the keyboard."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 · 22 MIN. The heart of the workshop. The two predictable failures: editing on main (check the branch indicator before anyone opens VS Code) and not finding the text (teach Ctrl/Cmd+Shift+F by name). Lane B people press the dot key on the repo page and follow the same steps in github.dev.</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4 MIN. The GitHub.com tab only lists repos you have access to, which is why "is it in the list?" is the access check. If someone pastes a URL instead, they will clone fine and fail at publish; better to catch it here. Lane B people are done as soon as github.dev loads.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2 MIN. Have every pair say their branch name out loud before anyone opens VS Code. If someone already edited on main: Current Branch → New Branch, and Desktop offers to bring the uncommitted changes along. Say yes. Nothing is lost.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3 MIN. Teach the shortcut by name and have everyone press it. If search returns nothing, they are probably in their own repo instead of their partner's; check Desktop's top-left. The prompt doc is the map: if a partner skipped 1.4, the editor can still find the tagline by opening index.html and reading the header.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5 MIN. Option 1 is a real accomplishment: navigating an unfamiliar codebase and making a targeted change. Option 3 quietly teaches the deepest habit, using AI as a reading aid for inherited code and leaving a record of it in the repo. Mentors circulate hardest here. Watch for people who forget to save: Git only sees saved files, so Desktop shows nothing until they do.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3 MIN. Commit messages carry the who/how context that Protocol rule 5 asks for. The fork prompt is the most confusing thing in the workshop and it is entirely avoidable by accepting the invite first; if a pair hits it anyway, project their screen (with consent) and fix it as a room. Every failure is curriculum.</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5 MIN. The yellow banner is the moment they have been building toward; make sure everyone sees it before moving on. If the banner does not appear, Pull requests tab → New pull request → pick the branch. The base/compare check catches forks and the main/master case: if the base offers master and main, pick the one that has the code.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2. Count thumbs. Do not let the back of the room silently fall a round behind. Pairs who are done: have the author read their own Files changed tab while they wait, so the reviewer conversation in Round 3 is a real 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seconds. "Round 3: switch to your own repo. Your partner's pull request is waiting for you."</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3 · 10 MIN. This is the review flow. In a real team you would read carefully, ask questions, maybe request changes. Today the point is that you can see exactly what changed before it counts.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4 MIN. Have people say what changed in their partner's PR out loud to each other. If someone chose the AI palette change, their diff includes a new file prompts/edit-1.md; point out that the reviewer can read exactly how the AI was used.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 4 MIN. When the first pair sees the change appear in Replit, make it a shared moment; ask them to call it out. A merge conflict at this stage is unlikely (each repo only had one branch) but if one appears, project it: the &lt;&lt;&lt;&lt;&lt;&lt;&lt; markers, keep the line you want, delete the markers, commit. It is the exact moment the build cycle will produce.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3. Say the whole round trip out loud as a room. Optional role swap if you are more than five minutes ahead: each person makes one more change on a new branch (moment 2 from "when do I branch"), PR, partner merges. Otherwise go straight to Part 4.</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 8 MIN. Walk the protocol, do not read it. Connect each rule to a moment from today: rule 2 is step 2.3, rule 6 is Rounds 2 and 3, rule 8 is the "one repo, three windows" slide.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All eight rules, restored (the previous deck dropped rule 8). Rule 8 is the answer to "but I use Lovable / Cursor / Replit": use whatever you build in. The repo is the meeting point.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Item 2 is the bridge from today to the build cycle. Ask each team to schedule it before they leave.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slide is emotional as much as technical: Git protects your work, and asking for help is the workflow, not a failure of it.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Contact: Slack message, drop-in time through Calendly. If you hit a wall during the build cycle, post in Slack before spending an hour stuck.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people pack. The QR is the same feedback form used in Workshop 1; replace the image if there is a new form. Paste the link in Slack for anyone who cannot scan.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6156655" y="6126480"/>
            <a:ext cx="5532120" cy="274320"/>
          </a:xfrm>
          <a:prstGeom prst="rect">
            <a:avLst/>
          </a:prstGeom>
          <a:noFill/>
          <a:ln/>
        </p:spPr>
        <p:txBody>
          <a:bodyPr wrap="square" lIns="0" tIns="0" rIns="0" bIns="0" rtlCol="0" anchor="ctr"/>
          <a:lstStyle/>
          <a:p>
            <a:pPr marL="0" indent="0" algn="r">
              <a:buNone/>
            </a:pPr>
            <a:r>
              <a:rPr lang="en-US" sz="850" dirty="0">
                <a:solidFill>
                  <a:srgbClr val="7FA3AD"/>
                </a:solidFill>
                <a:latin typeface="Geologica" pitchFamily="34" charset="0"/>
                <a:ea typeface="Geologica" pitchFamily="34" charset="-122"/>
                <a:cs typeface="Geologica" pitchFamily="34" charset="-120"/>
              </a:rPr>
              <a:t>Hands-On Learning  ·  Peer-Driven Community  ·  Local Expert Network</a:t>
            </a:r>
            <a:endParaRPr lang="en-US" sz="850" dirty="0"/>
          </a:p>
        </p:txBody>
      </p:sp>
      <p:sp>
        <p:nvSpPr>
          <p:cNvPr id="4" name="Shape 1"/>
          <p:cNvSpPr/>
          <p:nvPr/>
        </p:nvSpPr>
        <p:spPr>
          <a:xfrm>
            <a:off x="502920" y="1828800"/>
            <a:ext cx="299008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48640" y="1828800"/>
            <a:ext cx="289864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THE UPSKILLING LABS · WORKSHOP 2</a:t>
            </a:r>
            <a:endParaRPr lang="en-US" sz="850" dirty="0"/>
          </a:p>
        </p:txBody>
      </p:sp>
      <p:sp>
        <p:nvSpPr>
          <p:cNvPr id="6" name="Text 3"/>
          <p:cNvSpPr txBox="1"/>
          <p:nvPr/>
        </p:nvSpPr>
        <p:spPr>
          <a:xfrm>
            <a:off x="566928" y="2240280"/>
            <a:ext cx="10972800" cy="1097280"/>
          </a:xfrm>
          <a:prstGeom prst="rect">
            <a:avLst/>
          </a:prstGeom>
          <a:noFill/>
          <a:ln/>
        </p:spPr>
        <p:txBody>
          <a:bodyPr wrap="square" lIns="0" tIns="0" rIns="0" bIns="0" rtlCol="0" anchor="ctr"/>
          <a:lstStyle/>
          <a:p>
            <a:pPr marL="0" indent="0">
              <a:buNone/>
            </a:pPr>
            <a:r>
              <a:rPr lang="en-US" sz="5200" b="1" dirty="0">
                <a:solidFill>
                  <a:srgbClr val="FFFFFF"/>
                </a:solidFill>
                <a:latin typeface="Geologica" pitchFamily="34" charset="0"/>
                <a:ea typeface="Geologica" pitchFamily="34" charset="-122"/>
                <a:cs typeface="Geologica" pitchFamily="34" charset="-120"/>
              </a:rPr>
              <a:t>GitHub 2.0</a:t>
            </a:r>
            <a:endParaRPr lang="en-US" sz="5200" dirty="0"/>
          </a:p>
        </p:txBody>
      </p:sp>
      <p:sp>
        <p:nvSpPr>
          <p:cNvPr id="7" name="Text 4"/>
          <p:cNvSpPr txBox="1"/>
          <p:nvPr/>
        </p:nvSpPr>
        <p:spPr>
          <a:xfrm>
            <a:off x="594360" y="3337560"/>
            <a:ext cx="10058400" cy="548640"/>
          </a:xfrm>
          <a:prstGeom prst="rect">
            <a:avLst/>
          </a:prstGeom>
          <a:noFill/>
          <a:ln/>
        </p:spPr>
        <p:txBody>
          <a:bodyPr wrap="square" lIns="0" tIns="0" rIns="0" bIns="0" rtlCol="0" anchor="ctr"/>
          <a:lstStyle/>
          <a:p>
            <a:pPr marL="0" indent="0">
              <a:buNone/>
            </a:pPr>
            <a:r>
              <a:rPr lang="en-US" sz="2000" dirty="0">
                <a:solidFill>
                  <a:srgbClr val="E4EEF1"/>
                </a:solidFill>
                <a:latin typeface="Geologica" pitchFamily="34" charset="0"/>
                <a:ea typeface="Geologica" pitchFamily="34" charset="-122"/>
                <a:cs typeface="Geologica" pitchFamily="34" charset="-120"/>
              </a:rPr>
              <a:t>Building together without breaking things</a:t>
            </a:r>
            <a:endParaRPr lang="en-US" sz="2000" dirty="0"/>
          </a:p>
        </p:txBody>
      </p:sp>
      <p:sp>
        <p:nvSpPr>
          <p:cNvPr id="8" name="Text 5"/>
          <p:cNvSpPr txBox="1"/>
          <p:nvPr/>
        </p:nvSpPr>
        <p:spPr>
          <a:xfrm>
            <a:off x="594360" y="3977640"/>
            <a:ext cx="7315200" cy="36576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Led by Aaron McKeever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02</a:t>
            </a:r>
            <a:endParaRPr lang="en-US" sz="900" dirty="0"/>
          </a:p>
        </p:txBody>
      </p:sp>
      <p:sp>
        <p:nvSpPr>
          <p:cNvPr id="4" name="Shape 1"/>
          <p:cNvSpPr/>
          <p:nvPr/>
        </p:nvSpPr>
        <p:spPr>
          <a:xfrm>
            <a:off x="594360" y="502920"/>
            <a:ext cx="1577340"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577340"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BEFORE WE START</a:t>
            </a:r>
            <a:endParaRPr lang="en-US" sz="850" dirty="0"/>
          </a:p>
        </p:txBody>
      </p:sp>
      <p:sp>
        <p:nvSpPr>
          <p:cNvPr id="6" name="Shape 3"/>
          <p:cNvSpPr/>
          <p:nvPr/>
        </p:nvSpPr>
        <p:spPr>
          <a:xfrm>
            <a:off x="9000439" y="502920"/>
            <a:ext cx="2596896"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000439" y="502920"/>
            <a:ext cx="2596896"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AS YOU ARRIVE · SELF-PACED</a:t>
            </a:r>
            <a:endParaRPr lang="en-US" sz="850" dirty="0"/>
          </a:p>
        </p:txBody>
      </p:sp>
      <p:sp>
        <p:nvSpPr>
          <p:cNvPr id="8" name="Text 5"/>
          <p:cNvSpPr txBox="1"/>
          <p:nvPr/>
        </p:nvSpPr>
        <p:spPr>
          <a:xfrm>
            <a:off x="566928" y="868680"/>
            <a:ext cx="3657202" cy="731520"/>
          </a:xfrm>
          <a:prstGeom prst="rect">
            <a:avLst/>
          </a:prstGeom>
          <a:noFill/>
          <a:ln/>
        </p:spPr>
        <p:txBody>
          <a:bodyPr wrap="square" lIns="0" tIns="0" rIns="0" bIns="0" rtlCol="0" anchor="t"/>
          <a:lstStyle/>
          <a:p>
            <a:r>
              <a:rPr lang="en-US" sz="3000" b="1" dirty="0">
                <a:solidFill>
                  <a:srgbClr val="FFFFFF"/>
                </a:solidFill>
                <a:latin typeface="Geologica" pitchFamily="34" charset="0"/>
                <a:ea typeface="Geologica" pitchFamily="34" charset="-122"/>
                <a:cs typeface="Geologica" pitchFamily="34" charset="-120"/>
              </a:rPr>
              <a:t>While you wait…</a:t>
            </a:r>
            <a:endParaRPr lang="en-US" sz="3000" dirty="0"/>
          </a:p>
        </p:txBody>
      </p:sp>
      <p:sp>
        <p:nvSpPr>
          <p:cNvPr id="9" name="Shape 6"/>
          <p:cNvSpPr/>
          <p:nvPr/>
        </p:nvSpPr>
        <p:spPr>
          <a:xfrm>
            <a:off x="594360" y="1874520"/>
            <a:ext cx="3520440" cy="3017520"/>
          </a:xfrm>
          <a:prstGeom prst="roundRect">
            <a:avLst>
              <a:gd name="adj" fmla="val 3636"/>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1</a:t>
            </a:r>
            <a:endParaRPr lang="en-US" sz="2400" dirty="0"/>
          </a:p>
        </p:txBody>
      </p:sp>
      <p:sp>
        <p:nvSpPr>
          <p:cNvPr id="11" name="Text 8"/>
          <p:cNvSpPr txBox="1"/>
          <p:nvPr/>
        </p:nvSpPr>
        <p:spPr>
          <a:xfrm>
            <a:off x="1325880" y="2075688"/>
            <a:ext cx="2606040" cy="36576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Confirm your toolkit</a:t>
            </a:r>
            <a:endParaRPr lang="en-US" sz="1300" dirty="0"/>
          </a:p>
        </p:txBody>
      </p:sp>
      <p:sp>
        <p:nvSpPr>
          <p:cNvPr id="12" name="Shape 9"/>
          <p:cNvSpPr/>
          <p:nvPr/>
        </p:nvSpPr>
        <p:spPr>
          <a:xfrm>
            <a:off x="822960" y="2551176"/>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3" name="Text 10"/>
          <p:cNvSpPr txBox="1"/>
          <p:nvPr/>
        </p:nvSpPr>
        <p:spPr>
          <a:xfrm>
            <a:off x="822960" y="2551176"/>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4" name="Text 11"/>
          <p:cNvSpPr txBox="1"/>
          <p:nvPr/>
        </p:nvSpPr>
        <p:spPr>
          <a:xfrm>
            <a:off x="1216152" y="2514600"/>
            <a:ext cx="2651760" cy="566928"/>
          </a:xfrm>
          <a:prstGeom prst="rect">
            <a:avLst/>
          </a:prstGeom>
          <a:noFill/>
          <a:ln/>
        </p:spPr>
        <p:txBody>
          <a:bodyPr wrap="square" lIns="0" tIns="0" rIns="0" bIns="0" rtlCol="0" anchor="t"/>
          <a:lstStyle/>
          <a:p>
            <a:pPr marL="0" indent="0">
              <a:buNone/>
            </a:pPr>
            <a:r>
              <a:rPr lang="en-US" sz="1100" dirty="0">
                <a:solidFill>
                  <a:srgbClr val="E4EEF1"/>
                </a:solidFill>
                <a:latin typeface="Geologica" pitchFamily="34" charset="0"/>
                <a:ea typeface="Geologica" pitchFamily="34" charset="-122"/>
                <a:cs typeface="Geologica" pitchFamily="34" charset="-120"/>
              </a:rPr>
              <a:t>Open GitHub Desktop and confirm you are signed in</a:t>
            </a:r>
            <a:endParaRPr lang="en-US" sz="1100" dirty="0"/>
          </a:p>
        </p:txBody>
      </p:sp>
      <p:sp>
        <p:nvSpPr>
          <p:cNvPr id="15" name="Shape 12"/>
          <p:cNvSpPr/>
          <p:nvPr/>
        </p:nvSpPr>
        <p:spPr>
          <a:xfrm>
            <a:off x="822960" y="3118104"/>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6" name="Text 13"/>
          <p:cNvSpPr txBox="1"/>
          <p:nvPr/>
        </p:nvSpPr>
        <p:spPr>
          <a:xfrm>
            <a:off x="822960" y="3118104"/>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7" name="Text 14"/>
          <p:cNvSpPr txBox="1"/>
          <p:nvPr/>
        </p:nvSpPr>
        <p:spPr>
          <a:xfrm>
            <a:off x="1216152" y="3081528"/>
            <a:ext cx="2651760" cy="566928"/>
          </a:xfrm>
          <a:prstGeom prst="rect">
            <a:avLst/>
          </a:prstGeom>
          <a:noFill/>
          <a:ln/>
        </p:spPr>
        <p:txBody>
          <a:bodyPr wrap="square" lIns="0" tIns="0" rIns="0" bIns="0" rtlCol="0" anchor="t"/>
          <a:lstStyle/>
          <a:p>
            <a:pPr marL="0" indent="0">
              <a:buNone/>
            </a:pPr>
            <a:r>
              <a:rPr lang="en-US" sz="1100" dirty="0">
                <a:solidFill>
                  <a:srgbClr val="E4EEF1"/>
                </a:solidFill>
                <a:latin typeface="Geologica" pitchFamily="34" charset="0"/>
                <a:ea typeface="Geologica" pitchFamily="34" charset="-122"/>
                <a:cs typeface="Geologica" pitchFamily="34" charset="-120"/>
              </a:rPr>
              <a:t>Open VS Code</a:t>
            </a:r>
            <a:endParaRPr lang="en-US" sz="1100" dirty="0"/>
          </a:p>
        </p:txBody>
      </p:sp>
      <p:sp>
        <p:nvSpPr>
          <p:cNvPr id="18" name="Shape 15"/>
          <p:cNvSpPr/>
          <p:nvPr/>
        </p:nvSpPr>
        <p:spPr>
          <a:xfrm>
            <a:off x="822960" y="368503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9" name="Text 16"/>
          <p:cNvSpPr txBox="1"/>
          <p:nvPr/>
        </p:nvSpPr>
        <p:spPr>
          <a:xfrm>
            <a:off x="822960" y="368503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20" name="Text 17"/>
          <p:cNvSpPr txBox="1"/>
          <p:nvPr/>
        </p:nvSpPr>
        <p:spPr>
          <a:xfrm>
            <a:off x="1216152" y="3648456"/>
            <a:ext cx="2651760" cy="566928"/>
          </a:xfrm>
          <a:prstGeom prst="rect">
            <a:avLst/>
          </a:prstGeom>
          <a:noFill/>
          <a:ln/>
        </p:spPr>
        <p:txBody>
          <a:bodyPr wrap="square" lIns="0" tIns="0" rIns="0" bIns="0" rtlCol="0" anchor="t"/>
          <a:lstStyle/>
          <a:p>
            <a:pPr marL="0" indent="0">
              <a:buNone/>
            </a:pPr>
            <a:r>
              <a:rPr lang="en-US" sz="1100" dirty="0">
                <a:solidFill>
                  <a:srgbClr val="E4EEF1"/>
                </a:solidFill>
                <a:latin typeface="Geologica" pitchFamily="34" charset="0"/>
                <a:ea typeface="Geologica" pitchFamily="34" charset="-122"/>
                <a:cs typeface="Geologica" pitchFamily="34" charset="-120"/>
              </a:rPr>
              <a:t>Missing or broken? Flag for help or follow Lane B today (browser). Tell a mentor so we know.</a:t>
            </a:r>
            <a:endParaRPr lang="en-US" sz="1100" dirty="0"/>
          </a:p>
        </p:txBody>
      </p:sp>
      <p:sp>
        <p:nvSpPr>
          <p:cNvPr id="21" name="Shape 18"/>
          <p:cNvSpPr/>
          <p:nvPr/>
        </p:nvSpPr>
        <p:spPr>
          <a:xfrm>
            <a:off x="4334256" y="1874520"/>
            <a:ext cx="3520440" cy="3017520"/>
          </a:xfrm>
          <a:prstGeom prst="roundRect">
            <a:avLst>
              <a:gd name="adj" fmla="val 3636"/>
            </a:avLst>
          </a:prstGeom>
          <a:solidFill>
            <a:srgbClr val="0F2831">
              <a:alpha val="88000"/>
            </a:srgbClr>
          </a:solidFill>
          <a:ln w="9525">
            <a:solidFill>
              <a:srgbClr val="1E4A55"/>
            </a:solidFill>
            <a:prstDash val="solid"/>
          </a:ln>
        </p:spPr>
        <p:txBody>
          <a:bodyPr/>
          <a:lstStyle/>
          <a:p>
            <a:endParaRPr lang="en-US"/>
          </a:p>
        </p:txBody>
      </p:sp>
      <p:sp>
        <p:nvSpPr>
          <p:cNvPr id="22" name="Text 19"/>
          <p:cNvSpPr txBox="1"/>
          <p:nvPr/>
        </p:nvSpPr>
        <p:spPr>
          <a:xfrm>
            <a:off x="4562856"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2</a:t>
            </a:r>
            <a:endParaRPr lang="en-US" sz="2400" dirty="0"/>
          </a:p>
        </p:txBody>
      </p:sp>
      <p:sp>
        <p:nvSpPr>
          <p:cNvPr id="23" name="Text 20"/>
          <p:cNvSpPr txBox="1"/>
          <p:nvPr/>
        </p:nvSpPr>
        <p:spPr>
          <a:xfrm>
            <a:off x="5065776" y="2075688"/>
            <a:ext cx="2606040" cy="36576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Connect Replit to GitHub</a:t>
            </a:r>
            <a:endParaRPr lang="en-US" sz="1300" dirty="0"/>
          </a:p>
        </p:txBody>
      </p:sp>
      <p:sp>
        <p:nvSpPr>
          <p:cNvPr id="24" name="Shape 21"/>
          <p:cNvSpPr/>
          <p:nvPr/>
        </p:nvSpPr>
        <p:spPr>
          <a:xfrm>
            <a:off x="4562856" y="2551176"/>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5" name="Text 22"/>
          <p:cNvSpPr txBox="1"/>
          <p:nvPr/>
        </p:nvSpPr>
        <p:spPr>
          <a:xfrm>
            <a:off x="4562856" y="2551176"/>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26" name="Text 23"/>
          <p:cNvSpPr txBox="1"/>
          <p:nvPr/>
        </p:nvSpPr>
        <p:spPr>
          <a:xfrm>
            <a:off x="4956048" y="2514600"/>
            <a:ext cx="2651760" cy="566928"/>
          </a:xfrm>
          <a:prstGeom prst="rect">
            <a:avLst/>
          </a:prstGeom>
          <a:noFill/>
          <a:ln/>
        </p:spPr>
        <p:txBody>
          <a:bodyPr wrap="square" lIns="0" tIns="0" rIns="0" bIns="0" rtlCol="0" anchor="t"/>
          <a:lstStyle/>
          <a:p>
            <a:pPr marL="0" indent="0">
              <a:buNone/>
            </a:pPr>
            <a:r>
              <a:rPr lang="en-US" sz="1100" dirty="0">
                <a:solidFill>
                  <a:srgbClr val="E4EEF1"/>
                </a:solidFill>
                <a:latin typeface="Geologica" pitchFamily="34" charset="0"/>
                <a:ea typeface="Geologica" pitchFamily="34" charset="-122"/>
                <a:cs typeface="Geologica" pitchFamily="34" charset="-120"/>
              </a:rPr>
              <a:t>Sign up at replit.com with your GitHub email</a:t>
            </a:r>
            <a:endParaRPr lang="en-US" sz="1100" dirty="0"/>
          </a:p>
        </p:txBody>
      </p:sp>
      <p:sp>
        <p:nvSpPr>
          <p:cNvPr id="27" name="Shape 24"/>
          <p:cNvSpPr/>
          <p:nvPr/>
        </p:nvSpPr>
        <p:spPr>
          <a:xfrm>
            <a:off x="4562856" y="3118104"/>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8" name="Text 25"/>
          <p:cNvSpPr txBox="1"/>
          <p:nvPr/>
        </p:nvSpPr>
        <p:spPr>
          <a:xfrm>
            <a:off x="4562856" y="3118104"/>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29" name="Text 26"/>
          <p:cNvSpPr txBox="1"/>
          <p:nvPr/>
        </p:nvSpPr>
        <p:spPr>
          <a:xfrm>
            <a:off x="4956048" y="3081528"/>
            <a:ext cx="2651760" cy="566928"/>
          </a:xfrm>
          <a:prstGeom prst="rect">
            <a:avLst/>
          </a:prstGeom>
          <a:noFill/>
          <a:ln/>
        </p:spPr>
        <p:txBody>
          <a:bodyPr wrap="square" lIns="0" tIns="0" rIns="0" bIns="0" rtlCol="0" anchor="t"/>
          <a:lstStyle/>
          <a:p>
            <a:pPr marL="0" indent="0">
              <a:buNone/>
            </a:pPr>
            <a:r>
              <a:rPr lang="en-US" sz="1100" dirty="0">
                <a:solidFill>
                  <a:srgbClr val="E4EEF1"/>
                </a:solidFill>
                <a:latin typeface="Geologica" pitchFamily="34" charset="0"/>
                <a:ea typeface="Geologica" pitchFamily="34" charset="-122"/>
                <a:cs typeface="Geologica" pitchFamily="34" charset="-120"/>
              </a:rPr>
              <a:t>Avatar → Account → Connected services → GitHub → Authorize</a:t>
            </a:r>
            <a:endParaRPr lang="en-US" sz="1100" dirty="0"/>
          </a:p>
        </p:txBody>
      </p:sp>
      <p:sp>
        <p:nvSpPr>
          <p:cNvPr id="30" name="Shape 27"/>
          <p:cNvSpPr/>
          <p:nvPr/>
        </p:nvSpPr>
        <p:spPr>
          <a:xfrm>
            <a:off x="4562856" y="368503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31" name="Text 28"/>
          <p:cNvSpPr txBox="1"/>
          <p:nvPr/>
        </p:nvSpPr>
        <p:spPr>
          <a:xfrm>
            <a:off x="4562856" y="368503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32" name="Text 29"/>
          <p:cNvSpPr txBox="1"/>
          <p:nvPr/>
        </p:nvSpPr>
        <p:spPr>
          <a:xfrm>
            <a:off x="4956048" y="3648456"/>
            <a:ext cx="2651760" cy="566928"/>
          </a:xfrm>
          <a:prstGeom prst="rect">
            <a:avLst/>
          </a:prstGeom>
          <a:noFill/>
          <a:ln/>
        </p:spPr>
        <p:txBody>
          <a:bodyPr wrap="square" lIns="0" tIns="0" rIns="0" bIns="0" rtlCol="0" anchor="t"/>
          <a:lstStyle/>
          <a:p>
            <a:pPr marL="0" indent="0">
              <a:buNone/>
            </a:pPr>
            <a:r>
              <a:rPr lang="en-US" sz="1100" dirty="0">
                <a:solidFill>
                  <a:srgbClr val="E4EEF1"/>
                </a:solidFill>
                <a:latin typeface="Geologica" pitchFamily="34" charset="0"/>
                <a:ea typeface="Geologica" pitchFamily="34" charset="-122"/>
                <a:cs typeface="Geologica" pitchFamily="34" charset="-120"/>
              </a:rPr>
              <a:t>You are done when GitHub shows as connected</a:t>
            </a:r>
            <a:endParaRPr lang="en-US" sz="1100" dirty="0"/>
          </a:p>
        </p:txBody>
      </p:sp>
      <p:sp>
        <p:nvSpPr>
          <p:cNvPr id="33" name="Shape 30"/>
          <p:cNvSpPr/>
          <p:nvPr/>
        </p:nvSpPr>
        <p:spPr>
          <a:xfrm>
            <a:off x="8074152" y="1874520"/>
            <a:ext cx="3520440" cy="3017520"/>
          </a:xfrm>
          <a:prstGeom prst="roundRect">
            <a:avLst>
              <a:gd name="adj" fmla="val 3636"/>
            </a:avLst>
          </a:prstGeom>
          <a:solidFill>
            <a:srgbClr val="0F2831">
              <a:alpha val="88000"/>
            </a:srgbClr>
          </a:solidFill>
          <a:ln w="9525">
            <a:solidFill>
              <a:srgbClr val="1E4A55"/>
            </a:solidFill>
            <a:prstDash val="solid"/>
          </a:ln>
        </p:spPr>
        <p:txBody>
          <a:bodyPr/>
          <a:lstStyle/>
          <a:p>
            <a:endParaRPr lang="en-US"/>
          </a:p>
        </p:txBody>
      </p:sp>
      <p:sp>
        <p:nvSpPr>
          <p:cNvPr id="34" name="Text 31"/>
          <p:cNvSpPr txBox="1"/>
          <p:nvPr/>
        </p:nvSpPr>
        <p:spPr>
          <a:xfrm>
            <a:off x="8302752"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3</a:t>
            </a:r>
            <a:endParaRPr lang="en-US" sz="2400" dirty="0"/>
          </a:p>
        </p:txBody>
      </p:sp>
      <p:sp>
        <p:nvSpPr>
          <p:cNvPr id="35" name="Text 32"/>
          <p:cNvSpPr txBox="1"/>
          <p:nvPr/>
        </p:nvSpPr>
        <p:spPr>
          <a:xfrm>
            <a:off x="8805672" y="2075688"/>
            <a:ext cx="2606040" cy="36576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Prompt and partner</a:t>
            </a:r>
            <a:endParaRPr lang="en-US" sz="1300" dirty="0"/>
          </a:p>
        </p:txBody>
      </p:sp>
      <p:sp>
        <p:nvSpPr>
          <p:cNvPr id="36" name="Shape 33"/>
          <p:cNvSpPr/>
          <p:nvPr/>
        </p:nvSpPr>
        <p:spPr>
          <a:xfrm>
            <a:off x="8302752" y="2551176"/>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37" name="Text 34"/>
          <p:cNvSpPr txBox="1"/>
          <p:nvPr/>
        </p:nvSpPr>
        <p:spPr>
          <a:xfrm>
            <a:off x="8302752" y="2551176"/>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38" name="Text 35"/>
          <p:cNvSpPr txBox="1"/>
          <p:nvPr/>
        </p:nvSpPr>
        <p:spPr>
          <a:xfrm>
            <a:off x="8695944" y="2514600"/>
            <a:ext cx="2651760" cy="566928"/>
          </a:xfrm>
          <a:prstGeom prst="rect">
            <a:avLst/>
          </a:prstGeom>
          <a:noFill/>
          <a:ln/>
        </p:spPr>
        <p:txBody>
          <a:bodyPr wrap="square" lIns="0" tIns="0" rIns="0" bIns="0" rtlCol="0" anchor="t"/>
          <a:lstStyle/>
          <a:p>
            <a:pPr marL="0" indent="0">
              <a:buNone/>
            </a:pPr>
            <a:r>
              <a:rPr lang="en-US" sz="1100" dirty="0">
                <a:solidFill>
                  <a:srgbClr val="E4EEF1"/>
                </a:solidFill>
                <a:latin typeface="Geologica" pitchFamily="34" charset="0"/>
                <a:ea typeface="Geologica" pitchFamily="34" charset="-122"/>
                <a:cs typeface="Geologica" pitchFamily="34" charset="-120"/>
              </a:rPr>
              <a:t>Fill in the blanks on the prompt sheet, on paper or in a note</a:t>
            </a:r>
            <a:endParaRPr lang="en-US" sz="1100" dirty="0"/>
          </a:p>
        </p:txBody>
      </p:sp>
      <p:sp>
        <p:nvSpPr>
          <p:cNvPr id="39" name="Shape 36"/>
          <p:cNvSpPr/>
          <p:nvPr/>
        </p:nvSpPr>
        <p:spPr>
          <a:xfrm>
            <a:off x="8302752" y="3118104"/>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40" name="Text 37"/>
          <p:cNvSpPr txBox="1"/>
          <p:nvPr/>
        </p:nvSpPr>
        <p:spPr>
          <a:xfrm>
            <a:off x="8302752" y="3118104"/>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41" name="Text 38"/>
          <p:cNvSpPr txBox="1"/>
          <p:nvPr/>
        </p:nvSpPr>
        <p:spPr>
          <a:xfrm>
            <a:off x="8695944" y="3081528"/>
            <a:ext cx="2651760" cy="566928"/>
          </a:xfrm>
          <a:prstGeom prst="rect">
            <a:avLst/>
          </a:prstGeom>
          <a:noFill/>
          <a:ln/>
        </p:spPr>
        <p:txBody>
          <a:bodyPr wrap="square" lIns="0" tIns="0" rIns="0" bIns="0" rtlCol="0" anchor="t"/>
          <a:lstStyle/>
          <a:p>
            <a:pPr marL="0" indent="0">
              <a:buNone/>
            </a:pPr>
            <a:r>
              <a:rPr lang="en-US" sz="1100" dirty="0">
                <a:solidFill>
                  <a:srgbClr val="E4EEF1"/>
                </a:solidFill>
                <a:latin typeface="Geologica" pitchFamily="34" charset="0"/>
                <a:ea typeface="Geologica" pitchFamily="34" charset="-122"/>
                <a:cs typeface="Geologica" pitchFamily="34" charset="-120"/>
              </a:rPr>
              <a:t>Find your partner and sit together</a:t>
            </a:r>
            <a:endParaRPr lang="en-US" sz="1100" dirty="0"/>
          </a:p>
        </p:txBody>
      </p:sp>
      <p:sp>
        <p:nvSpPr>
          <p:cNvPr id="42" name="Shape 39"/>
          <p:cNvSpPr/>
          <p:nvPr/>
        </p:nvSpPr>
        <p:spPr>
          <a:xfrm>
            <a:off x="8302752" y="368503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43" name="Text 40"/>
          <p:cNvSpPr txBox="1"/>
          <p:nvPr/>
        </p:nvSpPr>
        <p:spPr>
          <a:xfrm>
            <a:off x="8302752" y="368503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44" name="Text 41"/>
          <p:cNvSpPr txBox="1"/>
          <p:nvPr/>
        </p:nvSpPr>
        <p:spPr>
          <a:xfrm>
            <a:off x="8695944" y="3648456"/>
            <a:ext cx="2651760" cy="566928"/>
          </a:xfrm>
          <a:prstGeom prst="rect">
            <a:avLst/>
          </a:prstGeom>
          <a:noFill/>
          <a:ln/>
        </p:spPr>
        <p:txBody>
          <a:bodyPr wrap="square" lIns="0" tIns="0" rIns="0" bIns="0" rtlCol="0" anchor="t"/>
          <a:lstStyle/>
          <a:p>
            <a:pPr marL="0" indent="0">
              <a:buNone/>
            </a:pPr>
            <a:r>
              <a:rPr lang="en-US" sz="1100" dirty="0">
                <a:solidFill>
                  <a:srgbClr val="E4EEF1"/>
                </a:solidFill>
                <a:latin typeface="Geologica" pitchFamily="34" charset="0"/>
                <a:ea typeface="Geologica" pitchFamily="34" charset="-122"/>
                <a:cs typeface="Geologica" pitchFamily="34" charset="-120"/>
              </a:rPr>
              <a:t>You will each be working on your own computer</a:t>
            </a:r>
            <a:endParaRPr lang="en-US" sz="1100" dirty="0"/>
          </a:p>
        </p:txBody>
      </p:sp>
      <p:sp>
        <p:nvSpPr>
          <p:cNvPr id="45" name="Shape 42"/>
          <p:cNvSpPr/>
          <p:nvPr/>
        </p:nvSpPr>
        <p:spPr>
          <a:xfrm>
            <a:off x="594360" y="5120640"/>
            <a:ext cx="11002975" cy="640080"/>
          </a:xfrm>
          <a:prstGeom prst="roundRect">
            <a:avLst>
              <a:gd name="adj" fmla="val 14286"/>
            </a:avLst>
          </a:prstGeom>
          <a:solidFill>
            <a:srgbClr val="0E5A66"/>
          </a:solidFill>
          <a:ln w="9525">
            <a:solidFill>
              <a:srgbClr val="0094A0"/>
            </a:solidFill>
            <a:prstDash val="solid"/>
          </a:ln>
        </p:spPr>
        <p:txBody>
          <a:bodyPr/>
          <a:lstStyle/>
          <a:p>
            <a:endParaRPr lang="en-US"/>
          </a:p>
        </p:txBody>
      </p:sp>
      <p:sp>
        <p:nvSpPr>
          <p:cNvPr id="46" name="Text 43"/>
          <p:cNvSpPr txBox="1"/>
          <p:nvPr/>
        </p:nvSpPr>
        <p:spPr>
          <a:xfrm>
            <a:off x="868680" y="5120640"/>
            <a:ext cx="10454335" cy="640080"/>
          </a:xfrm>
          <a:prstGeom prst="rect">
            <a:avLst/>
          </a:prstGeom>
          <a:noFill/>
          <a:ln/>
        </p:spPr>
        <p:txBody>
          <a:bodyPr wrap="square" lIns="0" tIns="0" rIns="0" bIns="0" rtlCol="0" anchor="ctr"/>
          <a:lstStyle/>
          <a:p>
            <a:pPr marL="0" indent="0">
              <a:buNone/>
            </a:pPr>
            <a:r>
              <a:rPr lang="en-US" sz="1200" b="1" dirty="0">
                <a:solidFill>
                  <a:srgbClr val="FFFFFF"/>
                </a:solidFill>
                <a:latin typeface="Geologica" pitchFamily="34" charset="0"/>
                <a:ea typeface="Geologica" pitchFamily="34" charset="-122"/>
                <a:cs typeface="Geologica" pitchFamily="34" charset="-120"/>
              </a:rPr>
              <a:t>Step 2 is the critical path. </a:t>
            </a:r>
            <a:r>
              <a:rPr lang="en-US" sz="1200" dirty="0">
                <a:solidFill>
                  <a:srgbClr val="FFFFFF"/>
                </a:solidFill>
                <a:latin typeface="Geologica" pitchFamily="34" charset="0"/>
                <a:ea typeface="Geologica" pitchFamily="34" charset="-122"/>
                <a:cs typeface="Geologica" pitchFamily="34" charset="-120"/>
              </a:rPr>
              <a:t>If Replit and GitHub are not connected before we start, Round 1 becomes troubleshooting instead of building. A mentor will come by to check.</a:t>
            </a:r>
            <a:endParaRPr lang="en-US" sz="1200" dirty="0"/>
          </a:p>
        </p:txBody>
      </p:sp>
      <p:sp>
        <p:nvSpPr>
          <p:cNvPr id="50" name="TextBox 49">
            <a:extLst>
              <a:ext uri="{FF2B5EF4-FFF2-40B4-BE49-F238E27FC236}">
                <a16:creationId xmlns:a16="http://schemas.microsoft.com/office/drawing/2014/main" id="{78AA54A3-9511-D121-BB02-09B36D05BBF9}"/>
              </a:ext>
            </a:extLst>
          </p:cNvPr>
          <p:cNvSpPr txBox="1"/>
          <p:nvPr/>
        </p:nvSpPr>
        <p:spPr>
          <a:xfrm>
            <a:off x="4562856" y="6047970"/>
            <a:ext cx="2843364" cy="553998"/>
          </a:xfrm>
          <a:prstGeom prst="rect">
            <a:avLst/>
          </a:prstGeom>
          <a:noFill/>
        </p:spPr>
        <p:txBody>
          <a:bodyPr wrap="square">
            <a:spAutoFit/>
          </a:bodyPr>
          <a:lstStyle/>
          <a:p>
            <a:r>
              <a:rPr lang="en-US" sz="3000" b="1" dirty="0" err="1">
                <a:solidFill>
                  <a:srgbClr val="FFFFFF"/>
                </a:solidFill>
                <a:latin typeface="Geologica" pitchFamily="34" charset="0"/>
                <a:ea typeface="Geologica" pitchFamily="34" charset="-122"/>
                <a:cs typeface="Geologica" pitchFamily="34" charset="-120"/>
              </a:rPr>
              <a:t>bit.ly</a:t>
            </a:r>
            <a:r>
              <a:rPr lang="en-US" sz="3000" b="1" dirty="0">
                <a:solidFill>
                  <a:srgbClr val="FFFFFF"/>
                </a:solidFill>
                <a:latin typeface="Geologica" pitchFamily="34" charset="0"/>
                <a:ea typeface="Geologica" pitchFamily="34" charset="-122"/>
                <a:cs typeface="Geologica" pitchFamily="34" charset="-120"/>
              </a:rPr>
              <a:t>/3TiIYSw</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03</a:t>
            </a:r>
            <a:endParaRPr lang="en-US" sz="900" dirty="0"/>
          </a:p>
        </p:txBody>
      </p:sp>
      <p:sp>
        <p:nvSpPr>
          <p:cNvPr id="4" name="Shape 1"/>
          <p:cNvSpPr/>
          <p:nvPr/>
        </p:nvSpPr>
        <p:spPr>
          <a:xfrm>
            <a:off x="594360" y="502920"/>
            <a:ext cx="1097280"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097280"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TODAY</a:t>
            </a:r>
            <a:endParaRPr lang="en-US" sz="850" dirty="0"/>
          </a:p>
        </p:txBody>
      </p:sp>
      <p:sp>
        <p:nvSpPr>
          <p:cNvPr id="6" name="Text 3"/>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2800" b="1" dirty="0">
                <a:solidFill>
                  <a:srgbClr val="FFFFFF"/>
                </a:solidFill>
                <a:latin typeface="Geologica" pitchFamily="34" charset="0"/>
                <a:ea typeface="Geologica" pitchFamily="34" charset="-122"/>
                <a:cs typeface="Geologica" pitchFamily="34" charset="-120"/>
              </a:rPr>
              <a:t>The most important part is process…</a:t>
            </a:r>
            <a:endParaRPr lang="en-US" sz="2800" dirty="0"/>
          </a:p>
        </p:txBody>
      </p:sp>
      <p:sp>
        <p:nvSpPr>
          <p:cNvPr id="7" name="Text 4"/>
          <p:cNvSpPr txBox="1"/>
          <p:nvPr/>
        </p:nvSpPr>
        <p:spPr>
          <a:xfrm>
            <a:off x="594360" y="1691640"/>
            <a:ext cx="10972800" cy="777240"/>
          </a:xfrm>
          <a:prstGeom prst="rect">
            <a:avLst/>
          </a:prstGeom>
          <a:noFill/>
          <a:ln/>
        </p:spPr>
        <p:txBody>
          <a:bodyPr wrap="square" lIns="0" tIns="0" rIns="0" bIns="0" rtlCol="0" anchor="ctr"/>
          <a:lstStyle/>
          <a:p>
            <a:pPr marL="0" indent="0">
              <a:buNone/>
            </a:pPr>
            <a:r>
              <a:rPr lang="en-US" sz="1300" dirty="0">
                <a:solidFill>
                  <a:srgbClr val="E4EEF1"/>
                </a:solidFill>
                <a:latin typeface="Geologica" pitchFamily="34" charset="0"/>
                <a:ea typeface="Geologica" pitchFamily="34" charset="-122"/>
                <a:cs typeface="Geologica" pitchFamily="34" charset="-120"/>
              </a:rPr>
              <a:t>Each of you will build a throwaway web page with AI, hand it off to your partner through GitHub, </a:t>
            </a:r>
            <a:r>
              <a:rPr lang="en-US" sz="1300" dirty="0" err="1">
                <a:solidFill>
                  <a:srgbClr val="E4EEF1"/>
                </a:solidFill>
                <a:latin typeface="Geologica" pitchFamily="34" charset="0"/>
                <a:ea typeface="Geologica" pitchFamily="34" charset="-122"/>
                <a:cs typeface="Geologica" pitchFamily="34" charset="-120"/>
              </a:rPr>
              <a:t>getsa</a:t>
            </a:r>
            <a:r>
              <a:rPr lang="en-US" sz="1300" dirty="0">
                <a:solidFill>
                  <a:srgbClr val="E4EEF1"/>
                </a:solidFill>
                <a:latin typeface="Geologica" pitchFamily="34" charset="0"/>
                <a:ea typeface="Geologica" pitchFamily="34" charset="-122"/>
                <a:cs typeface="Geologica" pitchFamily="34" charset="-120"/>
              </a:rPr>
              <a:t> change back through a pull request, and pulls that change into your own tool. Whether you wrote every line or prompted an AI to write it, the handoff is the same.</a:t>
            </a:r>
            <a:endParaRPr lang="en-US" sz="1300" dirty="0"/>
          </a:p>
        </p:txBody>
      </p:sp>
      <p:sp>
        <p:nvSpPr>
          <p:cNvPr id="8" name="Shape 5"/>
          <p:cNvSpPr/>
          <p:nvPr/>
        </p:nvSpPr>
        <p:spPr>
          <a:xfrm>
            <a:off x="594360" y="2651760"/>
            <a:ext cx="11000232" cy="457200"/>
          </a:xfrm>
          <a:prstGeom prst="roundRect">
            <a:avLst>
              <a:gd name="adj" fmla="val 16000"/>
            </a:avLst>
          </a:prstGeom>
          <a:solidFill>
            <a:srgbClr val="0F2831">
              <a:alpha val="88000"/>
            </a:srgbClr>
          </a:solidFill>
          <a:ln w="9525">
            <a:solidFill>
              <a:srgbClr val="1E4A55"/>
            </a:solidFill>
            <a:prstDash val="solid"/>
          </a:ln>
        </p:spPr>
        <p:txBody>
          <a:bodyPr/>
          <a:lstStyle/>
          <a:p>
            <a:endParaRPr lang="en-US"/>
          </a:p>
        </p:txBody>
      </p:sp>
      <p:sp>
        <p:nvSpPr>
          <p:cNvPr id="9" name="Text 6"/>
          <p:cNvSpPr txBox="1"/>
          <p:nvPr/>
        </p:nvSpPr>
        <p:spPr>
          <a:xfrm>
            <a:off x="822960" y="2651760"/>
            <a:ext cx="1280160"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PART 1</a:t>
            </a:r>
            <a:endParaRPr lang="en-US" sz="900" dirty="0"/>
          </a:p>
        </p:txBody>
      </p:sp>
      <p:sp>
        <p:nvSpPr>
          <p:cNvPr id="10" name="Text 7"/>
          <p:cNvSpPr txBox="1"/>
          <p:nvPr/>
        </p:nvSpPr>
        <p:spPr>
          <a:xfrm>
            <a:off x="2148840" y="2651760"/>
            <a:ext cx="7772400" cy="457200"/>
          </a:xfrm>
          <a:prstGeom prst="rect">
            <a:avLst/>
          </a:prstGeom>
          <a:noFill/>
          <a:ln/>
        </p:spPr>
        <p:txBody>
          <a:bodyPr wrap="square" lIns="0" tIns="0" rIns="0" bIns="0" rtlCol="0" anchor="ctr"/>
          <a:lstStyle/>
          <a:p>
            <a:pPr marL="0" indent="0">
              <a:buNone/>
            </a:pPr>
            <a:r>
              <a:rPr lang="en-US" sz="1250" dirty="0">
                <a:solidFill>
                  <a:srgbClr val="FFFFFF"/>
                </a:solidFill>
                <a:latin typeface="Geologica" pitchFamily="34" charset="0"/>
                <a:ea typeface="Geologica" pitchFamily="34" charset="-122"/>
                <a:cs typeface="Geologica" pitchFamily="34" charset="-120"/>
              </a:rPr>
              <a:t>The map: branches, one repo in three windows</a:t>
            </a:r>
            <a:endParaRPr lang="en-US" sz="1250" dirty="0"/>
          </a:p>
        </p:txBody>
      </p:sp>
      <p:sp>
        <p:nvSpPr>
          <p:cNvPr id="11" name="Text 8"/>
          <p:cNvSpPr txBox="1"/>
          <p:nvPr/>
        </p:nvSpPr>
        <p:spPr>
          <a:xfrm>
            <a:off x="10149840" y="2651760"/>
            <a:ext cx="1280160" cy="457200"/>
          </a:xfrm>
          <a:prstGeom prst="rect">
            <a:avLst/>
          </a:prstGeom>
          <a:noFill/>
          <a:ln/>
        </p:spPr>
        <p:txBody>
          <a:bodyPr wrap="square" lIns="0" tIns="0" rIns="0" bIns="0" rtlCol="0" anchor="ctr"/>
          <a:lstStyle/>
          <a:p>
            <a:pPr marL="0" indent="0" algn="r">
              <a:buNone/>
            </a:pPr>
            <a:r>
              <a:rPr lang="en-US" sz="1100" dirty="0">
                <a:solidFill>
                  <a:srgbClr val="9FB4BB"/>
                </a:solidFill>
                <a:latin typeface="Geologica" pitchFamily="34" charset="0"/>
                <a:ea typeface="Geologica" pitchFamily="34" charset="-122"/>
                <a:cs typeface="Geologica" pitchFamily="34" charset="-120"/>
              </a:rPr>
              <a:t>10 min</a:t>
            </a:r>
            <a:endParaRPr lang="en-US" sz="1100" dirty="0"/>
          </a:p>
        </p:txBody>
      </p:sp>
      <p:sp>
        <p:nvSpPr>
          <p:cNvPr id="12" name="Shape 9"/>
          <p:cNvSpPr/>
          <p:nvPr/>
        </p:nvSpPr>
        <p:spPr>
          <a:xfrm>
            <a:off x="594360" y="3182112"/>
            <a:ext cx="11000232" cy="457200"/>
          </a:xfrm>
          <a:prstGeom prst="roundRect">
            <a:avLst>
              <a:gd name="adj" fmla="val 16000"/>
            </a:avLst>
          </a:prstGeom>
          <a:solidFill>
            <a:srgbClr val="0F2831">
              <a:alpha val="88000"/>
            </a:srgbClr>
          </a:solidFill>
          <a:ln w="9525">
            <a:solidFill>
              <a:srgbClr val="1E4A55"/>
            </a:solidFill>
            <a:prstDash val="solid"/>
          </a:ln>
        </p:spPr>
        <p:txBody>
          <a:bodyPr/>
          <a:lstStyle/>
          <a:p>
            <a:endParaRPr lang="en-US"/>
          </a:p>
        </p:txBody>
      </p:sp>
      <p:sp>
        <p:nvSpPr>
          <p:cNvPr id="13" name="Text 10"/>
          <p:cNvSpPr txBox="1"/>
          <p:nvPr/>
        </p:nvSpPr>
        <p:spPr>
          <a:xfrm>
            <a:off x="822960" y="3182112"/>
            <a:ext cx="1280160"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PART 2</a:t>
            </a:r>
            <a:endParaRPr lang="en-US" sz="900" dirty="0"/>
          </a:p>
        </p:txBody>
      </p:sp>
      <p:sp>
        <p:nvSpPr>
          <p:cNvPr id="14" name="Text 11"/>
          <p:cNvSpPr txBox="1"/>
          <p:nvPr/>
        </p:nvSpPr>
        <p:spPr>
          <a:xfrm>
            <a:off x="2148840" y="3182112"/>
            <a:ext cx="7772400" cy="457200"/>
          </a:xfrm>
          <a:prstGeom prst="rect">
            <a:avLst/>
          </a:prstGeom>
          <a:noFill/>
          <a:ln/>
        </p:spPr>
        <p:txBody>
          <a:bodyPr wrap="square" lIns="0" tIns="0" rIns="0" bIns="0" rtlCol="0" anchor="ctr"/>
          <a:lstStyle/>
          <a:p>
            <a:pPr marL="0" indent="0">
              <a:buNone/>
            </a:pPr>
            <a:r>
              <a:rPr lang="en-US" sz="1250" dirty="0">
                <a:solidFill>
                  <a:srgbClr val="FFFFFF"/>
                </a:solidFill>
                <a:latin typeface="Geologica" pitchFamily="34" charset="0"/>
                <a:ea typeface="Geologica" pitchFamily="34" charset="-122"/>
                <a:cs typeface="Geologica" pitchFamily="34" charset="-120"/>
              </a:rPr>
              <a:t>Live demo of one full loop</a:t>
            </a:r>
            <a:endParaRPr lang="en-US" sz="1250" dirty="0"/>
          </a:p>
        </p:txBody>
      </p:sp>
      <p:sp>
        <p:nvSpPr>
          <p:cNvPr id="15" name="Text 12"/>
          <p:cNvSpPr txBox="1"/>
          <p:nvPr/>
        </p:nvSpPr>
        <p:spPr>
          <a:xfrm>
            <a:off x="10149840" y="3182112"/>
            <a:ext cx="1280160" cy="457200"/>
          </a:xfrm>
          <a:prstGeom prst="rect">
            <a:avLst/>
          </a:prstGeom>
          <a:noFill/>
          <a:ln/>
        </p:spPr>
        <p:txBody>
          <a:bodyPr wrap="square" lIns="0" tIns="0" rIns="0" bIns="0" rtlCol="0" anchor="ctr"/>
          <a:lstStyle/>
          <a:p>
            <a:pPr marL="0" indent="0" algn="r">
              <a:buNone/>
            </a:pPr>
            <a:r>
              <a:rPr lang="en-US" sz="1100" dirty="0">
                <a:solidFill>
                  <a:srgbClr val="9FB4BB"/>
                </a:solidFill>
                <a:latin typeface="Geologica" pitchFamily="34" charset="0"/>
                <a:ea typeface="Geologica" pitchFamily="34" charset="-122"/>
                <a:cs typeface="Geologica" pitchFamily="34" charset="-120"/>
              </a:rPr>
              <a:t>8 min</a:t>
            </a:r>
            <a:endParaRPr lang="en-US" sz="1100" dirty="0"/>
          </a:p>
        </p:txBody>
      </p:sp>
      <p:sp>
        <p:nvSpPr>
          <p:cNvPr id="16" name="Shape 13"/>
          <p:cNvSpPr/>
          <p:nvPr/>
        </p:nvSpPr>
        <p:spPr>
          <a:xfrm>
            <a:off x="594360" y="3712464"/>
            <a:ext cx="11000232" cy="457200"/>
          </a:xfrm>
          <a:prstGeom prst="roundRect">
            <a:avLst>
              <a:gd name="adj" fmla="val 16000"/>
            </a:avLst>
          </a:prstGeom>
          <a:solidFill>
            <a:srgbClr val="0E5A66">
              <a:alpha val="75000"/>
            </a:srgbClr>
          </a:solidFill>
          <a:ln w="9525">
            <a:solidFill>
              <a:srgbClr val="0094A0"/>
            </a:solidFill>
            <a:prstDash val="solid"/>
          </a:ln>
        </p:spPr>
        <p:txBody>
          <a:bodyPr/>
          <a:lstStyle/>
          <a:p>
            <a:endParaRPr lang="en-US"/>
          </a:p>
        </p:txBody>
      </p:sp>
      <p:sp>
        <p:nvSpPr>
          <p:cNvPr id="17" name="Text 14"/>
          <p:cNvSpPr txBox="1"/>
          <p:nvPr/>
        </p:nvSpPr>
        <p:spPr>
          <a:xfrm>
            <a:off x="822960" y="3712464"/>
            <a:ext cx="1280160"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ROUND 1</a:t>
            </a:r>
            <a:endParaRPr lang="en-US" sz="900" dirty="0"/>
          </a:p>
        </p:txBody>
      </p:sp>
      <p:sp>
        <p:nvSpPr>
          <p:cNvPr id="18" name="Text 15"/>
          <p:cNvSpPr txBox="1"/>
          <p:nvPr/>
        </p:nvSpPr>
        <p:spPr>
          <a:xfrm>
            <a:off x="2148840" y="3712464"/>
            <a:ext cx="7772400" cy="457200"/>
          </a:xfrm>
          <a:prstGeom prst="rect">
            <a:avLst/>
          </a:prstGeom>
          <a:noFill/>
          <a:ln/>
        </p:spPr>
        <p:txBody>
          <a:bodyPr wrap="square" lIns="0" tIns="0" rIns="0" bIns="0" rtlCol="0" anchor="ctr"/>
          <a:lstStyle/>
          <a:p>
            <a:pPr marL="0" indent="0">
              <a:buNone/>
            </a:pPr>
            <a:r>
              <a:rPr lang="en-US" sz="1250" dirty="0">
                <a:solidFill>
                  <a:srgbClr val="FFFFFF"/>
                </a:solidFill>
                <a:latin typeface="Geologica" pitchFamily="34" charset="0"/>
                <a:ea typeface="Geologica" pitchFamily="34" charset="-122"/>
                <a:cs typeface="Geologica" pitchFamily="34" charset="-120"/>
              </a:rPr>
              <a:t>You build and ship</a:t>
            </a:r>
            <a:endParaRPr lang="en-US" sz="1250" dirty="0"/>
          </a:p>
        </p:txBody>
      </p:sp>
      <p:sp>
        <p:nvSpPr>
          <p:cNvPr id="19" name="Text 16"/>
          <p:cNvSpPr txBox="1"/>
          <p:nvPr/>
        </p:nvSpPr>
        <p:spPr>
          <a:xfrm>
            <a:off x="10149840" y="3712464"/>
            <a:ext cx="1280160" cy="457200"/>
          </a:xfrm>
          <a:prstGeom prst="rect">
            <a:avLst/>
          </a:prstGeom>
          <a:noFill/>
          <a:ln/>
        </p:spPr>
        <p:txBody>
          <a:bodyPr wrap="square" lIns="0" tIns="0" rIns="0" bIns="0" rtlCol="0" anchor="ctr"/>
          <a:lstStyle/>
          <a:p>
            <a:pPr marL="0" indent="0" algn="r">
              <a:buNone/>
            </a:pPr>
            <a:r>
              <a:rPr lang="en-US" sz="1100" dirty="0">
                <a:solidFill>
                  <a:srgbClr val="9FB4BB"/>
                </a:solidFill>
                <a:latin typeface="Geologica" pitchFamily="34" charset="0"/>
                <a:ea typeface="Geologica" pitchFamily="34" charset="-122"/>
                <a:cs typeface="Geologica" pitchFamily="34" charset="-120"/>
              </a:rPr>
              <a:t>15 min</a:t>
            </a:r>
            <a:endParaRPr lang="en-US" sz="1100" dirty="0"/>
          </a:p>
        </p:txBody>
      </p:sp>
      <p:sp>
        <p:nvSpPr>
          <p:cNvPr id="20" name="Shape 17"/>
          <p:cNvSpPr/>
          <p:nvPr/>
        </p:nvSpPr>
        <p:spPr>
          <a:xfrm>
            <a:off x="594360" y="4242816"/>
            <a:ext cx="11000232" cy="457200"/>
          </a:xfrm>
          <a:prstGeom prst="roundRect">
            <a:avLst>
              <a:gd name="adj" fmla="val 16000"/>
            </a:avLst>
          </a:prstGeom>
          <a:solidFill>
            <a:srgbClr val="0E5A66">
              <a:alpha val="75000"/>
            </a:srgbClr>
          </a:solidFill>
          <a:ln w="9525">
            <a:solidFill>
              <a:srgbClr val="0094A0"/>
            </a:solidFill>
            <a:prstDash val="solid"/>
          </a:ln>
        </p:spPr>
        <p:txBody>
          <a:bodyPr/>
          <a:lstStyle/>
          <a:p>
            <a:endParaRPr lang="en-US"/>
          </a:p>
        </p:txBody>
      </p:sp>
      <p:sp>
        <p:nvSpPr>
          <p:cNvPr id="21" name="Text 18"/>
          <p:cNvSpPr txBox="1"/>
          <p:nvPr/>
        </p:nvSpPr>
        <p:spPr>
          <a:xfrm>
            <a:off x="822960" y="4242816"/>
            <a:ext cx="1280160"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ROUND 2</a:t>
            </a:r>
            <a:endParaRPr lang="en-US" sz="900" dirty="0"/>
          </a:p>
        </p:txBody>
      </p:sp>
      <p:sp>
        <p:nvSpPr>
          <p:cNvPr id="22" name="Text 19"/>
          <p:cNvSpPr txBox="1"/>
          <p:nvPr/>
        </p:nvSpPr>
        <p:spPr>
          <a:xfrm>
            <a:off x="2148840" y="4242816"/>
            <a:ext cx="7772400" cy="457200"/>
          </a:xfrm>
          <a:prstGeom prst="rect">
            <a:avLst/>
          </a:prstGeom>
          <a:noFill/>
          <a:ln/>
        </p:spPr>
        <p:txBody>
          <a:bodyPr wrap="square" lIns="0" tIns="0" rIns="0" bIns="0" rtlCol="0" anchor="ctr"/>
          <a:lstStyle/>
          <a:p>
            <a:pPr marL="0" indent="0">
              <a:buNone/>
            </a:pPr>
            <a:r>
              <a:rPr lang="en-US" sz="1250" dirty="0">
                <a:solidFill>
                  <a:srgbClr val="FFFFFF"/>
                </a:solidFill>
                <a:latin typeface="Geologica" pitchFamily="34" charset="0"/>
                <a:ea typeface="Geologica" pitchFamily="34" charset="-122"/>
                <a:cs typeface="Geologica" pitchFamily="34" charset="-120"/>
              </a:rPr>
              <a:t>You clone, branch and change your partner's code</a:t>
            </a:r>
            <a:endParaRPr lang="en-US" sz="1250" dirty="0"/>
          </a:p>
        </p:txBody>
      </p:sp>
      <p:sp>
        <p:nvSpPr>
          <p:cNvPr id="23" name="Text 20"/>
          <p:cNvSpPr txBox="1"/>
          <p:nvPr/>
        </p:nvSpPr>
        <p:spPr>
          <a:xfrm>
            <a:off x="10149840" y="4242816"/>
            <a:ext cx="1280160" cy="457200"/>
          </a:xfrm>
          <a:prstGeom prst="rect">
            <a:avLst/>
          </a:prstGeom>
          <a:noFill/>
          <a:ln/>
        </p:spPr>
        <p:txBody>
          <a:bodyPr wrap="square" lIns="0" tIns="0" rIns="0" bIns="0" rtlCol="0" anchor="ctr"/>
          <a:lstStyle/>
          <a:p>
            <a:pPr marL="0" indent="0" algn="r">
              <a:buNone/>
            </a:pPr>
            <a:r>
              <a:rPr lang="en-US" sz="1100" dirty="0">
                <a:solidFill>
                  <a:srgbClr val="9FB4BB"/>
                </a:solidFill>
                <a:latin typeface="Geologica" pitchFamily="34" charset="0"/>
                <a:ea typeface="Geologica" pitchFamily="34" charset="-122"/>
                <a:cs typeface="Geologica" pitchFamily="34" charset="-120"/>
              </a:rPr>
              <a:t>22 min</a:t>
            </a:r>
            <a:endParaRPr lang="en-US" sz="1100" dirty="0"/>
          </a:p>
        </p:txBody>
      </p:sp>
      <p:sp>
        <p:nvSpPr>
          <p:cNvPr id="24" name="Shape 21"/>
          <p:cNvSpPr/>
          <p:nvPr/>
        </p:nvSpPr>
        <p:spPr>
          <a:xfrm>
            <a:off x="594360" y="4773168"/>
            <a:ext cx="11000232" cy="457200"/>
          </a:xfrm>
          <a:prstGeom prst="roundRect">
            <a:avLst>
              <a:gd name="adj" fmla="val 16000"/>
            </a:avLst>
          </a:prstGeom>
          <a:solidFill>
            <a:srgbClr val="0E5A66">
              <a:alpha val="75000"/>
            </a:srgbClr>
          </a:solidFill>
          <a:ln w="9525">
            <a:solidFill>
              <a:srgbClr val="0094A0"/>
            </a:solidFill>
            <a:prstDash val="solid"/>
          </a:ln>
        </p:spPr>
        <p:txBody>
          <a:bodyPr/>
          <a:lstStyle/>
          <a:p>
            <a:endParaRPr lang="en-US"/>
          </a:p>
        </p:txBody>
      </p:sp>
      <p:sp>
        <p:nvSpPr>
          <p:cNvPr id="25" name="Text 22"/>
          <p:cNvSpPr txBox="1"/>
          <p:nvPr/>
        </p:nvSpPr>
        <p:spPr>
          <a:xfrm>
            <a:off x="822960" y="4773168"/>
            <a:ext cx="1280160"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ROUND 3</a:t>
            </a:r>
            <a:endParaRPr lang="en-US" sz="900" dirty="0"/>
          </a:p>
        </p:txBody>
      </p:sp>
      <p:sp>
        <p:nvSpPr>
          <p:cNvPr id="26" name="Text 23"/>
          <p:cNvSpPr txBox="1"/>
          <p:nvPr/>
        </p:nvSpPr>
        <p:spPr>
          <a:xfrm>
            <a:off x="2148840" y="4773168"/>
            <a:ext cx="7772400" cy="457200"/>
          </a:xfrm>
          <a:prstGeom prst="rect">
            <a:avLst/>
          </a:prstGeom>
          <a:noFill/>
          <a:ln/>
        </p:spPr>
        <p:txBody>
          <a:bodyPr wrap="square" lIns="0" tIns="0" rIns="0" bIns="0" rtlCol="0" anchor="ctr"/>
          <a:lstStyle/>
          <a:p>
            <a:pPr marL="0" indent="0">
              <a:buNone/>
            </a:pPr>
            <a:r>
              <a:rPr lang="en-US" sz="1250" dirty="0">
                <a:solidFill>
                  <a:srgbClr val="FFFFFF"/>
                </a:solidFill>
                <a:latin typeface="Geologica" pitchFamily="34" charset="0"/>
                <a:ea typeface="Geologica" pitchFamily="34" charset="-122"/>
                <a:cs typeface="Geologica" pitchFamily="34" charset="-120"/>
              </a:rPr>
              <a:t>You review, merge and pull it back</a:t>
            </a:r>
            <a:endParaRPr lang="en-US" sz="1250" dirty="0"/>
          </a:p>
        </p:txBody>
      </p:sp>
      <p:sp>
        <p:nvSpPr>
          <p:cNvPr id="27" name="Text 24"/>
          <p:cNvSpPr txBox="1"/>
          <p:nvPr/>
        </p:nvSpPr>
        <p:spPr>
          <a:xfrm>
            <a:off x="10149840" y="4773168"/>
            <a:ext cx="1280160" cy="457200"/>
          </a:xfrm>
          <a:prstGeom prst="rect">
            <a:avLst/>
          </a:prstGeom>
          <a:noFill/>
          <a:ln/>
        </p:spPr>
        <p:txBody>
          <a:bodyPr wrap="square" lIns="0" tIns="0" rIns="0" bIns="0" rtlCol="0" anchor="ctr"/>
          <a:lstStyle/>
          <a:p>
            <a:pPr marL="0" indent="0" algn="r">
              <a:buNone/>
            </a:pPr>
            <a:r>
              <a:rPr lang="en-US" sz="1100" dirty="0">
                <a:solidFill>
                  <a:srgbClr val="9FB4BB"/>
                </a:solidFill>
                <a:latin typeface="Geologica" pitchFamily="34" charset="0"/>
                <a:ea typeface="Geologica" pitchFamily="34" charset="-122"/>
                <a:cs typeface="Geologica" pitchFamily="34" charset="-120"/>
              </a:rPr>
              <a:t>10 min</a:t>
            </a:r>
            <a:endParaRPr lang="en-US" sz="1100" dirty="0"/>
          </a:p>
        </p:txBody>
      </p:sp>
      <p:sp>
        <p:nvSpPr>
          <p:cNvPr id="28" name="Shape 25"/>
          <p:cNvSpPr/>
          <p:nvPr/>
        </p:nvSpPr>
        <p:spPr>
          <a:xfrm>
            <a:off x="594360" y="5303520"/>
            <a:ext cx="11000232" cy="457200"/>
          </a:xfrm>
          <a:prstGeom prst="roundRect">
            <a:avLst>
              <a:gd name="adj" fmla="val 16000"/>
            </a:avLst>
          </a:prstGeom>
          <a:solidFill>
            <a:srgbClr val="0F2831">
              <a:alpha val="88000"/>
            </a:srgbClr>
          </a:solidFill>
          <a:ln w="9525">
            <a:solidFill>
              <a:srgbClr val="1E4A55"/>
            </a:solidFill>
            <a:prstDash val="solid"/>
          </a:ln>
        </p:spPr>
        <p:txBody>
          <a:bodyPr/>
          <a:lstStyle/>
          <a:p>
            <a:endParaRPr lang="en-US"/>
          </a:p>
        </p:txBody>
      </p:sp>
      <p:sp>
        <p:nvSpPr>
          <p:cNvPr id="29" name="Text 26"/>
          <p:cNvSpPr txBox="1"/>
          <p:nvPr/>
        </p:nvSpPr>
        <p:spPr>
          <a:xfrm>
            <a:off x="822960" y="5303520"/>
            <a:ext cx="1280160"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PART 4</a:t>
            </a:r>
            <a:endParaRPr lang="en-US" sz="900" dirty="0"/>
          </a:p>
        </p:txBody>
      </p:sp>
      <p:sp>
        <p:nvSpPr>
          <p:cNvPr id="30" name="Text 27"/>
          <p:cNvSpPr txBox="1"/>
          <p:nvPr/>
        </p:nvSpPr>
        <p:spPr>
          <a:xfrm>
            <a:off x="2148840" y="5303520"/>
            <a:ext cx="7772400" cy="457200"/>
          </a:xfrm>
          <a:prstGeom prst="rect">
            <a:avLst/>
          </a:prstGeom>
          <a:noFill/>
          <a:ln/>
        </p:spPr>
        <p:txBody>
          <a:bodyPr wrap="square" lIns="0" tIns="0" rIns="0" bIns="0" rtlCol="0" anchor="ctr"/>
          <a:lstStyle/>
          <a:p>
            <a:pPr marL="0" indent="0">
              <a:buNone/>
            </a:pPr>
            <a:r>
              <a:rPr lang="en-US" sz="1250" dirty="0">
                <a:solidFill>
                  <a:srgbClr val="FFFFFF"/>
                </a:solidFill>
                <a:latin typeface="Geologica" pitchFamily="34" charset="0"/>
                <a:ea typeface="Geologica" pitchFamily="34" charset="-122"/>
                <a:cs typeface="Geologica" pitchFamily="34" charset="-120"/>
              </a:rPr>
              <a:t>The “Handoff” Protocol and your build-cycle team</a:t>
            </a:r>
            <a:endParaRPr lang="en-US" sz="1250" dirty="0"/>
          </a:p>
        </p:txBody>
      </p:sp>
      <p:sp>
        <p:nvSpPr>
          <p:cNvPr id="31" name="Text 28"/>
          <p:cNvSpPr txBox="1"/>
          <p:nvPr/>
        </p:nvSpPr>
        <p:spPr>
          <a:xfrm>
            <a:off x="10149840" y="5303520"/>
            <a:ext cx="1280160" cy="457200"/>
          </a:xfrm>
          <a:prstGeom prst="rect">
            <a:avLst/>
          </a:prstGeom>
          <a:noFill/>
          <a:ln/>
        </p:spPr>
        <p:txBody>
          <a:bodyPr wrap="square" lIns="0" tIns="0" rIns="0" bIns="0" rtlCol="0" anchor="ctr"/>
          <a:lstStyle/>
          <a:p>
            <a:pPr marL="0" indent="0" algn="r">
              <a:buNone/>
            </a:pPr>
            <a:r>
              <a:rPr lang="en-US" sz="1100" dirty="0">
                <a:solidFill>
                  <a:srgbClr val="9FB4BB"/>
                </a:solidFill>
                <a:latin typeface="Geologica" pitchFamily="34" charset="0"/>
                <a:ea typeface="Geologica" pitchFamily="34" charset="-122"/>
                <a:cs typeface="Geologica" pitchFamily="34" charset="-120"/>
              </a:rPr>
              <a:t>8 min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04</a:t>
            </a:r>
            <a:endParaRPr lang="en-US" sz="900" dirty="0"/>
          </a:p>
        </p:txBody>
      </p:sp>
      <p:sp>
        <p:nvSpPr>
          <p:cNvPr id="4" name="Shape 1"/>
          <p:cNvSpPr/>
          <p:nvPr/>
        </p:nvSpPr>
        <p:spPr>
          <a:xfrm>
            <a:off x="594360" y="1965960"/>
            <a:ext cx="165506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1965960"/>
            <a:ext cx="165506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PART 1 · THE MAP</a:t>
            </a:r>
            <a:endParaRPr lang="en-US" sz="850" dirty="0"/>
          </a:p>
        </p:txBody>
      </p:sp>
      <p:sp>
        <p:nvSpPr>
          <p:cNvPr id="6" name="Text 3"/>
          <p:cNvSpPr txBox="1"/>
          <p:nvPr/>
        </p:nvSpPr>
        <p:spPr>
          <a:xfrm>
            <a:off x="566928" y="237744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Geologica" pitchFamily="34" charset="0"/>
                <a:ea typeface="Geologica" pitchFamily="34" charset="-122"/>
                <a:cs typeface="Geologica" pitchFamily="34" charset="-120"/>
              </a:rPr>
              <a:t>What powers the handoff</a:t>
            </a:r>
            <a:endParaRPr lang="en-US" sz="4400" dirty="0"/>
          </a:p>
        </p:txBody>
      </p:sp>
      <p:sp>
        <p:nvSpPr>
          <p:cNvPr id="7" name="Text 4"/>
          <p:cNvSpPr txBox="1"/>
          <p:nvPr/>
        </p:nvSpPr>
        <p:spPr>
          <a:xfrm>
            <a:off x="594360" y="3429000"/>
            <a:ext cx="9601200" cy="640080"/>
          </a:xfrm>
          <a:prstGeom prst="rect">
            <a:avLst/>
          </a:prstGeom>
          <a:noFill/>
          <a:ln/>
        </p:spPr>
        <p:txBody>
          <a:bodyPr wrap="square" lIns="0" tIns="0" rIns="0" bIns="0" rtlCol="0" anchor="ctr"/>
          <a:lstStyle/>
          <a:p>
            <a:pPr marL="0" indent="0">
              <a:buNone/>
            </a:pPr>
            <a:r>
              <a:rPr lang="en-US" sz="1600" dirty="0">
                <a:solidFill>
                  <a:srgbClr val="E4EEF1"/>
                </a:solidFill>
                <a:latin typeface="Geologica" pitchFamily="34" charset="0"/>
                <a:ea typeface="Geologica" pitchFamily="34" charset="-122"/>
                <a:cs typeface="Geologica" pitchFamily="34" charset="-120"/>
              </a:rPr>
              <a:t>Three ideas from Workshop 1…plus one rule change</a:t>
            </a:r>
            <a:endParaRPr lang="en-US" sz="1600" dirty="0"/>
          </a:p>
        </p:txBody>
      </p:sp>
      <p:sp>
        <p:nvSpPr>
          <p:cNvPr id="8" name="Shape 5"/>
          <p:cNvSpPr/>
          <p:nvPr/>
        </p:nvSpPr>
        <p:spPr>
          <a:xfrm>
            <a:off x="594360" y="4160520"/>
            <a:ext cx="126644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9" name="Text 6"/>
          <p:cNvSpPr txBox="1"/>
          <p:nvPr/>
        </p:nvSpPr>
        <p:spPr>
          <a:xfrm>
            <a:off x="594360" y="4160520"/>
            <a:ext cx="126644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~10 MINUTES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05</a:t>
            </a:r>
            <a:endParaRPr lang="en-US" sz="900" dirty="0"/>
          </a:p>
        </p:txBody>
      </p:sp>
      <p:sp>
        <p:nvSpPr>
          <p:cNvPr id="4" name="Shape 1"/>
          <p:cNvSpPr/>
          <p:nvPr/>
        </p:nvSpPr>
        <p:spPr>
          <a:xfrm>
            <a:off x="594360" y="502920"/>
            <a:ext cx="165506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65506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PART 1 · THE MAP</a:t>
            </a:r>
            <a:endParaRPr lang="en-US" sz="850" dirty="0"/>
          </a:p>
        </p:txBody>
      </p:sp>
      <p:sp>
        <p:nvSpPr>
          <p:cNvPr id="6" name="Text 3"/>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The rule change</a:t>
            </a:r>
            <a:endParaRPr lang="en-US" sz="3000" dirty="0"/>
          </a:p>
        </p:txBody>
      </p:sp>
      <p:sp>
        <p:nvSpPr>
          <p:cNvPr id="7" name="Shape 4"/>
          <p:cNvSpPr/>
          <p:nvPr/>
        </p:nvSpPr>
        <p:spPr>
          <a:xfrm>
            <a:off x="594360" y="1874520"/>
            <a:ext cx="5212080" cy="2651760"/>
          </a:xfrm>
          <a:prstGeom prst="roundRect">
            <a:avLst>
              <a:gd name="adj" fmla="val 4138"/>
            </a:avLst>
          </a:prstGeom>
          <a:solidFill>
            <a:srgbClr val="0F2831">
              <a:alpha val="88000"/>
            </a:srgbClr>
          </a:solidFill>
          <a:ln w="9525">
            <a:solidFill>
              <a:srgbClr val="1E4A55"/>
            </a:solidFill>
            <a:prstDash val="solid"/>
          </a:ln>
        </p:spPr>
        <p:txBody>
          <a:bodyPr/>
          <a:lstStyle/>
          <a:p>
            <a:endParaRPr lang="en-US"/>
          </a:p>
        </p:txBody>
      </p:sp>
      <p:sp>
        <p:nvSpPr>
          <p:cNvPr id="8" name="Text 5"/>
          <p:cNvSpPr txBox="1"/>
          <p:nvPr/>
        </p:nvSpPr>
        <p:spPr>
          <a:xfrm>
            <a:off x="822960" y="2057400"/>
            <a:ext cx="475488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WORKSHOP 1</a:t>
            </a:r>
            <a:endParaRPr lang="en-US" sz="850" dirty="0"/>
          </a:p>
        </p:txBody>
      </p:sp>
      <p:sp>
        <p:nvSpPr>
          <p:cNvPr id="9" name="Text 6"/>
          <p:cNvSpPr txBox="1"/>
          <p:nvPr/>
        </p:nvSpPr>
        <p:spPr>
          <a:xfrm>
            <a:off x="822960" y="2386584"/>
            <a:ext cx="4754880" cy="329184"/>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We committed straight to main</a:t>
            </a:r>
            <a:endParaRPr lang="en-US" sz="1300" dirty="0"/>
          </a:p>
        </p:txBody>
      </p:sp>
      <p:sp>
        <p:nvSpPr>
          <p:cNvPr id="10" name="Text 7"/>
          <p:cNvSpPr txBox="1"/>
          <p:nvPr/>
        </p:nvSpPr>
        <p:spPr>
          <a:xfrm>
            <a:off x="822960" y="2770632"/>
            <a:ext cx="4754880" cy="1618488"/>
          </a:xfrm>
          <a:prstGeom prst="rect">
            <a:avLst/>
          </a:prstGeom>
          <a:noFill/>
          <a:ln/>
        </p:spPr>
        <p:txBody>
          <a:bodyPr wrap="square" lIns="0" tIns="0" rIns="0" bIns="0" rtlCol="0" anchor="t"/>
          <a:lstStyle/>
          <a:p>
            <a:pPr marL="0" indent="0">
              <a:spcAft>
                <a:spcPts val="600"/>
              </a:spcAft>
              <a:buNone/>
            </a:pPr>
            <a:r>
              <a:rPr lang="en-US" sz="1250" dirty="0">
                <a:solidFill>
                  <a:srgbClr val="E4EEF1"/>
                </a:solidFill>
                <a:latin typeface="Geologica" pitchFamily="34" charset="0"/>
                <a:ea typeface="Geologica" pitchFamily="34" charset="-122"/>
                <a:cs typeface="Geologica" pitchFamily="34" charset="-120"/>
              </a:rPr>
              <a:t>We practiced in a solo, private repo where nobody else could be affected. It taught the edit → save → commit → push loop.</a:t>
            </a:r>
            <a:endParaRPr lang="en-US" sz="1250" dirty="0"/>
          </a:p>
        </p:txBody>
      </p:sp>
      <p:sp>
        <p:nvSpPr>
          <p:cNvPr id="11" name="Text 8"/>
          <p:cNvSpPr txBox="1"/>
          <p:nvPr/>
        </p:nvSpPr>
        <p:spPr>
          <a:xfrm>
            <a:off x="5897880" y="2788920"/>
            <a:ext cx="457200" cy="640080"/>
          </a:xfrm>
          <a:prstGeom prst="rect">
            <a:avLst/>
          </a:prstGeom>
          <a:noFill/>
          <a:ln/>
        </p:spPr>
        <p:txBody>
          <a:bodyPr wrap="square" lIns="0" tIns="0" rIns="0" bIns="0" rtlCol="0" anchor="ctr"/>
          <a:lstStyle/>
          <a:p>
            <a:pPr marL="0" indent="0" algn="ctr">
              <a:buNone/>
            </a:pPr>
            <a:r>
              <a:rPr lang="en-US" sz="3200" dirty="0">
                <a:solidFill>
                  <a:srgbClr val="3FC9D4"/>
                </a:solidFill>
                <a:latin typeface="Geologica" pitchFamily="34" charset="0"/>
                <a:ea typeface="Geologica" pitchFamily="34" charset="-122"/>
                <a:cs typeface="Geologica" pitchFamily="34" charset="-120"/>
              </a:rPr>
              <a:t>→</a:t>
            </a:r>
            <a:endParaRPr lang="en-US" sz="3200" dirty="0"/>
          </a:p>
        </p:txBody>
      </p:sp>
      <p:sp>
        <p:nvSpPr>
          <p:cNvPr id="12" name="Shape 9"/>
          <p:cNvSpPr/>
          <p:nvPr/>
        </p:nvSpPr>
        <p:spPr>
          <a:xfrm>
            <a:off x="6382512" y="1874520"/>
            <a:ext cx="5212080" cy="2651760"/>
          </a:xfrm>
          <a:prstGeom prst="roundRect">
            <a:avLst>
              <a:gd name="adj" fmla="val 4138"/>
            </a:avLst>
          </a:prstGeom>
          <a:solidFill>
            <a:srgbClr val="0E5A66">
              <a:alpha val="80000"/>
            </a:srgbClr>
          </a:solidFill>
          <a:ln w="9525">
            <a:solidFill>
              <a:srgbClr val="0094A0"/>
            </a:solidFill>
            <a:prstDash val="solid"/>
          </a:ln>
        </p:spPr>
        <p:txBody>
          <a:bodyPr/>
          <a:lstStyle/>
          <a:p>
            <a:endParaRPr lang="en-US"/>
          </a:p>
        </p:txBody>
      </p:sp>
      <p:sp>
        <p:nvSpPr>
          <p:cNvPr id="13" name="Text 10"/>
          <p:cNvSpPr txBox="1"/>
          <p:nvPr/>
        </p:nvSpPr>
        <p:spPr>
          <a:xfrm>
            <a:off x="6611112" y="2057400"/>
            <a:ext cx="475488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FROM TODAY, AND FOR THE WHOLE BUILD CYCLE</a:t>
            </a:r>
            <a:endParaRPr lang="en-US" sz="850" dirty="0"/>
          </a:p>
        </p:txBody>
      </p:sp>
      <p:sp>
        <p:nvSpPr>
          <p:cNvPr id="14" name="Text 11"/>
          <p:cNvSpPr txBox="1"/>
          <p:nvPr/>
        </p:nvSpPr>
        <p:spPr>
          <a:xfrm>
            <a:off x="6611112" y="2386584"/>
            <a:ext cx="4754880" cy="329184"/>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main is protected</a:t>
            </a:r>
            <a:endParaRPr lang="en-US" sz="1300" dirty="0"/>
          </a:p>
        </p:txBody>
      </p:sp>
      <p:sp>
        <p:nvSpPr>
          <p:cNvPr id="15" name="Text 12"/>
          <p:cNvSpPr txBox="1"/>
          <p:nvPr/>
        </p:nvSpPr>
        <p:spPr>
          <a:xfrm>
            <a:off x="6611112" y="2770632"/>
            <a:ext cx="4754880" cy="1618488"/>
          </a:xfrm>
          <a:prstGeom prst="rect">
            <a:avLst/>
          </a:prstGeom>
          <a:noFill/>
          <a:ln/>
        </p:spPr>
        <p:txBody>
          <a:bodyPr wrap="square" lIns="0" tIns="0" rIns="0" bIns="0" rtlCol="0" anchor="t"/>
          <a:lstStyle/>
          <a:p>
            <a:pPr marL="0" indent="0">
              <a:spcAft>
                <a:spcPts val="600"/>
              </a:spcAft>
              <a:buNone/>
            </a:pPr>
            <a:r>
              <a:rPr lang="en-US" sz="1250" dirty="0">
                <a:solidFill>
                  <a:srgbClr val="E4EEF1"/>
                </a:solidFill>
                <a:latin typeface="Geologica" pitchFamily="34" charset="0"/>
                <a:ea typeface="Geologica" pitchFamily="34" charset="-122"/>
                <a:cs typeface="Geologica" pitchFamily="34" charset="-120"/>
              </a:rPr>
              <a:t>Every change should go through a branch and a pull request. Nobody works on main directly. </a:t>
            </a:r>
            <a:r>
              <a:rPr lang="en-US" sz="1250" b="1" dirty="0">
                <a:solidFill>
                  <a:srgbClr val="E4EEF1"/>
                </a:solidFill>
                <a:latin typeface="Geologica" pitchFamily="34" charset="0"/>
                <a:ea typeface="Geologica" pitchFamily="34" charset="-122"/>
                <a:cs typeface="Geologica" pitchFamily="34" charset="-120"/>
              </a:rPr>
              <a:t>main</a:t>
            </a:r>
            <a:r>
              <a:rPr lang="en-US" sz="1250" i="1" dirty="0">
                <a:solidFill>
                  <a:srgbClr val="E4EEF1"/>
                </a:solidFill>
                <a:latin typeface="Geologica" pitchFamily="34" charset="0"/>
                <a:ea typeface="Geologica" pitchFamily="34" charset="-122"/>
                <a:cs typeface="Geologica" pitchFamily="34" charset="-120"/>
              </a:rPr>
              <a:t> </a:t>
            </a:r>
            <a:r>
              <a:rPr lang="en-US" sz="1250" dirty="0">
                <a:solidFill>
                  <a:srgbClr val="E4EEF1"/>
                </a:solidFill>
                <a:latin typeface="Geologica" pitchFamily="34" charset="0"/>
                <a:ea typeface="Geologica" pitchFamily="34" charset="-122"/>
                <a:cs typeface="Geologica" pitchFamily="34" charset="-120"/>
              </a:rPr>
              <a:t>is the version that always works, and that is what makes it safe to hand to a teammate.</a:t>
            </a:r>
            <a:endParaRPr lang="en-US" sz="1250" dirty="0"/>
          </a:p>
        </p:txBody>
      </p:sp>
      <p:sp>
        <p:nvSpPr>
          <p:cNvPr id="16" name="Shape 13"/>
          <p:cNvSpPr/>
          <p:nvPr/>
        </p:nvSpPr>
        <p:spPr>
          <a:xfrm>
            <a:off x="594360" y="4846320"/>
            <a:ext cx="11002975" cy="640080"/>
          </a:xfrm>
          <a:prstGeom prst="roundRect">
            <a:avLst>
              <a:gd name="adj" fmla="val 14286"/>
            </a:avLst>
          </a:prstGeom>
          <a:solidFill>
            <a:srgbClr val="0B2A33">
              <a:alpha val="90000"/>
            </a:srgbClr>
          </a:solidFill>
          <a:ln w="9525">
            <a:solidFill>
              <a:srgbClr val="1E4A55"/>
            </a:solidFill>
            <a:prstDash val="solid"/>
          </a:ln>
        </p:spPr>
        <p:txBody>
          <a:bodyPr/>
          <a:lstStyle/>
          <a:p>
            <a:endParaRPr lang="en-US"/>
          </a:p>
        </p:txBody>
      </p:sp>
      <p:sp>
        <p:nvSpPr>
          <p:cNvPr id="17" name="Text 14"/>
          <p:cNvSpPr txBox="1"/>
          <p:nvPr/>
        </p:nvSpPr>
        <p:spPr>
          <a:xfrm>
            <a:off x="868680" y="4846320"/>
            <a:ext cx="10454335" cy="640080"/>
          </a:xfrm>
          <a:prstGeom prst="rect">
            <a:avLst/>
          </a:prstGeom>
          <a:noFill/>
          <a:ln/>
        </p:spPr>
        <p:txBody>
          <a:bodyPr wrap="square" lIns="0" tIns="0" rIns="0" bIns="0" rtlCol="0" anchor="ctr"/>
          <a:lstStyle/>
          <a:p>
            <a:pPr marL="0" indent="0">
              <a:buNone/>
            </a:pPr>
            <a:r>
              <a:rPr lang="en-US" sz="1200" b="1" dirty="0">
                <a:solidFill>
                  <a:srgbClr val="FFFFFF"/>
                </a:solidFill>
                <a:latin typeface="Geologica" pitchFamily="34" charset="0"/>
                <a:ea typeface="Geologica" pitchFamily="34" charset="-122"/>
                <a:cs typeface="Geologica" pitchFamily="34" charset="-120"/>
              </a:rPr>
              <a:t>The one exception today: </a:t>
            </a:r>
            <a:r>
              <a:rPr lang="en-US" sz="1200" dirty="0">
                <a:solidFill>
                  <a:srgbClr val="FFFFFF"/>
                </a:solidFill>
                <a:latin typeface="Geologica" pitchFamily="34" charset="0"/>
                <a:ea typeface="Geologica" pitchFamily="34" charset="-122"/>
                <a:cs typeface="Geologica" pitchFamily="34" charset="-120"/>
              </a:rPr>
              <a:t>your prompt doc in Round 1 goes straight to main, because the repo is brand new and nobody else has touched it yet. After that, branches only.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06</a:t>
            </a:r>
            <a:endParaRPr lang="en-US" sz="900" dirty="0"/>
          </a:p>
        </p:txBody>
      </p:sp>
      <p:sp>
        <p:nvSpPr>
          <p:cNvPr id="4" name="Shape 1"/>
          <p:cNvSpPr/>
          <p:nvPr/>
        </p:nvSpPr>
        <p:spPr>
          <a:xfrm>
            <a:off x="594360" y="502920"/>
            <a:ext cx="165506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65506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PART 1 · THE MAP</a:t>
            </a:r>
            <a:endParaRPr lang="en-US" sz="850" dirty="0"/>
          </a:p>
        </p:txBody>
      </p:sp>
      <p:sp>
        <p:nvSpPr>
          <p:cNvPr id="6" name="Text 3"/>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What is a branch?</a:t>
            </a:r>
            <a:endParaRPr lang="en-US" sz="3000" dirty="0"/>
          </a:p>
        </p:txBody>
      </p:sp>
      <p:sp>
        <p:nvSpPr>
          <p:cNvPr id="7" name="Text 4"/>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A branch is many things. For example, scratch paper so </a:t>
            </a:r>
            <a:r>
              <a:rPr lang="en-US" sz="1300" b="1" dirty="0">
                <a:solidFill>
                  <a:srgbClr val="9FB4BB"/>
                </a:solidFill>
                <a:latin typeface="Geologica" pitchFamily="34" charset="0"/>
                <a:ea typeface="Geologica" pitchFamily="34" charset="-122"/>
                <a:cs typeface="Geologica" pitchFamily="34" charset="-120"/>
              </a:rPr>
              <a:t>main</a:t>
            </a:r>
            <a:r>
              <a:rPr lang="en-US" sz="1300" dirty="0">
                <a:solidFill>
                  <a:srgbClr val="9FB4BB"/>
                </a:solidFill>
                <a:latin typeface="Geologica" pitchFamily="34" charset="0"/>
                <a:ea typeface="Geologica" pitchFamily="34" charset="-122"/>
                <a:cs typeface="Geologica" pitchFamily="34" charset="-120"/>
              </a:rPr>
              <a:t> stays clean while you draft; finished work merges back in.</a:t>
            </a:r>
            <a:endParaRPr lang="en-US" sz="1300" dirty="0"/>
          </a:p>
        </p:txBody>
      </p:sp>
      <p:sp>
        <p:nvSpPr>
          <p:cNvPr id="8" name="Shape 5"/>
          <p:cNvSpPr/>
          <p:nvPr/>
        </p:nvSpPr>
        <p:spPr>
          <a:xfrm>
            <a:off x="1097280" y="3977640"/>
            <a:ext cx="10058400" cy="0"/>
          </a:xfrm>
          <a:prstGeom prst="line">
            <a:avLst/>
          </a:prstGeom>
          <a:noFill/>
          <a:ln w="38100">
            <a:solidFill>
              <a:srgbClr val="3FC9D4"/>
            </a:solidFill>
            <a:prstDash val="solid"/>
          </a:ln>
        </p:spPr>
        <p:txBody>
          <a:bodyPr/>
          <a:lstStyle/>
          <a:p>
            <a:endParaRPr lang="en-US"/>
          </a:p>
        </p:txBody>
      </p:sp>
      <p:sp>
        <p:nvSpPr>
          <p:cNvPr id="9" name="Text 6"/>
          <p:cNvSpPr txBox="1"/>
          <p:nvPr/>
        </p:nvSpPr>
        <p:spPr>
          <a:xfrm>
            <a:off x="1005840" y="4114800"/>
            <a:ext cx="1097280" cy="274320"/>
          </a:xfrm>
          <a:prstGeom prst="rect">
            <a:avLst/>
          </a:prstGeom>
          <a:noFill/>
          <a:ln/>
        </p:spPr>
        <p:txBody>
          <a:bodyPr wrap="square" lIns="0" tIns="0" rIns="0" bIns="0" rtlCol="0" anchor="ctr"/>
          <a:lstStyle/>
          <a:p>
            <a:pPr marL="0" indent="0">
              <a:buNone/>
            </a:pPr>
            <a:r>
              <a:rPr lang="en-US" sz="1100" b="1" dirty="0">
                <a:solidFill>
                  <a:srgbClr val="3FC9D4"/>
                </a:solidFill>
                <a:latin typeface="Geologica" pitchFamily="34" charset="0"/>
                <a:ea typeface="Geologica" pitchFamily="34" charset="-122"/>
                <a:cs typeface="Geologica" pitchFamily="34" charset="-120"/>
              </a:rPr>
              <a:t>main</a:t>
            </a:r>
            <a:endParaRPr lang="en-US" sz="1100" dirty="0"/>
          </a:p>
        </p:txBody>
      </p:sp>
      <p:sp>
        <p:nvSpPr>
          <p:cNvPr id="10" name="Shape 7"/>
          <p:cNvSpPr/>
          <p:nvPr/>
        </p:nvSpPr>
        <p:spPr>
          <a:xfrm>
            <a:off x="1709928" y="3858768"/>
            <a:ext cx="237744" cy="237744"/>
          </a:xfrm>
          <a:prstGeom prst="ellipse">
            <a:avLst/>
          </a:prstGeom>
          <a:solidFill>
            <a:srgbClr val="3FC9D4"/>
          </a:solidFill>
          <a:ln w="19050">
            <a:solidFill>
              <a:srgbClr val="03232A"/>
            </a:solidFill>
            <a:prstDash val="solid"/>
          </a:ln>
        </p:spPr>
        <p:txBody>
          <a:bodyPr/>
          <a:lstStyle/>
          <a:p>
            <a:endParaRPr lang="en-US"/>
          </a:p>
        </p:txBody>
      </p:sp>
      <p:sp>
        <p:nvSpPr>
          <p:cNvPr id="11" name="Shape 8"/>
          <p:cNvSpPr/>
          <p:nvPr/>
        </p:nvSpPr>
        <p:spPr>
          <a:xfrm>
            <a:off x="2898648" y="3858768"/>
            <a:ext cx="237744" cy="237744"/>
          </a:xfrm>
          <a:prstGeom prst="ellipse">
            <a:avLst/>
          </a:prstGeom>
          <a:solidFill>
            <a:srgbClr val="3FC9D4"/>
          </a:solidFill>
          <a:ln w="19050">
            <a:solidFill>
              <a:srgbClr val="03232A"/>
            </a:solidFill>
            <a:prstDash val="solid"/>
          </a:ln>
        </p:spPr>
        <p:txBody>
          <a:bodyPr/>
          <a:lstStyle/>
          <a:p>
            <a:endParaRPr lang="en-US"/>
          </a:p>
        </p:txBody>
      </p:sp>
      <p:sp>
        <p:nvSpPr>
          <p:cNvPr id="12" name="Shape 9"/>
          <p:cNvSpPr/>
          <p:nvPr/>
        </p:nvSpPr>
        <p:spPr>
          <a:xfrm>
            <a:off x="8659368" y="3858768"/>
            <a:ext cx="237744" cy="237744"/>
          </a:xfrm>
          <a:prstGeom prst="ellipse">
            <a:avLst/>
          </a:prstGeom>
          <a:solidFill>
            <a:srgbClr val="3FC9D4"/>
          </a:solidFill>
          <a:ln w="19050">
            <a:solidFill>
              <a:srgbClr val="03232A"/>
            </a:solidFill>
            <a:prstDash val="solid"/>
          </a:ln>
        </p:spPr>
        <p:txBody>
          <a:bodyPr/>
          <a:lstStyle/>
          <a:p>
            <a:endParaRPr lang="en-US"/>
          </a:p>
        </p:txBody>
      </p:sp>
      <p:sp>
        <p:nvSpPr>
          <p:cNvPr id="13" name="Shape 10"/>
          <p:cNvSpPr/>
          <p:nvPr/>
        </p:nvSpPr>
        <p:spPr>
          <a:xfrm>
            <a:off x="10122408" y="3858768"/>
            <a:ext cx="237744" cy="237744"/>
          </a:xfrm>
          <a:prstGeom prst="ellipse">
            <a:avLst/>
          </a:prstGeom>
          <a:solidFill>
            <a:srgbClr val="3FC9D4"/>
          </a:solidFill>
          <a:ln w="19050">
            <a:solidFill>
              <a:srgbClr val="03232A"/>
            </a:solidFill>
            <a:prstDash val="solid"/>
          </a:ln>
        </p:spPr>
        <p:txBody>
          <a:bodyPr/>
          <a:lstStyle/>
          <a:p>
            <a:endParaRPr lang="en-US"/>
          </a:p>
        </p:txBody>
      </p:sp>
      <p:sp>
        <p:nvSpPr>
          <p:cNvPr id="14" name="Shape 11"/>
          <p:cNvSpPr/>
          <p:nvPr/>
        </p:nvSpPr>
        <p:spPr>
          <a:xfrm flipV="1">
            <a:off x="3017520" y="2697480"/>
            <a:ext cx="914400" cy="1280160"/>
          </a:xfrm>
          <a:prstGeom prst="line">
            <a:avLst/>
          </a:prstGeom>
          <a:noFill/>
          <a:ln w="38100">
            <a:solidFill>
              <a:srgbClr val="F2C14E"/>
            </a:solidFill>
            <a:prstDash val="solid"/>
          </a:ln>
        </p:spPr>
        <p:txBody>
          <a:bodyPr/>
          <a:lstStyle/>
          <a:p>
            <a:endParaRPr lang="en-US"/>
          </a:p>
        </p:txBody>
      </p:sp>
      <p:sp>
        <p:nvSpPr>
          <p:cNvPr id="15" name="Shape 12"/>
          <p:cNvSpPr/>
          <p:nvPr/>
        </p:nvSpPr>
        <p:spPr>
          <a:xfrm>
            <a:off x="3931920" y="2697480"/>
            <a:ext cx="3931920" cy="0"/>
          </a:xfrm>
          <a:prstGeom prst="line">
            <a:avLst/>
          </a:prstGeom>
          <a:noFill/>
          <a:ln w="38100">
            <a:solidFill>
              <a:srgbClr val="F2C14E"/>
            </a:solidFill>
            <a:prstDash val="solid"/>
          </a:ln>
        </p:spPr>
        <p:txBody>
          <a:bodyPr/>
          <a:lstStyle/>
          <a:p>
            <a:endParaRPr lang="en-US"/>
          </a:p>
        </p:txBody>
      </p:sp>
      <p:sp>
        <p:nvSpPr>
          <p:cNvPr id="16" name="Shape 13"/>
          <p:cNvSpPr/>
          <p:nvPr/>
        </p:nvSpPr>
        <p:spPr>
          <a:xfrm>
            <a:off x="7863840" y="2697480"/>
            <a:ext cx="914400" cy="1280160"/>
          </a:xfrm>
          <a:prstGeom prst="line">
            <a:avLst/>
          </a:prstGeom>
          <a:noFill/>
          <a:ln w="38100">
            <a:solidFill>
              <a:srgbClr val="F2C14E"/>
            </a:solidFill>
            <a:prstDash val="solid"/>
          </a:ln>
        </p:spPr>
        <p:txBody>
          <a:bodyPr/>
          <a:lstStyle/>
          <a:p>
            <a:endParaRPr lang="en-US"/>
          </a:p>
        </p:txBody>
      </p:sp>
      <p:sp>
        <p:nvSpPr>
          <p:cNvPr id="17" name="Shape 14"/>
          <p:cNvSpPr/>
          <p:nvPr/>
        </p:nvSpPr>
        <p:spPr>
          <a:xfrm>
            <a:off x="4270248" y="2578608"/>
            <a:ext cx="237744" cy="237744"/>
          </a:xfrm>
          <a:prstGeom prst="ellipse">
            <a:avLst/>
          </a:prstGeom>
          <a:solidFill>
            <a:srgbClr val="F2C14E"/>
          </a:solidFill>
          <a:ln w="19050">
            <a:solidFill>
              <a:srgbClr val="03232A"/>
            </a:solidFill>
            <a:prstDash val="solid"/>
          </a:ln>
        </p:spPr>
        <p:txBody>
          <a:bodyPr/>
          <a:lstStyle/>
          <a:p>
            <a:endParaRPr lang="en-US"/>
          </a:p>
        </p:txBody>
      </p:sp>
      <p:sp>
        <p:nvSpPr>
          <p:cNvPr id="18" name="Shape 15"/>
          <p:cNvSpPr/>
          <p:nvPr/>
        </p:nvSpPr>
        <p:spPr>
          <a:xfrm>
            <a:off x="5550408" y="2578608"/>
            <a:ext cx="237744" cy="237744"/>
          </a:xfrm>
          <a:prstGeom prst="ellipse">
            <a:avLst/>
          </a:prstGeom>
          <a:solidFill>
            <a:srgbClr val="F2C14E"/>
          </a:solidFill>
          <a:ln w="19050">
            <a:solidFill>
              <a:srgbClr val="03232A"/>
            </a:solidFill>
            <a:prstDash val="solid"/>
          </a:ln>
        </p:spPr>
        <p:txBody>
          <a:bodyPr/>
          <a:lstStyle/>
          <a:p>
            <a:endParaRPr lang="en-US"/>
          </a:p>
        </p:txBody>
      </p:sp>
      <p:sp>
        <p:nvSpPr>
          <p:cNvPr id="19" name="Shape 16"/>
          <p:cNvSpPr/>
          <p:nvPr/>
        </p:nvSpPr>
        <p:spPr>
          <a:xfrm>
            <a:off x="6830568" y="2578608"/>
            <a:ext cx="237744" cy="237744"/>
          </a:xfrm>
          <a:prstGeom prst="ellipse">
            <a:avLst/>
          </a:prstGeom>
          <a:solidFill>
            <a:srgbClr val="F2C14E"/>
          </a:solidFill>
          <a:ln w="19050">
            <a:solidFill>
              <a:srgbClr val="03232A"/>
            </a:solidFill>
            <a:prstDash val="solid"/>
          </a:ln>
        </p:spPr>
        <p:txBody>
          <a:bodyPr/>
          <a:lstStyle/>
          <a:p>
            <a:endParaRPr lang="en-US"/>
          </a:p>
        </p:txBody>
      </p:sp>
      <p:sp>
        <p:nvSpPr>
          <p:cNvPr id="20" name="Text 17"/>
          <p:cNvSpPr txBox="1"/>
          <p:nvPr/>
        </p:nvSpPr>
        <p:spPr>
          <a:xfrm>
            <a:off x="4023360" y="2194560"/>
            <a:ext cx="3291840" cy="274320"/>
          </a:xfrm>
          <a:prstGeom prst="rect">
            <a:avLst/>
          </a:prstGeom>
          <a:noFill/>
          <a:ln/>
        </p:spPr>
        <p:txBody>
          <a:bodyPr wrap="square" lIns="0" tIns="0" rIns="0" bIns="0" rtlCol="0" anchor="ctr"/>
          <a:lstStyle/>
          <a:p>
            <a:pPr marL="0" indent="0">
              <a:buNone/>
            </a:pPr>
            <a:r>
              <a:rPr lang="en-US" sz="1100" b="1" dirty="0">
                <a:solidFill>
                  <a:srgbClr val="F2C14E"/>
                </a:solidFill>
                <a:latin typeface="Geologica" pitchFamily="34" charset="0"/>
                <a:ea typeface="Geologica" pitchFamily="34" charset="-122"/>
                <a:cs typeface="Geologica" pitchFamily="34" charset="-120"/>
              </a:rPr>
              <a:t>feature/new-tagline</a:t>
            </a:r>
            <a:endParaRPr lang="en-US" sz="1100" dirty="0"/>
          </a:p>
        </p:txBody>
      </p:sp>
      <p:sp>
        <p:nvSpPr>
          <p:cNvPr id="21" name="Text 18"/>
          <p:cNvSpPr txBox="1"/>
          <p:nvPr/>
        </p:nvSpPr>
        <p:spPr>
          <a:xfrm>
            <a:off x="2103120" y="4389120"/>
            <a:ext cx="2011680" cy="457200"/>
          </a:xfrm>
          <a:prstGeom prst="rect">
            <a:avLst/>
          </a:prstGeom>
          <a:noFill/>
          <a:ln/>
        </p:spPr>
        <p:txBody>
          <a:bodyPr wrap="square" lIns="0" tIns="0" rIns="0" bIns="0" rtlCol="0" anchor="ctr"/>
          <a:lstStyle/>
          <a:p>
            <a:pPr marL="0" indent="0" algn="ctr">
              <a:buNone/>
            </a:pPr>
            <a:r>
              <a:rPr lang="en-US" sz="1050" dirty="0">
                <a:solidFill>
                  <a:srgbClr val="E4EEF1"/>
                </a:solidFill>
                <a:latin typeface="Geologica" pitchFamily="34" charset="0"/>
                <a:ea typeface="Geologica" pitchFamily="34" charset="-122"/>
                <a:cs typeface="Geologica" pitchFamily="34" charset="-120"/>
              </a:rPr>
              <a:t>1  Branch off main</a:t>
            </a:r>
            <a:endParaRPr lang="en-US" sz="1050" dirty="0"/>
          </a:p>
        </p:txBody>
      </p:sp>
      <p:sp>
        <p:nvSpPr>
          <p:cNvPr id="22" name="Text 19"/>
          <p:cNvSpPr txBox="1"/>
          <p:nvPr/>
        </p:nvSpPr>
        <p:spPr>
          <a:xfrm>
            <a:off x="3840480" y="2971800"/>
            <a:ext cx="4206240" cy="457200"/>
          </a:xfrm>
          <a:prstGeom prst="rect">
            <a:avLst/>
          </a:prstGeom>
          <a:noFill/>
          <a:ln/>
        </p:spPr>
        <p:txBody>
          <a:bodyPr wrap="square" lIns="0" tIns="0" rIns="0" bIns="0" rtlCol="0" anchor="ctr"/>
          <a:lstStyle/>
          <a:p>
            <a:pPr marL="0" indent="0" algn="ctr">
              <a:buNone/>
            </a:pPr>
            <a:r>
              <a:rPr lang="en-US" sz="1050" dirty="0">
                <a:solidFill>
                  <a:srgbClr val="E4EEF1"/>
                </a:solidFill>
                <a:latin typeface="Geologica" pitchFamily="34" charset="0"/>
                <a:ea typeface="Geologica" pitchFamily="34" charset="-122"/>
                <a:cs typeface="Geologica" pitchFamily="34" charset="-120"/>
              </a:rPr>
              <a:t>2  Work and commit on the branch. main is untouched.</a:t>
            </a:r>
            <a:endParaRPr lang="en-US" sz="1050" dirty="0"/>
          </a:p>
        </p:txBody>
      </p:sp>
      <p:sp>
        <p:nvSpPr>
          <p:cNvPr id="23" name="Text 20"/>
          <p:cNvSpPr txBox="1"/>
          <p:nvPr/>
        </p:nvSpPr>
        <p:spPr>
          <a:xfrm>
            <a:off x="6766560" y="4389120"/>
            <a:ext cx="2194560" cy="457200"/>
          </a:xfrm>
          <a:prstGeom prst="rect">
            <a:avLst/>
          </a:prstGeom>
          <a:noFill/>
          <a:ln/>
        </p:spPr>
        <p:txBody>
          <a:bodyPr wrap="square" lIns="0" tIns="0" rIns="0" bIns="0" rtlCol="0" anchor="ctr"/>
          <a:lstStyle/>
          <a:p>
            <a:pPr marL="0" indent="0" algn="ctr">
              <a:buNone/>
            </a:pPr>
            <a:r>
              <a:rPr lang="en-US" sz="1050" dirty="0">
                <a:solidFill>
                  <a:srgbClr val="E4EEF1"/>
                </a:solidFill>
                <a:latin typeface="Geologica" pitchFamily="34" charset="0"/>
                <a:ea typeface="Geologica" pitchFamily="34" charset="-122"/>
                <a:cs typeface="Geologica" pitchFamily="34" charset="-120"/>
              </a:rPr>
              <a:t>3  Pull request:</a:t>
            </a:r>
            <a:endParaRPr lang="en-US" sz="1050" dirty="0"/>
          </a:p>
          <a:p>
            <a:pPr marL="0" indent="0" algn="ctr">
              <a:buNone/>
            </a:pPr>
            <a:r>
              <a:rPr lang="en-US" sz="1050" dirty="0">
                <a:solidFill>
                  <a:srgbClr val="E4EEF1"/>
                </a:solidFill>
                <a:latin typeface="Geologica" pitchFamily="34" charset="0"/>
                <a:ea typeface="Geologica" pitchFamily="34" charset="-122"/>
                <a:cs typeface="Geologica" pitchFamily="34" charset="-120"/>
              </a:rPr>
              <a:t>"look before it counts"</a:t>
            </a:r>
            <a:endParaRPr lang="en-US" sz="1050" dirty="0"/>
          </a:p>
        </p:txBody>
      </p:sp>
      <p:sp>
        <p:nvSpPr>
          <p:cNvPr id="24" name="Text 21"/>
          <p:cNvSpPr txBox="1"/>
          <p:nvPr/>
        </p:nvSpPr>
        <p:spPr>
          <a:xfrm>
            <a:off x="9235440" y="4389120"/>
            <a:ext cx="2011680" cy="457200"/>
          </a:xfrm>
          <a:prstGeom prst="rect">
            <a:avLst/>
          </a:prstGeom>
          <a:noFill/>
          <a:ln/>
        </p:spPr>
        <p:txBody>
          <a:bodyPr wrap="square" lIns="0" tIns="0" rIns="0" bIns="0" rtlCol="0" anchor="ctr"/>
          <a:lstStyle/>
          <a:p>
            <a:pPr marL="0" indent="0" algn="ctr">
              <a:buNone/>
            </a:pPr>
            <a:r>
              <a:rPr lang="en-US" sz="1050" dirty="0">
                <a:solidFill>
                  <a:srgbClr val="E4EEF1"/>
                </a:solidFill>
                <a:latin typeface="Geologica" pitchFamily="34" charset="0"/>
                <a:ea typeface="Geologica" pitchFamily="34" charset="-122"/>
                <a:cs typeface="Geologica" pitchFamily="34" charset="-120"/>
              </a:rPr>
              <a:t>4  Merge.</a:t>
            </a:r>
            <a:endParaRPr lang="en-US" sz="1050" dirty="0"/>
          </a:p>
          <a:p>
            <a:pPr marL="0" indent="0" algn="ctr">
              <a:buNone/>
            </a:pPr>
            <a:r>
              <a:rPr lang="en-US" sz="1050" dirty="0">
                <a:solidFill>
                  <a:srgbClr val="E4EEF1"/>
                </a:solidFill>
                <a:latin typeface="Geologica" pitchFamily="34" charset="0"/>
                <a:ea typeface="Geologica" pitchFamily="34" charset="-122"/>
                <a:cs typeface="Geologica" pitchFamily="34" charset="-120"/>
              </a:rPr>
              <a:t>Delete the branch.</a:t>
            </a:r>
            <a:endParaRPr lang="en-US" sz="1050" dirty="0"/>
          </a:p>
        </p:txBody>
      </p:sp>
      <p:sp>
        <p:nvSpPr>
          <p:cNvPr id="25" name="Text 22"/>
          <p:cNvSpPr txBox="1"/>
          <p:nvPr/>
        </p:nvSpPr>
        <p:spPr>
          <a:xfrm>
            <a:off x="594360" y="5212080"/>
            <a:ext cx="10972800" cy="640080"/>
          </a:xfrm>
          <a:prstGeom prst="rect">
            <a:avLst/>
          </a:prstGeom>
          <a:noFill/>
          <a:ln/>
        </p:spPr>
        <p:txBody>
          <a:bodyPr wrap="square" lIns="0" tIns="0" rIns="0" bIns="0" rtlCol="0" anchor="ctr"/>
          <a:lstStyle/>
          <a:p>
            <a:pPr marL="0" indent="0">
              <a:buNone/>
            </a:pPr>
            <a:r>
              <a:rPr lang="en-US" sz="1200" dirty="0">
                <a:solidFill>
                  <a:srgbClr val="9FB4BB"/>
                </a:solidFill>
                <a:latin typeface="Geologica" pitchFamily="34" charset="0"/>
                <a:ea typeface="Geologica" pitchFamily="34" charset="-122"/>
                <a:cs typeface="Geologica" pitchFamily="34" charset="-120"/>
              </a:rPr>
              <a:t>While the branch exists, </a:t>
            </a:r>
            <a:r>
              <a:rPr lang="en-US" sz="1200" b="1" dirty="0">
                <a:solidFill>
                  <a:srgbClr val="9FB4BB"/>
                </a:solidFill>
                <a:latin typeface="Geologica" pitchFamily="34" charset="0"/>
                <a:ea typeface="Geologica" pitchFamily="34" charset="-122"/>
                <a:cs typeface="Geologica" pitchFamily="34" charset="-120"/>
              </a:rPr>
              <a:t>main</a:t>
            </a:r>
            <a:r>
              <a:rPr lang="en-US" sz="1200" dirty="0">
                <a:solidFill>
                  <a:srgbClr val="9FB4BB"/>
                </a:solidFill>
                <a:latin typeface="Geologica" pitchFamily="34" charset="0"/>
                <a:ea typeface="Geologica" pitchFamily="34" charset="-122"/>
                <a:cs typeface="Geologica" pitchFamily="34" charset="-120"/>
              </a:rPr>
              <a:t> and the branch are two versions of the same project. The pull request is where you compare them, line by line, before they become one again.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07</a:t>
            </a:r>
            <a:endParaRPr lang="en-US" sz="900" dirty="0"/>
          </a:p>
        </p:txBody>
      </p:sp>
      <p:sp>
        <p:nvSpPr>
          <p:cNvPr id="4" name="Shape 1"/>
          <p:cNvSpPr/>
          <p:nvPr/>
        </p:nvSpPr>
        <p:spPr>
          <a:xfrm>
            <a:off x="594360" y="502920"/>
            <a:ext cx="165506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65506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PART 1 · THE MAP</a:t>
            </a:r>
            <a:endParaRPr lang="en-US" sz="850" dirty="0"/>
          </a:p>
        </p:txBody>
      </p:sp>
      <p:sp>
        <p:nvSpPr>
          <p:cNvPr id="6" name="Text 3"/>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When do I make a new branch?</a:t>
            </a:r>
            <a:endParaRPr lang="en-US" sz="3000" dirty="0"/>
          </a:p>
        </p:txBody>
      </p:sp>
      <p:sp>
        <p:nvSpPr>
          <p:cNvPr id="7" name="Text 4"/>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rPr>
              <a:t>There are generally four different points when you a branch is a reasonable choice.</a:t>
            </a:r>
            <a:endParaRPr lang="en-US" sz="1300" dirty="0"/>
          </a:p>
        </p:txBody>
      </p:sp>
      <p:sp>
        <p:nvSpPr>
          <p:cNvPr id="8" name="Shape 5"/>
          <p:cNvSpPr/>
          <p:nvPr/>
        </p:nvSpPr>
        <p:spPr>
          <a:xfrm>
            <a:off x="594360" y="2148840"/>
            <a:ext cx="2633472" cy="2606040"/>
          </a:xfrm>
          <a:prstGeom prst="roundRect">
            <a:avLst>
              <a:gd name="adj" fmla="val 4211"/>
            </a:avLst>
          </a:prstGeom>
          <a:solidFill>
            <a:srgbClr val="0F2831">
              <a:alpha val="88000"/>
            </a:srgbClr>
          </a:solidFill>
          <a:ln w="9525">
            <a:solidFill>
              <a:srgbClr val="1E4A55"/>
            </a:solidFill>
            <a:prstDash val="solid"/>
          </a:ln>
        </p:spPr>
        <p:txBody>
          <a:bodyPr/>
          <a:lstStyle/>
          <a:p>
            <a:endParaRPr lang="en-US"/>
          </a:p>
        </p:txBody>
      </p:sp>
      <p:sp>
        <p:nvSpPr>
          <p:cNvPr id="9" name="Text 6"/>
          <p:cNvSpPr txBox="1"/>
          <p:nvPr/>
        </p:nvSpPr>
        <p:spPr>
          <a:xfrm>
            <a:off x="822960" y="228600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1</a:t>
            </a:r>
            <a:endParaRPr lang="en-US" sz="2400" dirty="0"/>
          </a:p>
        </p:txBody>
      </p:sp>
      <p:sp>
        <p:nvSpPr>
          <p:cNvPr id="10" name="Text 7"/>
          <p:cNvSpPr txBox="1"/>
          <p:nvPr/>
        </p:nvSpPr>
        <p:spPr>
          <a:xfrm>
            <a:off x="822960" y="2807208"/>
            <a:ext cx="2176272" cy="685800"/>
          </a:xfrm>
          <a:prstGeom prst="rect">
            <a:avLst/>
          </a:prstGeom>
          <a:noFill/>
          <a:ln/>
        </p:spPr>
        <p:txBody>
          <a:bodyPr wrap="square" lIns="0" tIns="0" rIns="0" bIns="0" rtlCol="0" anchor="t"/>
          <a:lstStyle/>
          <a:p>
            <a:pPr marL="0" indent="0">
              <a:buNone/>
            </a:pPr>
            <a:r>
              <a:rPr lang="en-US" sz="1250" b="1" dirty="0">
                <a:solidFill>
                  <a:srgbClr val="FFFFFF"/>
                </a:solidFill>
                <a:latin typeface="Geologica" pitchFamily="34" charset="0"/>
                <a:ea typeface="Geologica" pitchFamily="34" charset="-122"/>
                <a:cs typeface="Geologica" pitchFamily="34" charset="-120"/>
              </a:rPr>
              <a:t>Starting a new task</a:t>
            </a:r>
            <a:endParaRPr lang="en-US" sz="1250" dirty="0"/>
          </a:p>
        </p:txBody>
      </p:sp>
      <p:sp>
        <p:nvSpPr>
          <p:cNvPr id="11" name="Text 8"/>
          <p:cNvSpPr txBox="1"/>
          <p:nvPr/>
        </p:nvSpPr>
        <p:spPr>
          <a:xfrm>
            <a:off x="822960" y="3474720"/>
            <a:ext cx="2176272" cy="868680"/>
          </a:xfrm>
          <a:prstGeom prst="rect">
            <a:avLst/>
          </a:prstGeom>
          <a:noFill/>
          <a:ln/>
        </p:spPr>
        <p:txBody>
          <a:bodyPr wrap="square" lIns="0" tIns="0" rIns="0" bIns="0" rtlCol="0" anchor="t"/>
          <a:lstStyle/>
          <a:p>
            <a:pPr marL="0" indent="0">
              <a:buNone/>
            </a:pPr>
            <a:r>
              <a:rPr lang="en-US" sz="1050" dirty="0">
                <a:solidFill>
                  <a:srgbClr val="E4EEF1"/>
                </a:solidFill>
                <a:latin typeface="Geologica" pitchFamily="34" charset="0"/>
                <a:ea typeface="Geologica" pitchFamily="34" charset="-122"/>
                <a:cs typeface="Geologica" pitchFamily="34" charset="-120"/>
              </a:rPr>
              <a:t>A new feature, new page, or a new fix generally means a new branch.</a:t>
            </a:r>
            <a:endParaRPr lang="en-US" sz="1050" dirty="0"/>
          </a:p>
        </p:txBody>
      </p:sp>
      <p:sp>
        <p:nvSpPr>
          <p:cNvPr id="12" name="Text 9"/>
          <p:cNvSpPr txBox="1"/>
          <p:nvPr/>
        </p:nvSpPr>
        <p:spPr>
          <a:xfrm>
            <a:off x="822960" y="4297680"/>
            <a:ext cx="2176272" cy="411480"/>
          </a:xfrm>
          <a:prstGeom prst="rect">
            <a:avLst/>
          </a:prstGeom>
          <a:noFill/>
          <a:ln/>
        </p:spPr>
        <p:txBody>
          <a:bodyPr wrap="square" lIns="0" tIns="0" rIns="0" bIns="0" rtlCol="0" anchor="t"/>
          <a:lstStyle/>
          <a:p>
            <a:pPr marL="0" indent="0">
              <a:buNone/>
            </a:pPr>
            <a:r>
              <a:rPr lang="en-US" sz="950" dirty="0">
                <a:solidFill>
                  <a:srgbClr val="3FC9D4"/>
                </a:solidFill>
                <a:latin typeface="Courier New" pitchFamily="34" charset="0"/>
                <a:ea typeface="Courier New" pitchFamily="34" charset="-122"/>
                <a:cs typeface="Courier New" pitchFamily="34" charset="-120"/>
              </a:rPr>
              <a:t>feature/contact-form</a:t>
            </a:r>
            <a:endParaRPr lang="en-US" sz="950" dirty="0"/>
          </a:p>
          <a:p>
            <a:pPr marL="0" indent="0">
              <a:buNone/>
            </a:pPr>
            <a:r>
              <a:rPr lang="en-US" sz="950" dirty="0">
                <a:solidFill>
                  <a:srgbClr val="3FC9D4"/>
                </a:solidFill>
                <a:latin typeface="Courier New" pitchFamily="34" charset="0"/>
                <a:ea typeface="Courier New" pitchFamily="34" charset="-122"/>
                <a:cs typeface="Courier New" pitchFamily="34" charset="-120"/>
              </a:rPr>
              <a:t>fix/broken-link</a:t>
            </a:r>
            <a:endParaRPr lang="en-US" sz="950" dirty="0"/>
          </a:p>
        </p:txBody>
      </p:sp>
      <p:sp>
        <p:nvSpPr>
          <p:cNvPr id="13" name="Shape 10"/>
          <p:cNvSpPr/>
          <p:nvPr/>
        </p:nvSpPr>
        <p:spPr>
          <a:xfrm>
            <a:off x="3383280" y="2148840"/>
            <a:ext cx="2633472" cy="2606040"/>
          </a:xfrm>
          <a:prstGeom prst="roundRect">
            <a:avLst>
              <a:gd name="adj" fmla="val 4211"/>
            </a:avLst>
          </a:prstGeom>
          <a:solidFill>
            <a:srgbClr val="0F2831">
              <a:alpha val="88000"/>
            </a:srgbClr>
          </a:solidFill>
          <a:ln w="9525">
            <a:solidFill>
              <a:srgbClr val="1E4A55"/>
            </a:solidFill>
            <a:prstDash val="solid"/>
          </a:ln>
        </p:spPr>
        <p:txBody>
          <a:bodyPr/>
          <a:lstStyle/>
          <a:p>
            <a:endParaRPr lang="en-US"/>
          </a:p>
        </p:txBody>
      </p:sp>
      <p:sp>
        <p:nvSpPr>
          <p:cNvPr id="14" name="Text 11"/>
          <p:cNvSpPr txBox="1"/>
          <p:nvPr/>
        </p:nvSpPr>
        <p:spPr>
          <a:xfrm>
            <a:off x="3611880" y="228600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2</a:t>
            </a:r>
            <a:endParaRPr lang="en-US" sz="2400" dirty="0"/>
          </a:p>
        </p:txBody>
      </p:sp>
      <p:sp>
        <p:nvSpPr>
          <p:cNvPr id="15" name="Text 12"/>
          <p:cNvSpPr txBox="1"/>
          <p:nvPr/>
        </p:nvSpPr>
        <p:spPr>
          <a:xfrm>
            <a:off x="3611880" y="2807208"/>
            <a:ext cx="2176272" cy="685800"/>
          </a:xfrm>
          <a:prstGeom prst="rect">
            <a:avLst/>
          </a:prstGeom>
          <a:noFill/>
          <a:ln/>
        </p:spPr>
        <p:txBody>
          <a:bodyPr wrap="square" lIns="0" tIns="0" rIns="0" bIns="0" rtlCol="0" anchor="t"/>
          <a:lstStyle/>
          <a:p>
            <a:pPr marL="0" indent="0">
              <a:buNone/>
            </a:pPr>
            <a:r>
              <a:rPr lang="en-US" sz="1250" b="1" dirty="0">
                <a:solidFill>
                  <a:srgbClr val="FFFFFF"/>
                </a:solidFill>
                <a:latin typeface="Geologica" pitchFamily="34" charset="0"/>
                <a:ea typeface="Geologica" pitchFamily="34" charset="-122"/>
                <a:cs typeface="Geologica" pitchFamily="34" charset="-120"/>
              </a:rPr>
              <a:t>Something works and the next change might break it</a:t>
            </a:r>
            <a:endParaRPr lang="en-US" sz="1250" dirty="0"/>
          </a:p>
        </p:txBody>
      </p:sp>
      <p:sp>
        <p:nvSpPr>
          <p:cNvPr id="16" name="Text 13"/>
          <p:cNvSpPr txBox="1"/>
          <p:nvPr/>
        </p:nvSpPr>
        <p:spPr>
          <a:xfrm>
            <a:off x="3611880" y="3474720"/>
            <a:ext cx="2176272" cy="868680"/>
          </a:xfrm>
          <a:prstGeom prst="rect">
            <a:avLst/>
          </a:prstGeom>
          <a:noFill/>
          <a:ln/>
        </p:spPr>
        <p:txBody>
          <a:bodyPr wrap="square" lIns="0" tIns="0" rIns="0" bIns="0" rtlCol="0" anchor="t"/>
          <a:lstStyle/>
          <a:p>
            <a:pPr marL="0" indent="0">
              <a:buNone/>
            </a:pPr>
            <a:r>
              <a:rPr lang="en-US" sz="1050" dirty="0">
                <a:solidFill>
                  <a:srgbClr val="E4EEF1"/>
                </a:solidFill>
                <a:latin typeface="Geologica" pitchFamily="34" charset="0"/>
                <a:ea typeface="Geologica" pitchFamily="34" charset="-122"/>
                <a:cs typeface="Geologica" pitchFamily="34" charset="-120"/>
              </a:rPr>
              <a:t>Keep the working version of your project safe while you check if a change breaks or betters the code.</a:t>
            </a:r>
            <a:endParaRPr lang="en-US" sz="1050" dirty="0"/>
          </a:p>
        </p:txBody>
      </p:sp>
      <p:sp>
        <p:nvSpPr>
          <p:cNvPr id="17" name="Text 14"/>
          <p:cNvSpPr txBox="1"/>
          <p:nvPr/>
        </p:nvSpPr>
        <p:spPr>
          <a:xfrm>
            <a:off x="3611880" y="4297680"/>
            <a:ext cx="2176272" cy="411480"/>
          </a:xfrm>
          <a:prstGeom prst="rect">
            <a:avLst/>
          </a:prstGeom>
          <a:noFill/>
          <a:ln/>
        </p:spPr>
        <p:txBody>
          <a:bodyPr wrap="square" lIns="0" tIns="0" rIns="0" bIns="0" rtlCol="0" anchor="t"/>
          <a:lstStyle/>
          <a:p>
            <a:pPr marL="0" indent="0">
              <a:buNone/>
            </a:pPr>
            <a:r>
              <a:rPr lang="en-US" sz="950" dirty="0">
                <a:solidFill>
                  <a:srgbClr val="3FC9D4"/>
                </a:solidFill>
                <a:latin typeface="Courier New" pitchFamily="34" charset="0"/>
                <a:ea typeface="Courier New" pitchFamily="34" charset="-122"/>
                <a:cs typeface="Courier New" pitchFamily="34" charset="-120"/>
              </a:rPr>
              <a:t>feature/step-2-of-map</a:t>
            </a:r>
            <a:endParaRPr lang="en-US" sz="950" dirty="0"/>
          </a:p>
        </p:txBody>
      </p:sp>
      <p:sp>
        <p:nvSpPr>
          <p:cNvPr id="18" name="Shape 15"/>
          <p:cNvSpPr/>
          <p:nvPr/>
        </p:nvSpPr>
        <p:spPr>
          <a:xfrm>
            <a:off x="6172200" y="2148840"/>
            <a:ext cx="2633472" cy="2606040"/>
          </a:xfrm>
          <a:prstGeom prst="roundRect">
            <a:avLst>
              <a:gd name="adj" fmla="val 4211"/>
            </a:avLst>
          </a:prstGeom>
          <a:solidFill>
            <a:srgbClr val="0F2831">
              <a:alpha val="88000"/>
            </a:srgbClr>
          </a:solidFill>
          <a:ln w="9525">
            <a:solidFill>
              <a:srgbClr val="1E4A55"/>
            </a:solidFill>
            <a:prstDash val="solid"/>
          </a:ln>
        </p:spPr>
        <p:txBody>
          <a:bodyPr/>
          <a:lstStyle/>
          <a:p>
            <a:endParaRPr lang="en-US"/>
          </a:p>
        </p:txBody>
      </p:sp>
      <p:sp>
        <p:nvSpPr>
          <p:cNvPr id="19" name="Text 16"/>
          <p:cNvSpPr txBox="1"/>
          <p:nvPr/>
        </p:nvSpPr>
        <p:spPr>
          <a:xfrm>
            <a:off x="6400800" y="228600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3</a:t>
            </a:r>
            <a:endParaRPr lang="en-US" sz="2400" dirty="0"/>
          </a:p>
        </p:txBody>
      </p:sp>
      <p:sp>
        <p:nvSpPr>
          <p:cNvPr id="20" name="Text 17"/>
          <p:cNvSpPr txBox="1"/>
          <p:nvPr/>
        </p:nvSpPr>
        <p:spPr>
          <a:xfrm>
            <a:off x="6400800" y="2807208"/>
            <a:ext cx="2176272" cy="685800"/>
          </a:xfrm>
          <a:prstGeom prst="rect">
            <a:avLst/>
          </a:prstGeom>
          <a:noFill/>
          <a:ln/>
        </p:spPr>
        <p:txBody>
          <a:bodyPr wrap="square" lIns="0" tIns="0" rIns="0" bIns="0" rtlCol="0" anchor="t"/>
          <a:lstStyle/>
          <a:p>
            <a:pPr marL="0" indent="0">
              <a:buNone/>
            </a:pPr>
            <a:r>
              <a:rPr lang="en-US" sz="1250" b="1" dirty="0">
                <a:solidFill>
                  <a:srgbClr val="FFFFFF"/>
                </a:solidFill>
                <a:latin typeface="Geologica" pitchFamily="34" charset="0"/>
                <a:ea typeface="Geologica" pitchFamily="34" charset="-122"/>
                <a:cs typeface="Geologica" pitchFamily="34" charset="-120"/>
              </a:rPr>
              <a:t>Trying something you might throw away</a:t>
            </a:r>
            <a:endParaRPr lang="en-US" sz="1250" dirty="0"/>
          </a:p>
        </p:txBody>
      </p:sp>
      <p:sp>
        <p:nvSpPr>
          <p:cNvPr id="21" name="Text 18"/>
          <p:cNvSpPr txBox="1"/>
          <p:nvPr/>
        </p:nvSpPr>
        <p:spPr>
          <a:xfrm>
            <a:off x="6400800" y="3474720"/>
            <a:ext cx="2176272" cy="868680"/>
          </a:xfrm>
          <a:prstGeom prst="rect">
            <a:avLst/>
          </a:prstGeom>
          <a:noFill/>
          <a:ln/>
        </p:spPr>
        <p:txBody>
          <a:bodyPr wrap="square" lIns="0" tIns="0" rIns="0" bIns="0" rtlCol="0" anchor="t"/>
          <a:lstStyle/>
          <a:p>
            <a:pPr marL="0" indent="0">
              <a:buNone/>
            </a:pPr>
            <a:r>
              <a:rPr lang="en-US" sz="1050" dirty="0">
                <a:solidFill>
                  <a:srgbClr val="E4EEF1"/>
                </a:solidFill>
                <a:latin typeface="Geologica" pitchFamily="34" charset="0"/>
                <a:ea typeface="Geologica" pitchFamily="34" charset="-122"/>
                <a:cs typeface="Geologica" pitchFamily="34" charset="-120"/>
              </a:rPr>
              <a:t>Branch, experiment, delete the branch if it fails. Main and other branches will not be affected.</a:t>
            </a:r>
            <a:endParaRPr lang="en-US" sz="1050" dirty="0"/>
          </a:p>
        </p:txBody>
      </p:sp>
      <p:sp>
        <p:nvSpPr>
          <p:cNvPr id="22" name="Text 19"/>
          <p:cNvSpPr txBox="1"/>
          <p:nvPr/>
        </p:nvSpPr>
        <p:spPr>
          <a:xfrm>
            <a:off x="6400800" y="4297680"/>
            <a:ext cx="2176272" cy="411480"/>
          </a:xfrm>
          <a:prstGeom prst="rect">
            <a:avLst/>
          </a:prstGeom>
          <a:noFill/>
          <a:ln/>
        </p:spPr>
        <p:txBody>
          <a:bodyPr wrap="square" lIns="0" tIns="0" rIns="0" bIns="0" rtlCol="0" anchor="t"/>
          <a:lstStyle/>
          <a:p>
            <a:pPr marL="0" indent="0">
              <a:buNone/>
            </a:pPr>
            <a:r>
              <a:rPr lang="en-US" sz="950" dirty="0">
                <a:solidFill>
                  <a:srgbClr val="3FC9D4"/>
                </a:solidFill>
                <a:latin typeface="Courier New" pitchFamily="34" charset="0"/>
                <a:ea typeface="Courier New" pitchFamily="34" charset="-122"/>
                <a:cs typeface="Courier New" pitchFamily="34" charset="-120"/>
              </a:rPr>
              <a:t>try/dark-mode</a:t>
            </a:r>
            <a:endParaRPr lang="en-US" sz="950" dirty="0"/>
          </a:p>
        </p:txBody>
      </p:sp>
      <p:sp>
        <p:nvSpPr>
          <p:cNvPr id="23" name="Shape 20"/>
          <p:cNvSpPr/>
          <p:nvPr/>
        </p:nvSpPr>
        <p:spPr>
          <a:xfrm>
            <a:off x="8961120" y="2148840"/>
            <a:ext cx="2633472" cy="2606040"/>
          </a:xfrm>
          <a:prstGeom prst="roundRect">
            <a:avLst>
              <a:gd name="adj" fmla="val 4211"/>
            </a:avLst>
          </a:prstGeom>
          <a:solidFill>
            <a:srgbClr val="0F2831">
              <a:alpha val="88000"/>
            </a:srgbClr>
          </a:solidFill>
          <a:ln w="9525">
            <a:solidFill>
              <a:srgbClr val="1E4A55"/>
            </a:solidFill>
            <a:prstDash val="solid"/>
          </a:ln>
        </p:spPr>
        <p:txBody>
          <a:bodyPr/>
          <a:lstStyle/>
          <a:p>
            <a:endParaRPr lang="en-US"/>
          </a:p>
        </p:txBody>
      </p:sp>
      <p:sp>
        <p:nvSpPr>
          <p:cNvPr id="24" name="Text 21"/>
          <p:cNvSpPr txBox="1"/>
          <p:nvPr/>
        </p:nvSpPr>
        <p:spPr>
          <a:xfrm>
            <a:off x="9189720" y="228600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4</a:t>
            </a:r>
            <a:endParaRPr lang="en-US" sz="2400" dirty="0"/>
          </a:p>
        </p:txBody>
      </p:sp>
      <p:sp>
        <p:nvSpPr>
          <p:cNvPr id="25" name="Text 22"/>
          <p:cNvSpPr txBox="1"/>
          <p:nvPr/>
        </p:nvSpPr>
        <p:spPr>
          <a:xfrm>
            <a:off x="9189720" y="2807208"/>
            <a:ext cx="2176272" cy="685800"/>
          </a:xfrm>
          <a:prstGeom prst="rect">
            <a:avLst/>
          </a:prstGeom>
          <a:noFill/>
          <a:ln/>
        </p:spPr>
        <p:txBody>
          <a:bodyPr wrap="square" lIns="0" tIns="0" rIns="0" bIns="0" rtlCol="0" anchor="t"/>
          <a:lstStyle/>
          <a:p>
            <a:pPr marL="0" indent="0">
              <a:buNone/>
            </a:pPr>
            <a:r>
              <a:rPr lang="en-US" sz="1250" b="1" dirty="0">
                <a:solidFill>
                  <a:srgbClr val="FFFFFF"/>
                </a:solidFill>
                <a:latin typeface="Geologica" pitchFamily="34" charset="0"/>
                <a:ea typeface="Geologica" pitchFamily="34" charset="-122"/>
                <a:cs typeface="Geologica" pitchFamily="34" charset="-120"/>
              </a:rPr>
              <a:t>Someone else is working on a nearby feature</a:t>
            </a:r>
            <a:endParaRPr lang="en-US" sz="1250" dirty="0"/>
          </a:p>
        </p:txBody>
      </p:sp>
      <p:sp>
        <p:nvSpPr>
          <p:cNvPr id="26" name="Text 23"/>
          <p:cNvSpPr txBox="1"/>
          <p:nvPr/>
        </p:nvSpPr>
        <p:spPr>
          <a:xfrm>
            <a:off x="9189720" y="3474720"/>
            <a:ext cx="2176272" cy="868680"/>
          </a:xfrm>
          <a:prstGeom prst="rect">
            <a:avLst/>
          </a:prstGeom>
          <a:noFill/>
          <a:ln/>
        </p:spPr>
        <p:txBody>
          <a:bodyPr wrap="square" lIns="0" tIns="0" rIns="0" bIns="0" rtlCol="0" anchor="t"/>
          <a:lstStyle/>
          <a:p>
            <a:pPr marL="0" indent="0">
              <a:buNone/>
            </a:pPr>
            <a:r>
              <a:rPr lang="en-US" sz="1050" dirty="0">
                <a:solidFill>
                  <a:srgbClr val="E4EEF1"/>
                </a:solidFill>
                <a:latin typeface="Geologica" pitchFamily="34" charset="0"/>
                <a:ea typeface="Geologica" pitchFamily="34" charset="-122"/>
                <a:cs typeface="Geologica" pitchFamily="34" charset="-120"/>
              </a:rPr>
              <a:t>Two people, two branches. The pull request shows exactly where the two versions differ.</a:t>
            </a:r>
            <a:endParaRPr lang="en-US" sz="1050" dirty="0"/>
          </a:p>
        </p:txBody>
      </p:sp>
      <p:sp>
        <p:nvSpPr>
          <p:cNvPr id="27" name="Text 24"/>
          <p:cNvSpPr txBox="1"/>
          <p:nvPr/>
        </p:nvSpPr>
        <p:spPr>
          <a:xfrm>
            <a:off x="9189720" y="4297680"/>
            <a:ext cx="2176272" cy="411480"/>
          </a:xfrm>
          <a:prstGeom prst="rect">
            <a:avLst/>
          </a:prstGeom>
          <a:noFill/>
          <a:ln/>
        </p:spPr>
        <p:txBody>
          <a:bodyPr wrap="square" lIns="0" tIns="0" rIns="0" bIns="0" rtlCol="0" anchor="t"/>
          <a:lstStyle/>
          <a:p>
            <a:pPr marL="0" indent="0">
              <a:buNone/>
            </a:pPr>
            <a:r>
              <a:rPr lang="en-US" sz="950" dirty="0">
                <a:solidFill>
                  <a:srgbClr val="3FC9D4"/>
                </a:solidFill>
                <a:latin typeface="Courier New" pitchFamily="34" charset="0"/>
                <a:ea typeface="Courier New" pitchFamily="34" charset="-122"/>
                <a:cs typeface="Courier New" pitchFamily="34" charset="-120"/>
              </a:rPr>
              <a:t>feature/maria-header</a:t>
            </a:r>
            <a:endParaRPr lang="en-US" sz="950" dirty="0"/>
          </a:p>
          <a:p>
            <a:pPr marL="0" indent="0">
              <a:buNone/>
            </a:pPr>
            <a:r>
              <a:rPr lang="en-US" sz="950" dirty="0">
                <a:solidFill>
                  <a:srgbClr val="3FC9D4"/>
                </a:solidFill>
                <a:latin typeface="Courier New" pitchFamily="34" charset="0"/>
                <a:ea typeface="Courier New" pitchFamily="34" charset="-122"/>
                <a:cs typeface="Courier New" pitchFamily="34" charset="-120"/>
              </a:rPr>
              <a:t>feature/dev-footer</a:t>
            </a:r>
            <a:endParaRPr lang="en-US" sz="950" dirty="0"/>
          </a:p>
        </p:txBody>
      </p:sp>
      <p:sp>
        <p:nvSpPr>
          <p:cNvPr id="28" name="Shape 25"/>
          <p:cNvSpPr/>
          <p:nvPr/>
        </p:nvSpPr>
        <p:spPr>
          <a:xfrm>
            <a:off x="594360" y="4983480"/>
            <a:ext cx="11002975" cy="594360"/>
          </a:xfrm>
          <a:prstGeom prst="roundRect">
            <a:avLst>
              <a:gd name="adj" fmla="val 15385"/>
            </a:avLst>
          </a:prstGeom>
          <a:solidFill>
            <a:srgbClr val="0E5A66"/>
          </a:solidFill>
          <a:ln w="9525">
            <a:solidFill>
              <a:srgbClr val="0094A0"/>
            </a:solidFill>
            <a:prstDash val="solid"/>
          </a:ln>
        </p:spPr>
        <p:txBody>
          <a:bodyPr/>
          <a:lstStyle/>
          <a:p>
            <a:endParaRPr lang="en-US"/>
          </a:p>
        </p:txBody>
      </p:sp>
      <p:sp>
        <p:nvSpPr>
          <p:cNvPr id="29" name="Text 26"/>
          <p:cNvSpPr txBox="1"/>
          <p:nvPr/>
        </p:nvSpPr>
        <p:spPr>
          <a:xfrm>
            <a:off x="868680" y="4983480"/>
            <a:ext cx="10454335" cy="594360"/>
          </a:xfrm>
          <a:prstGeom prst="rect">
            <a:avLst/>
          </a:prstGeom>
          <a:noFill/>
          <a:ln/>
        </p:spPr>
        <p:txBody>
          <a:bodyPr wrap="square" lIns="0" tIns="0" rIns="0" bIns="0" rtlCol="0" anchor="ctr"/>
          <a:lstStyle/>
          <a:p>
            <a:pPr marL="0" indent="0">
              <a:buNone/>
            </a:pPr>
            <a:r>
              <a:rPr lang="en-US" sz="1200" b="1" dirty="0">
                <a:solidFill>
                  <a:srgbClr val="FFFFFF"/>
                </a:solidFill>
                <a:latin typeface="Geologica" pitchFamily="34" charset="0"/>
                <a:ea typeface="Geologica" pitchFamily="34" charset="-122"/>
                <a:cs typeface="Geologica" pitchFamily="34" charset="-120"/>
              </a:rPr>
              <a:t>One branch = one person = one task. </a:t>
            </a:r>
            <a:r>
              <a:rPr lang="en-US" sz="1200" dirty="0">
                <a:solidFill>
                  <a:srgbClr val="FFFFFF"/>
                </a:solidFill>
                <a:latin typeface="Geologica" pitchFamily="34" charset="0"/>
                <a:ea typeface="Geologica" pitchFamily="34" charset="-122"/>
                <a:cs typeface="Geologica" pitchFamily="34" charset="-120"/>
              </a:rPr>
              <a:t>Keep it short-lived (hours or days, not weeks) and name it so a teammate can guess what is on it without opening it.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08</a:t>
            </a:r>
            <a:endParaRPr lang="en-US" sz="900" dirty="0"/>
          </a:p>
        </p:txBody>
      </p:sp>
      <p:sp>
        <p:nvSpPr>
          <p:cNvPr id="4" name="Shape 1"/>
          <p:cNvSpPr/>
          <p:nvPr/>
        </p:nvSpPr>
        <p:spPr>
          <a:xfrm>
            <a:off x="594360" y="502920"/>
            <a:ext cx="165506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65506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PART 1 · THE MAP</a:t>
            </a:r>
            <a:endParaRPr lang="en-US" sz="850" dirty="0"/>
          </a:p>
        </p:txBody>
      </p:sp>
      <p:sp>
        <p:nvSpPr>
          <p:cNvPr id="6" name="Text 3"/>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Branch, then what?</a:t>
            </a:r>
            <a:endParaRPr lang="en-US" sz="3000" dirty="0"/>
          </a:p>
        </p:txBody>
      </p:sp>
      <p:sp>
        <p:nvSpPr>
          <p:cNvPr id="7" name="Text 4"/>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The full cycle. Steps 5 to 7 are what we add today.</a:t>
            </a:r>
            <a:endParaRPr lang="en-US" sz="1300" dirty="0"/>
          </a:p>
        </p:txBody>
      </p:sp>
      <p:sp>
        <p:nvSpPr>
          <p:cNvPr id="8" name="Shape 5"/>
          <p:cNvSpPr/>
          <p:nvPr/>
        </p:nvSpPr>
        <p:spPr>
          <a:xfrm>
            <a:off x="594360" y="2514600"/>
            <a:ext cx="1207008" cy="960120"/>
          </a:xfrm>
          <a:prstGeom prst="roundRect">
            <a:avLst>
              <a:gd name="adj" fmla="val 9524"/>
            </a:avLst>
          </a:prstGeom>
          <a:solidFill>
            <a:srgbClr val="0F2831">
              <a:alpha val="88000"/>
            </a:srgbClr>
          </a:solidFill>
          <a:ln w="9525">
            <a:solidFill>
              <a:srgbClr val="1E4A55"/>
            </a:solidFill>
            <a:prstDash val="solid"/>
          </a:ln>
        </p:spPr>
        <p:txBody>
          <a:bodyPr/>
          <a:lstStyle/>
          <a:p>
            <a:endParaRPr lang="en-US"/>
          </a:p>
        </p:txBody>
      </p:sp>
      <p:sp>
        <p:nvSpPr>
          <p:cNvPr id="9" name="Text 6"/>
          <p:cNvSpPr txBox="1"/>
          <p:nvPr/>
        </p:nvSpPr>
        <p:spPr>
          <a:xfrm>
            <a:off x="704088" y="2587752"/>
            <a:ext cx="365760" cy="274320"/>
          </a:xfrm>
          <a:prstGeom prst="rect">
            <a:avLst/>
          </a:prstGeom>
          <a:noFill/>
          <a:ln/>
        </p:spPr>
        <p:txBody>
          <a:bodyPr wrap="square" lIns="0" tIns="0" rIns="0" bIns="0" rtlCol="0" anchor="ctr"/>
          <a:lstStyle/>
          <a:p>
            <a:pPr marL="0" indent="0">
              <a:buNone/>
            </a:pPr>
            <a:r>
              <a:rPr lang="en-US" sz="1000" b="1" dirty="0">
                <a:solidFill>
                  <a:srgbClr val="3FC9D4"/>
                </a:solidFill>
                <a:latin typeface="Geologica" pitchFamily="34" charset="0"/>
                <a:ea typeface="Geologica" pitchFamily="34" charset="-122"/>
                <a:cs typeface="Geologica" pitchFamily="34" charset="-120"/>
              </a:rPr>
              <a:t>1</a:t>
            </a:r>
            <a:endParaRPr lang="en-US" sz="1000" dirty="0"/>
          </a:p>
        </p:txBody>
      </p:sp>
      <p:sp>
        <p:nvSpPr>
          <p:cNvPr id="10" name="Text 7"/>
          <p:cNvSpPr txBox="1"/>
          <p:nvPr/>
        </p:nvSpPr>
        <p:spPr>
          <a:xfrm>
            <a:off x="594360" y="2834640"/>
            <a:ext cx="1207008"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Geologica" pitchFamily="34" charset="0"/>
                <a:ea typeface="Geologica" pitchFamily="34" charset="-122"/>
                <a:cs typeface="Geologica" pitchFamily="34" charset="-120"/>
              </a:rPr>
              <a:t>Pull</a:t>
            </a:r>
            <a:endParaRPr lang="en-US" sz="1250" dirty="0"/>
          </a:p>
        </p:txBody>
      </p:sp>
      <p:sp>
        <p:nvSpPr>
          <p:cNvPr id="11" name="Text 8"/>
          <p:cNvSpPr txBox="1"/>
          <p:nvPr/>
        </p:nvSpPr>
        <p:spPr>
          <a:xfrm>
            <a:off x="1783080" y="2788920"/>
            <a:ext cx="219456" cy="411480"/>
          </a:xfrm>
          <a:prstGeom prst="rect">
            <a:avLst/>
          </a:prstGeom>
          <a:noFill/>
          <a:ln/>
        </p:spPr>
        <p:txBody>
          <a:bodyPr wrap="square" lIns="0" tIns="0" rIns="0" bIns="0" rtlCol="0" anchor="ctr"/>
          <a:lstStyle/>
          <a:p>
            <a:pPr marL="0" indent="0" algn="ctr">
              <a:buNone/>
            </a:pPr>
            <a:r>
              <a:rPr lang="en-US" sz="1400" dirty="0">
                <a:solidFill>
                  <a:srgbClr val="9FB4BB"/>
                </a:solidFill>
                <a:latin typeface="Geologica" pitchFamily="34" charset="0"/>
                <a:ea typeface="Geologica" pitchFamily="34" charset="-122"/>
                <a:cs typeface="Geologica" pitchFamily="34" charset="-120"/>
              </a:rPr>
              <a:t>→</a:t>
            </a:r>
            <a:endParaRPr lang="en-US" sz="1400" dirty="0"/>
          </a:p>
        </p:txBody>
      </p:sp>
      <p:sp>
        <p:nvSpPr>
          <p:cNvPr id="12" name="Shape 9"/>
          <p:cNvSpPr/>
          <p:nvPr/>
        </p:nvSpPr>
        <p:spPr>
          <a:xfrm>
            <a:off x="1984248" y="2514600"/>
            <a:ext cx="1207008" cy="960120"/>
          </a:xfrm>
          <a:prstGeom prst="roundRect">
            <a:avLst>
              <a:gd name="adj" fmla="val 9524"/>
            </a:avLst>
          </a:prstGeom>
          <a:solidFill>
            <a:srgbClr val="0F2831">
              <a:alpha val="88000"/>
            </a:srgbClr>
          </a:solidFill>
          <a:ln w="9525">
            <a:solidFill>
              <a:srgbClr val="1E4A55"/>
            </a:solidFill>
            <a:prstDash val="solid"/>
          </a:ln>
        </p:spPr>
        <p:txBody>
          <a:bodyPr/>
          <a:lstStyle/>
          <a:p>
            <a:endParaRPr lang="en-US"/>
          </a:p>
        </p:txBody>
      </p:sp>
      <p:sp>
        <p:nvSpPr>
          <p:cNvPr id="13" name="Text 10"/>
          <p:cNvSpPr txBox="1"/>
          <p:nvPr/>
        </p:nvSpPr>
        <p:spPr>
          <a:xfrm>
            <a:off x="2093976" y="2587752"/>
            <a:ext cx="365760" cy="274320"/>
          </a:xfrm>
          <a:prstGeom prst="rect">
            <a:avLst/>
          </a:prstGeom>
          <a:noFill/>
          <a:ln/>
        </p:spPr>
        <p:txBody>
          <a:bodyPr wrap="square" lIns="0" tIns="0" rIns="0" bIns="0" rtlCol="0" anchor="ctr"/>
          <a:lstStyle/>
          <a:p>
            <a:pPr marL="0" indent="0">
              <a:buNone/>
            </a:pPr>
            <a:r>
              <a:rPr lang="en-US" sz="1000" b="1" dirty="0">
                <a:solidFill>
                  <a:srgbClr val="3FC9D4"/>
                </a:solidFill>
                <a:latin typeface="Geologica" pitchFamily="34" charset="0"/>
                <a:ea typeface="Geologica" pitchFamily="34" charset="-122"/>
                <a:cs typeface="Geologica" pitchFamily="34" charset="-120"/>
              </a:rPr>
              <a:t>2</a:t>
            </a:r>
            <a:endParaRPr lang="en-US" sz="1000" dirty="0"/>
          </a:p>
        </p:txBody>
      </p:sp>
      <p:sp>
        <p:nvSpPr>
          <p:cNvPr id="14" name="Text 11"/>
          <p:cNvSpPr txBox="1"/>
          <p:nvPr/>
        </p:nvSpPr>
        <p:spPr>
          <a:xfrm>
            <a:off x="1984248" y="2834640"/>
            <a:ext cx="1207008"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Geologica" pitchFamily="34" charset="0"/>
                <a:ea typeface="Geologica" pitchFamily="34" charset="-122"/>
                <a:cs typeface="Geologica" pitchFamily="34" charset="-120"/>
              </a:rPr>
              <a:t>Branch</a:t>
            </a:r>
            <a:endParaRPr lang="en-US" sz="1250" dirty="0"/>
          </a:p>
        </p:txBody>
      </p:sp>
      <p:sp>
        <p:nvSpPr>
          <p:cNvPr id="15" name="Text 12"/>
          <p:cNvSpPr txBox="1"/>
          <p:nvPr/>
        </p:nvSpPr>
        <p:spPr>
          <a:xfrm>
            <a:off x="3172968" y="2788920"/>
            <a:ext cx="219456" cy="411480"/>
          </a:xfrm>
          <a:prstGeom prst="rect">
            <a:avLst/>
          </a:prstGeom>
          <a:noFill/>
          <a:ln/>
        </p:spPr>
        <p:txBody>
          <a:bodyPr wrap="square" lIns="0" tIns="0" rIns="0" bIns="0" rtlCol="0" anchor="ctr"/>
          <a:lstStyle/>
          <a:p>
            <a:pPr marL="0" indent="0" algn="ctr">
              <a:buNone/>
            </a:pPr>
            <a:r>
              <a:rPr lang="en-US" sz="1400" dirty="0">
                <a:solidFill>
                  <a:srgbClr val="9FB4BB"/>
                </a:solidFill>
                <a:latin typeface="Geologica" pitchFamily="34" charset="0"/>
                <a:ea typeface="Geologica" pitchFamily="34" charset="-122"/>
                <a:cs typeface="Geologica" pitchFamily="34" charset="-120"/>
              </a:rPr>
              <a:t>→</a:t>
            </a:r>
            <a:endParaRPr lang="en-US" sz="1400" dirty="0"/>
          </a:p>
        </p:txBody>
      </p:sp>
      <p:sp>
        <p:nvSpPr>
          <p:cNvPr id="16" name="Shape 13"/>
          <p:cNvSpPr/>
          <p:nvPr/>
        </p:nvSpPr>
        <p:spPr>
          <a:xfrm>
            <a:off x="3374136" y="2514600"/>
            <a:ext cx="1207008" cy="960120"/>
          </a:xfrm>
          <a:prstGeom prst="roundRect">
            <a:avLst>
              <a:gd name="adj" fmla="val 9524"/>
            </a:avLst>
          </a:prstGeom>
          <a:solidFill>
            <a:srgbClr val="0F2831">
              <a:alpha val="88000"/>
            </a:srgbClr>
          </a:solidFill>
          <a:ln w="9525">
            <a:solidFill>
              <a:srgbClr val="1E4A55"/>
            </a:solidFill>
            <a:prstDash val="solid"/>
          </a:ln>
        </p:spPr>
        <p:txBody>
          <a:bodyPr/>
          <a:lstStyle/>
          <a:p>
            <a:endParaRPr lang="en-US"/>
          </a:p>
        </p:txBody>
      </p:sp>
      <p:sp>
        <p:nvSpPr>
          <p:cNvPr id="17" name="Text 14"/>
          <p:cNvSpPr txBox="1"/>
          <p:nvPr/>
        </p:nvSpPr>
        <p:spPr>
          <a:xfrm>
            <a:off x="3483864" y="2587752"/>
            <a:ext cx="365760" cy="274320"/>
          </a:xfrm>
          <a:prstGeom prst="rect">
            <a:avLst/>
          </a:prstGeom>
          <a:noFill/>
          <a:ln/>
        </p:spPr>
        <p:txBody>
          <a:bodyPr wrap="square" lIns="0" tIns="0" rIns="0" bIns="0" rtlCol="0" anchor="ctr"/>
          <a:lstStyle/>
          <a:p>
            <a:pPr marL="0" indent="0">
              <a:buNone/>
            </a:pPr>
            <a:r>
              <a:rPr lang="en-US" sz="1000" b="1" dirty="0">
                <a:solidFill>
                  <a:srgbClr val="3FC9D4"/>
                </a:solidFill>
                <a:latin typeface="Geologica" pitchFamily="34" charset="0"/>
                <a:ea typeface="Geologica" pitchFamily="34" charset="-122"/>
                <a:cs typeface="Geologica" pitchFamily="34" charset="-120"/>
              </a:rPr>
              <a:t>3</a:t>
            </a:r>
            <a:endParaRPr lang="en-US" sz="1000" dirty="0"/>
          </a:p>
        </p:txBody>
      </p:sp>
      <p:sp>
        <p:nvSpPr>
          <p:cNvPr id="18" name="Text 15"/>
          <p:cNvSpPr txBox="1"/>
          <p:nvPr/>
        </p:nvSpPr>
        <p:spPr>
          <a:xfrm>
            <a:off x="3374136" y="2834640"/>
            <a:ext cx="1207008"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Geologica" pitchFamily="34" charset="0"/>
                <a:ea typeface="Geologica" pitchFamily="34" charset="-122"/>
                <a:cs typeface="Geologica" pitchFamily="34" charset="-120"/>
              </a:rPr>
              <a:t>Work</a:t>
            </a:r>
            <a:endParaRPr lang="en-US" sz="1250" dirty="0"/>
          </a:p>
        </p:txBody>
      </p:sp>
      <p:sp>
        <p:nvSpPr>
          <p:cNvPr id="19" name="Text 16"/>
          <p:cNvSpPr txBox="1"/>
          <p:nvPr/>
        </p:nvSpPr>
        <p:spPr>
          <a:xfrm>
            <a:off x="4562856" y="2788920"/>
            <a:ext cx="219456" cy="411480"/>
          </a:xfrm>
          <a:prstGeom prst="rect">
            <a:avLst/>
          </a:prstGeom>
          <a:noFill/>
          <a:ln/>
        </p:spPr>
        <p:txBody>
          <a:bodyPr wrap="square" lIns="0" tIns="0" rIns="0" bIns="0" rtlCol="0" anchor="ctr"/>
          <a:lstStyle/>
          <a:p>
            <a:pPr marL="0" indent="0" algn="ctr">
              <a:buNone/>
            </a:pPr>
            <a:r>
              <a:rPr lang="en-US" sz="1400" dirty="0">
                <a:solidFill>
                  <a:srgbClr val="9FB4BB"/>
                </a:solidFill>
                <a:latin typeface="Geologica" pitchFamily="34" charset="0"/>
                <a:ea typeface="Geologica" pitchFamily="34" charset="-122"/>
                <a:cs typeface="Geologica" pitchFamily="34" charset="-120"/>
              </a:rPr>
              <a:t>→</a:t>
            </a:r>
            <a:endParaRPr lang="en-US" sz="1400" dirty="0"/>
          </a:p>
        </p:txBody>
      </p:sp>
      <p:sp>
        <p:nvSpPr>
          <p:cNvPr id="20" name="Shape 17"/>
          <p:cNvSpPr/>
          <p:nvPr/>
        </p:nvSpPr>
        <p:spPr>
          <a:xfrm>
            <a:off x="4764024" y="2514600"/>
            <a:ext cx="1207008" cy="960120"/>
          </a:xfrm>
          <a:prstGeom prst="roundRect">
            <a:avLst>
              <a:gd name="adj" fmla="val 9524"/>
            </a:avLst>
          </a:prstGeom>
          <a:solidFill>
            <a:srgbClr val="0F2831">
              <a:alpha val="88000"/>
            </a:srgbClr>
          </a:solidFill>
          <a:ln w="9525">
            <a:solidFill>
              <a:srgbClr val="1E4A55"/>
            </a:solidFill>
            <a:prstDash val="solid"/>
          </a:ln>
        </p:spPr>
        <p:txBody>
          <a:bodyPr/>
          <a:lstStyle/>
          <a:p>
            <a:endParaRPr lang="en-US"/>
          </a:p>
        </p:txBody>
      </p:sp>
      <p:sp>
        <p:nvSpPr>
          <p:cNvPr id="21" name="Text 18"/>
          <p:cNvSpPr txBox="1"/>
          <p:nvPr/>
        </p:nvSpPr>
        <p:spPr>
          <a:xfrm>
            <a:off x="4873752" y="2587752"/>
            <a:ext cx="365760" cy="274320"/>
          </a:xfrm>
          <a:prstGeom prst="rect">
            <a:avLst/>
          </a:prstGeom>
          <a:noFill/>
          <a:ln/>
        </p:spPr>
        <p:txBody>
          <a:bodyPr wrap="square" lIns="0" tIns="0" rIns="0" bIns="0" rtlCol="0" anchor="ctr"/>
          <a:lstStyle/>
          <a:p>
            <a:pPr marL="0" indent="0">
              <a:buNone/>
            </a:pPr>
            <a:r>
              <a:rPr lang="en-US" sz="1000" b="1" dirty="0">
                <a:solidFill>
                  <a:srgbClr val="3FC9D4"/>
                </a:solidFill>
                <a:latin typeface="Geologica" pitchFamily="34" charset="0"/>
                <a:ea typeface="Geologica" pitchFamily="34" charset="-122"/>
                <a:cs typeface="Geologica" pitchFamily="34" charset="-120"/>
              </a:rPr>
              <a:t>4</a:t>
            </a:r>
            <a:endParaRPr lang="en-US" sz="1000" dirty="0"/>
          </a:p>
        </p:txBody>
      </p:sp>
      <p:sp>
        <p:nvSpPr>
          <p:cNvPr id="22" name="Text 19"/>
          <p:cNvSpPr txBox="1"/>
          <p:nvPr/>
        </p:nvSpPr>
        <p:spPr>
          <a:xfrm>
            <a:off x="4764024" y="2834640"/>
            <a:ext cx="1207008"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Geologica" pitchFamily="34" charset="0"/>
                <a:ea typeface="Geologica" pitchFamily="34" charset="-122"/>
                <a:cs typeface="Geologica" pitchFamily="34" charset="-120"/>
              </a:rPr>
              <a:t>Commit</a:t>
            </a:r>
            <a:endParaRPr lang="en-US" sz="1250" dirty="0"/>
          </a:p>
        </p:txBody>
      </p:sp>
      <p:sp>
        <p:nvSpPr>
          <p:cNvPr id="23" name="Text 20"/>
          <p:cNvSpPr txBox="1"/>
          <p:nvPr/>
        </p:nvSpPr>
        <p:spPr>
          <a:xfrm>
            <a:off x="5952744" y="2788920"/>
            <a:ext cx="219456" cy="411480"/>
          </a:xfrm>
          <a:prstGeom prst="rect">
            <a:avLst/>
          </a:prstGeom>
          <a:noFill/>
          <a:ln/>
        </p:spPr>
        <p:txBody>
          <a:bodyPr wrap="square" lIns="0" tIns="0" rIns="0" bIns="0" rtlCol="0" anchor="ctr"/>
          <a:lstStyle/>
          <a:p>
            <a:pPr marL="0" indent="0" algn="ctr">
              <a:buNone/>
            </a:pPr>
            <a:r>
              <a:rPr lang="en-US" sz="1400" dirty="0">
                <a:solidFill>
                  <a:srgbClr val="9FB4BB"/>
                </a:solidFill>
                <a:latin typeface="Geologica" pitchFamily="34" charset="0"/>
                <a:ea typeface="Geologica" pitchFamily="34" charset="-122"/>
                <a:cs typeface="Geologica" pitchFamily="34" charset="-120"/>
              </a:rPr>
              <a:t>→</a:t>
            </a:r>
            <a:endParaRPr lang="en-US" sz="1400" dirty="0"/>
          </a:p>
        </p:txBody>
      </p:sp>
      <p:sp>
        <p:nvSpPr>
          <p:cNvPr id="24" name="Shape 21"/>
          <p:cNvSpPr/>
          <p:nvPr/>
        </p:nvSpPr>
        <p:spPr>
          <a:xfrm>
            <a:off x="6153912" y="2514600"/>
            <a:ext cx="1207008" cy="960120"/>
          </a:xfrm>
          <a:prstGeom prst="roundRect">
            <a:avLst>
              <a:gd name="adj" fmla="val 9524"/>
            </a:avLst>
          </a:prstGeom>
          <a:solidFill>
            <a:srgbClr val="0F2831">
              <a:alpha val="88000"/>
            </a:srgbClr>
          </a:solidFill>
          <a:ln w="9525">
            <a:solidFill>
              <a:srgbClr val="1E4A55"/>
            </a:solidFill>
            <a:prstDash val="solid"/>
          </a:ln>
        </p:spPr>
        <p:txBody>
          <a:bodyPr/>
          <a:lstStyle/>
          <a:p>
            <a:endParaRPr lang="en-US"/>
          </a:p>
        </p:txBody>
      </p:sp>
      <p:sp>
        <p:nvSpPr>
          <p:cNvPr id="25" name="Text 22"/>
          <p:cNvSpPr txBox="1"/>
          <p:nvPr/>
        </p:nvSpPr>
        <p:spPr>
          <a:xfrm>
            <a:off x="6263640" y="2587752"/>
            <a:ext cx="365760" cy="274320"/>
          </a:xfrm>
          <a:prstGeom prst="rect">
            <a:avLst/>
          </a:prstGeom>
          <a:noFill/>
          <a:ln/>
        </p:spPr>
        <p:txBody>
          <a:bodyPr wrap="square" lIns="0" tIns="0" rIns="0" bIns="0" rtlCol="0" anchor="ctr"/>
          <a:lstStyle/>
          <a:p>
            <a:pPr marL="0" indent="0">
              <a:buNone/>
            </a:pPr>
            <a:r>
              <a:rPr lang="en-US" sz="1000" b="1" dirty="0">
                <a:solidFill>
                  <a:srgbClr val="3FC9D4"/>
                </a:solidFill>
                <a:latin typeface="Geologica" pitchFamily="34" charset="0"/>
                <a:ea typeface="Geologica" pitchFamily="34" charset="-122"/>
                <a:cs typeface="Geologica" pitchFamily="34" charset="-120"/>
              </a:rPr>
              <a:t>5</a:t>
            </a:r>
            <a:endParaRPr lang="en-US" sz="1000" dirty="0"/>
          </a:p>
        </p:txBody>
      </p:sp>
      <p:sp>
        <p:nvSpPr>
          <p:cNvPr id="26" name="Text 23"/>
          <p:cNvSpPr txBox="1"/>
          <p:nvPr/>
        </p:nvSpPr>
        <p:spPr>
          <a:xfrm>
            <a:off x="6153912" y="2834640"/>
            <a:ext cx="1207008"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Geologica" pitchFamily="34" charset="0"/>
                <a:ea typeface="Geologica" pitchFamily="34" charset="-122"/>
                <a:cs typeface="Geologica" pitchFamily="34" charset="-120"/>
              </a:rPr>
              <a:t>Push</a:t>
            </a:r>
            <a:endParaRPr lang="en-US" sz="1250" dirty="0"/>
          </a:p>
        </p:txBody>
      </p:sp>
      <p:sp>
        <p:nvSpPr>
          <p:cNvPr id="27" name="Text 24"/>
          <p:cNvSpPr txBox="1"/>
          <p:nvPr/>
        </p:nvSpPr>
        <p:spPr>
          <a:xfrm>
            <a:off x="7342632" y="2788920"/>
            <a:ext cx="219456" cy="411480"/>
          </a:xfrm>
          <a:prstGeom prst="rect">
            <a:avLst/>
          </a:prstGeom>
          <a:noFill/>
          <a:ln/>
        </p:spPr>
        <p:txBody>
          <a:bodyPr wrap="square" lIns="0" tIns="0" rIns="0" bIns="0" rtlCol="0" anchor="ctr"/>
          <a:lstStyle/>
          <a:p>
            <a:pPr marL="0" indent="0" algn="ctr">
              <a:buNone/>
            </a:pPr>
            <a:r>
              <a:rPr lang="en-US" sz="1400" dirty="0">
                <a:solidFill>
                  <a:srgbClr val="9FB4BB"/>
                </a:solidFill>
                <a:latin typeface="Geologica" pitchFamily="34" charset="0"/>
                <a:ea typeface="Geologica" pitchFamily="34" charset="-122"/>
                <a:cs typeface="Geologica" pitchFamily="34" charset="-120"/>
              </a:rPr>
              <a:t>→</a:t>
            </a:r>
            <a:endParaRPr lang="en-US" sz="1400" dirty="0"/>
          </a:p>
        </p:txBody>
      </p:sp>
      <p:sp>
        <p:nvSpPr>
          <p:cNvPr id="28" name="Shape 25"/>
          <p:cNvSpPr/>
          <p:nvPr/>
        </p:nvSpPr>
        <p:spPr>
          <a:xfrm>
            <a:off x="7543800" y="2514600"/>
            <a:ext cx="1207008" cy="960120"/>
          </a:xfrm>
          <a:prstGeom prst="roundRect">
            <a:avLst>
              <a:gd name="adj" fmla="val 9524"/>
            </a:avLst>
          </a:prstGeom>
          <a:solidFill>
            <a:srgbClr val="0E5A66"/>
          </a:solidFill>
          <a:ln w="15875">
            <a:solidFill>
              <a:srgbClr val="3FC9D4"/>
            </a:solidFill>
            <a:prstDash val="solid"/>
          </a:ln>
        </p:spPr>
        <p:txBody>
          <a:bodyPr/>
          <a:lstStyle/>
          <a:p>
            <a:endParaRPr lang="en-US"/>
          </a:p>
        </p:txBody>
      </p:sp>
      <p:sp>
        <p:nvSpPr>
          <p:cNvPr id="29" name="Text 26"/>
          <p:cNvSpPr txBox="1"/>
          <p:nvPr/>
        </p:nvSpPr>
        <p:spPr>
          <a:xfrm>
            <a:off x="7653528" y="2587752"/>
            <a:ext cx="365760" cy="274320"/>
          </a:xfrm>
          <a:prstGeom prst="rect">
            <a:avLst/>
          </a:prstGeom>
          <a:noFill/>
          <a:ln/>
        </p:spPr>
        <p:txBody>
          <a:bodyPr wrap="square" lIns="0" tIns="0" rIns="0" bIns="0" rtlCol="0" anchor="ctr"/>
          <a:lstStyle/>
          <a:p>
            <a:pPr marL="0" indent="0">
              <a:buNone/>
            </a:pPr>
            <a:r>
              <a:rPr lang="en-US" sz="1000" b="1" dirty="0">
                <a:solidFill>
                  <a:srgbClr val="3FC9D4"/>
                </a:solidFill>
                <a:latin typeface="Geologica" pitchFamily="34" charset="0"/>
                <a:ea typeface="Geologica" pitchFamily="34" charset="-122"/>
                <a:cs typeface="Geologica" pitchFamily="34" charset="-120"/>
              </a:rPr>
              <a:t>6</a:t>
            </a:r>
            <a:endParaRPr lang="en-US" sz="1000" dirty="0"/>
          </a:p>
        </p:txBody>
      </p:sp>
      <p:sp>
        <p:nvSpPr>
          <p:cNvPr id="30" name="Text 27"/>
          <p:cNvSpPr txBox="1"/>
          <p:nvPr/>
        </p:nvSpPr>
        <p:spPr>
          <a:xfrm>
            <a:off x="7543800" y="2834640"/>
            <a:ext cx="1207008"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Geologica" pitchFamily="34" charset="0"/>
                <a:ea typeface="Geologica" pitchFamily="34" charset="-122"/>
                <a:cs typeface="Geologica" pitchFamily="34" charset="-120"/>
              </a:rPr>
              <a:t>Pull request</a:t>
            </a:r>
            <a:endParaRPr lang="en-US" sz="1250" dirty="0"/>
          </a:p>
        </p:txBody>
      </p:sp>
      <p:sp>
        <p:nvSpPr>
          <p:cNvPr id="31" name="Text 28"/>
          <p:cNvSpPr txBox="1"/>
          <p:nvPr/>
        </p:nvSpPr>
        <p:spPr>
          <a:xfrm>
            <a:off x="8732520" y="2788920"/>
            <a:ext cx="219456" cy="411480"/>
          </a:xfrm>
          <a:prstGeom prst="rect">
            <a:avLst/>
          </a:prstGeom>
          <a:noFill/>
          <a:ln/>
        </p:spPr>
        <p:txBody>
          <a:bodyPr wrap="square" lIns="0" tIns="0" rIns="0" bIns="0" rtlCol="0" anchor="ctr"/>
          <a:lstStyle/>
          <a:p>
            <a:pPr marL="0" indent="0" algn="ctr">
              <a:buNone/>
            </a:pPr>
            <a:r>
              <a:rPr lang="en-US" sz="1400" dirty="0">
                <a:solidFill>
                  <a:srgbClr val="9FB4BB"/>
                </a:solidFill>
                <a:latin typeface="Geologica" pitchFamily="34" charset="0"/>
                <a:ea typeface="Geologica" pitchFamily="34" charset="-122"/>
                <a:cs typeface="Geologica" pitchFamily="34" charset="-120"/>
              </a:rPr>
              <a:t>→</a:t>
            </a:r>
            <a:endParaRPr lang="en-US" sz="1400" dirty="0"/>
          </a:p>
        </p:txBody>
      </p:sp>
      <p:sp>
        <p:nvSpPr>
          <p:cNvPr id="32" name="Shape 29"/>
          <p:cNvSpPr/>
          <p:nvPr/>
        </p:nvSpPr>
        <p:spPr>
          <a:xfrm>
            <a:off x="8933688" y="2514600"/>
            <a:ext cx="1207008" cy="960120"/>
          </a:xfrm>
          <a:prstGeom prst="roundRect">
            <a:avLst>
              <a:gd name="adj" fmla="val 9524"/>
            </a:avLst>
          </a:prstGeom>
          <a:solidFill>
            <a:srgbClr val="0E5A66"/>
          </a:solidFill>
          <a:ln w="15875">
            <a:solidFill>
              <a:srgbClr val="3FC9D4"/>
            </a:solidFill>
            <a:prstDash val="solid"/>
          </a:ln>
        </p:spPr>
        <p:txBody>
          <a:bodyPr/>
          <a:lstStyle/>
          <a:p>
            <a:endParaRPr lang="en-US"/>
          </a:p>
        </p:txBody>
      </p:sp>
      <p:sp>
        <p:nvSpPr>
          <p:cNvPr id="33" name="Text 30"/>
          <p:cNvSpPr txBox="1"/>
          <p:nvPr/>
        </p:nvSpPr>
        <p:spPr>
          <a:xfrm>
            <a:off x="9043416" y="2587752"/>
            <a:ext cx="365760" cy="274320"/>
          </a:xfrm>
          <a:prstGeom prst="rect">
            <a:avLst/>
          </a:prstGeom>
          <a:noFill/>
          <a:ln/>
        </p:spPr>
        <p:txBody>
          <a:bodyPr wrap="square" lIns="0" tIns="0" rIns="0" bIns="0" rtlCol="0" anchor="ctr"/>
          <a:lstStyle/>
          <a:p>
            <a:pPr marL="0" indent="0">
              <a:buNone/>
            </a:pPr>
            <a:r>
              <a:rPr lang="en-US" sz="1000" b="1" dirty="0">
                <a:solidFill>
                  <a:srgbClr val="3FC9D4"/>
                </a:solidFill>
                <a:latin typeface="Geologica" pitchFamily="34" charset="0"/>
                <a:ea typeface="Geologica" pitchFamily="34" charset="-122"/>
                <a:cs typeface="Geologica" pitchFamily="34" charset="-120"/>
              </a:rPr>
              <a:t>7</a:t>
            </a:r>
            <a:endParaRPr lang="en-US" sz="1000" dirty="0"/>
          </a:p>
        </p:txBody>
      </p:sp>
      <p:sp>
        <p:nvSpPr>
          <p:cNvPr id="34" name="Text 31"/>
          <p:cNvSpPr txBox="1"/>
          <p:nvPr/>
        </p:nvSpPr>
        <p:spPr>
          <a:xfrm>
            <a:off x="8933688" y="2834640"/>
            <a:ext cx="1207008"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Geologica" pitchFamily="34" charset="0"/>
                <a:ea typeface="Geologica" pitchFamily="34" charset="-122"/>
                <a:cs typeface="Geologica" pitchFamily="34" charset="-120"/>
              </a:rPr>
              <a:t>Review</a:t>
            </a:r>
            <a:endParaRPr lang="en-US" sz="1250" dirty="0"/>
          </a:p>
        </p:txBody>
      </p:sp>
      <p:sp>
        <p:nvSpPr>
          <p:cNvPr id="35" name="Text 32"/>
          <p:cNvSpPr txBox="1"/>
          <p:nvPr/>
        </p:nvSpPr>
        <p:spPr>
          <a:xfrm>
            <a:off x="10122408" y="2788920"/>
            <a:ext cx="219456" cy="411480"/>
          </a:xfrm>
          <a:prstGeom prst="rect">
            <a:avLst/>
          </a:prstGeom>
          <a:noFill/>
          <a:ln/>
        </p:spPr>
        <p:txBody>
          <a:bodyPr wrap="square" lIns="0" tIns="0" rIns="0" bIns="0" rtlCol="0" anchor="ctr"/>
          <a:lstStyle/>
          <a:p>
            <a:pPr marL="0" indent="0" algn="ctr">
              <a:buNone/>
            </a:pPr>
            <a:r>
              <a:rPr lang="en-US" sz="1400" dirty="0">
                <a:solidFill>
                  <a:srgbClr val="9FB4BB"/>
                </a:solidFill>
                <a:latin typeface="Geologica" pitchFamily="34" charset="0"/>
                <a:ea typeface="Geologica" pitchFamily="34" charset="-122"/>
                <a:cs typeface="Geologica" pitchFamily="34" charset="-120"/>
              </a:rPr>
              <a:t>→</a:t>
            </a:r>
            <a:endParaRPr lang="en-US" sz="1400" dirty="0"/>
          </a:p>
        </p:txBody>
      </p:sp>
      <p:sp>
        <p:nvSpPr>
          <p:cNvPr id="36" name="Shape 33"/>
          <p:cNvSpPr/>
          <p:nvPr/>
        </p:nvSpPr>
        <p:spPr>
          <a:xfrm>
            <a:off x="10323576" y="2514600"/>
            <a:ext cx="1207008" cy="960120"/>
          </a:xfrm>
          <a:prstGeom prst="roundRect">
            <a:avLst>
              <a:gd name="adj" fmla="val 9524"/>
            </a:avLst>
          </a:prstGeom>
          <a:solidFill>
            <a:srgbClr val="0E5A66"/>
          </a:solidFill>
          <a:ln w="15875">
            <a:solidFill>
              <a:srgbClr val="3FC9D4"/>
            </a:solidFill>
            <a:prstDash val="solid"/>
          </a:ln>
        </p:spPr>
        <p:txBody>
          <a:bodyPr/>
          <a:lstStyle/>
          <a:p>
            <a:endParaRPr lang="en-US"/>
          </a:p>
        </p:txBody>
      </p:sp>
      <p:sp>
        <p:nvSpPr>
          <p:cNvPr id="37" name="Text 34"/>
          <p:cNvSpPr txBox="1"/>
          <p:nvPr/>
        </p:nvSpPr>
        <p:spPr>
          <a:xfrm>
            <a:off x="10433304" y="2587752"/>
            <a:ext cx="365760" cy="274320"/>
          </a:xfrm>
          <a:prstGeom prst="rect">
            <a:avLst/>
          </a:prstGeom>
          <a:noFill/>
          <a:ln/>
        </p:spPr>
        <p:txBody>
          <a:bodyPr wrap="square" lIns="0" tIns="0" rIns="0" bIns="0" rtlCol="0" anchor="ctr"/>
          <a:lstStyle/>
          <a:p>
            <a:pPr marL="0" indent="0">
              <a:buNone/>
            </a:pPr>
            <a:r>
              <a:rPr lang="en-US" sz="1000" b="1" dirty="0">
                <a:solidFill>
                  <a:srgbClr val="3FC9D4"/>
                </a:solidFill>
                <a:latin typeface="Geologica" pitchFamily="34" charset="0"/>
                <a:ea typeface="Geologica" pitchFamily="34" charset="-122"/>
                <a:cs typeface="Geologica" pitchFamily="34" charset="-120"/>
              </a:rPr>
              <a:t>8</a:t>
            </a:r>
            <a:endParaRPr lang="en-US" sz="1000" dirty="0"/>
          </a:p>
        </p:txBody>
      </p:sp>
      <p:sp>
        <p:nvSpPr>
          <p:cNvPr id="38" name="Text 35"/>
          <p:cNvSpPr txBox="1"/>
          <p:nvPr/>
        </p:nvSpPr>
        <p:spPr>
          <a:xfrm>
            <a:off x="10323576" y="2834640"/>
            <a:ext cx="1207008"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Geologica" pitchFamily="34" charset="0"/>
                <a:ea typeface="Geologica" pitchFamily="34" charset="-122"/>
                <a:cs typeface="Geologica" pitchFamily="34" charset="-120"/>
              </a:rPr>
              <a:t>Merge</a:t>
            </a:r>
            <a:endParaRPr lang="en-US" sz="1250" dirty="0"/>
          </a:p>
        </p:txBody>
      </p:sp>
      <p:sp>
        <p:nvSpPr>
          <p:cNvPr id="39" name="Text 36"/>
          <p:cNvSpPr txBox="1"/>
          <p:nvPr/>
        </p:nvSpPr>
        <p:spPr>
          <a:xfrm>
            <a:off x="594360" y="3566160"/>
            <a:ext cx="10972800" cy="320040"/>
          </a:xfrm>
          <a:prstGeom prst="rect">
            <a:avLst/>
          </a:prstGeom>
          <a:noFill/>
          <a:ln/>
        </p:spPr>
        <p:txBody>
          <a:bodyPr wrap="square" lIns="0" tIns="0" rIns="0" bIns="0" rtlCol="0" anchor="ctr"/>
          <a:lstStyle/>
          <a:p>
            <a:pPr marL="0" indent="0" algn="r">
              <a:buNone/>
            </a:pPr>
            <a:r>
              <a:rPr lang="en-US" sz="1100" dirty="0">
                <a:solidFill>
                  <a:srgbClr val="9FB4BB"/>
                </a:solidFill>
                <a:latin typeface="Geologica" pitchFamily="34" charset="0"/>
                <a:ea typeface="Geologica" pitchFamily="34" charset="-122"/>
                <a:cs typeface="Geologica" pitchFamily="34" charset="-120"/>
              </a:rPr>
              <a:t>then delete the branch and start again at 1</a:t>
            </a:r>
            <a:endParaRPr lang="en-US" sz="1100" dirty="0"/>
          </a:p>
        </p:txBody>
      </p:sp>
      <p:sp>
        <p:nvSpPr>
          <p:cNvPr id="40" name="Shape 37"/>
          <p:cNvSpPr/>
          <p:nvPr/>
        </p:nvSpPr>
        <p:spPr>
          <a:xfrm>
            <a:off x="594360" y="4114800"/>
            <a:ext cx="3547872" cy="1554480"/>
          </a:xfrm>
          <a:prstGeom prst="roundRect">
            <a:avLst>
              <a:gd name="adj" fmla="val 7059"/>
            </a:avLst>
          </a:prstGeom>
          <a:solidFill>
            <a:srgbClr val="0F2831">
              <a:alpha val="88000"/>
            </a:srgbClr>
          </a:solidFill>
          <a:ln w="9525">
            <a:solidFill>
              <a:srgbClr val="1E4A55"/>
            </a:solidFill>
            <a:prstDash val="solid"/>
          </a:ln>
        </p:spPr>
        <p:txBody>
          <a:bodyPr/>
          <a:lstStyle/>
          <a:p>
            <a:endParaRPr lang="en-US"/>
          </a:p>
        </p:txBody>
      </p:sp>
      <p:sp>
        <p:nvSpPr>
          <p:cNvPr id="41" name="Text 38"/>
          <p:cNvSpPr txBox="1"/>
          <p:nvPr/>
        </p:nvSpPr>
        <p:spPr>
          <a:xfrm>
            <a:off x="822960" y="4297680"/>
            <a:ext cx="3090672"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PULL REQUEST</a:t>
            </a:r>
            <a:endParaRPr lang="en-US" sz="850" dirty="0"/>
          </a:p>
        </p:txBody>
      </p:sp>
      <p:sp>
        <p:nvSpPr>
          <p:cNvPr id="42" name="Text 39"/>
          <p:cNvSpPr txBox="1"/>
          <p:nvPr/>
        </p:nvSpPr>
        <p:spPr>
          <a:xfrm>
            <a:off x="822960" y="4626864"/>
            <a:ext cx="3090672" cy="905256"/>
          </a:xfrm>
          <a:prstGeom prst="rect">
            <a:avLst/>
          </a:prstGeom>
          <a:noFill/>
          <a:ln/>
        </p:spPr>
        <p:txBody>
          <a:bodyPr wrap="square" lIns="0" tIns="0" rIns="0" bIns="0" rtlCol="0" anchor="t"/>
          <a:lstStyle/>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A proposal to the team: Basically, "here is what I would like to change; look before it deciding if it should get pulled in."</a:t>
            </a:r>
            <a:endParaRPr lang="en-US" sz="1100" dirty="0"/>
          </a:p>
        </p:txBody>
      </p:sp>
      <p:sp>
        <p:nvSpPr>
          <p:cNvPr id="43" name="Shape 40"/>
          <p:cNvSpPr/>
          <p:nvPr/>
        </p:nvSpPr>
        <p:spPr>
          <a:xfrm>
            <a:off x="4325112" y="4114800"/>
            <a:ext cx="3547872" cy="1554480"/>
          </a:xfrm>
          <a:prstGeom prst="roundRect">
            <a:avLst>
              <a:gd name="adj" fmla="val 7059"/>
            </a:avLst>
          </a:prstGeom>
          <a:solidFill>
            <a:srgbClr val="0F2831">
              <a:alpha val="88000"/>
            </a:srgbClr>
          </a:solidFill>
          <a:ln w="9525">
            <a:solidFill>
              <a:srgbClr val="1E4A55"/>
            </a:solidFill>
            <a:prstDash val="solid"/>
          </a:ln>
        </p:spPr>
        <p:txBody>
          <a:bodyPr/>
          <a:lstStyle/>
          <a:p>
            <a:endParaRPr lang="en-US"/>
          </a:p>
        </p:txBody>
      </p:sp>
      <p:sp>
        <p:nvSpPr>
          <p:cNvPr id="44" name="Text 41"/>
          <p:cNvSpPr txBox="1"/>
          <p:nvPr/>
        </p:nvSpPr>
        <p:spPr>
          <a:xfrm>
            <a:off x="4553712" y="4297680"/>
            <a:ext cx="3090672"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REVIEW</a:t>
            </a:r>
            <a:endParaRPr lang="en-US" sz="850" dirty="0"/>
          </a:p>
        </p:txBody>
      </p:sp>
      <p:sp>
        <p:nvSpPr>
          <p:cNvPr id="45" name="Text 42"/>
          <p:cNvSpPr txBox="1"/>
          <p:nvPr/>
        </p:nvSpPr>
        <p:spPr>
          <a:xfrm>
            <a:off x="4553712" y="4626864"/>
            <a:ext cx="3090672" cy="905256"/>
          </a:xfrm>
          <a:prstGeom prst="rect">
            <a:avLst/>
          </a:prstGeom>
          <a:noFill/>
          <a:ln/>
        </p:spPr>
        <p:txBody>
          <a:bodyPr wrap="square" lIns="0" tIns="0" rIns="0" bIns="0" rtlCol="0" anchor="t"/>
          <a:lstStyle/>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The “Files changed” tab shows every added and removed line. A teammate can read it, comment, and approve or ask for changes.</a:t>
            </a:r>
            <a:endParaRPr lang="en-US" sz="1100" dirty="0"/>
          </a:p>
        </p:txBody>
      </p:sp>
      <p:sp>
        <p:nvSpPr>
          <p:cNvPr id="46" name="Shape 43"/>
          <p:cNvSpPr/>
          <p:nvPr/>
        </p:nvSpPr>
        <p:spPr>
          <a:xfrm>
            <a:off x="8055864" y="4114800"/>
            <a:ext cx="3547872" cy="1554480"/>
          </a:xfrm>
          <a:prstGeom prst="roundRect">
            <a:avLst>
              <a:gd name="adj" fmla="val 7059"/>
            </a:avLst>
          </a:prstGeom>
          <a:solidFill>
            <a:srgbClr val="0F2831">
              <a:alpha val="88000"/>
            </a:srgbClr>
          </a:solidFill>
          <a:ln w="9525">
            <a:solidFill>
              <a:srgbClr val="1E4A55"/>
            </a:solidFill>
            <a:prstDash val="solid"/>
          </a:ln>
        </p:spPr>
        <p:txBody>
          <a:bodyPr/>
          <a:lstStyle/>
          <a:p>
            <a:endParaRPr lang="en-US"/>
          </a:p>
        </p:txBody>
      </p:sp>
      <p:sp>
        <p:nvSpPr>
          <p:cNvPr id="47" name="Text 44"/>
          <p:cNvSpPr txBox="1"/>
          <p:nvPr/>
        </p:nvSpPr>
        <p:spPr>
          <a:xfrm>
            <a:off x="8284464" y="4297680"/>
            <a:ext cx="3090672"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MERGE</a:t>
            </a:r>
            <a:endParaRPr lang="en-US" sz="850" dirty="0"/>
          </a:p>
        </p:txBody>
      </p:sp>
      <p:sp>
        <p:nvSpPr>
          <p:cNvPr id="48" name="Text 45"/>
          <p:cNvSpPr txBox="1"/>
          <p:nvPr/>
        </p:nvSpPr>
        <p:spPr>
          <a:xfrm>
            <a:off x="8284464" y="4626864"/>
            <a:ext cx="3090672" cy="905256"/>
          </a:xfrm>
          <a:prstGeom prst="rect">
            <a:avLst/>
          </a:prstGeom>
          <a:noFill/>
          <a:ln/>
        </p:spPr>
        <p:txBody>
          <a:bodyPr wrap="square" lIns="0" tIns="0" rIns="0" bIns="0" rtlCol="0" anchor="t"/>
          <a:lstStyle/>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One click to merge the branch into </a:t>
            </a:r>
            <a:r>
              <a:rPr lang="en-US" sz="1100" b="1" dirty="0">
                <a:solidFill>
                  <a:srgbClr val="E4EEF1"/>
                </a:solidFill>
                <a:latin typeface="Geologica" pitchFamily="34" charset="0"/>
                <a:ea typeface="Geologica" pitchFamily="34" charset="-122"/>
                <a:cs typeface="Geologica" pitchFamily="34" charset="-120"/>
              </a:rPr>
              <a:t>main</a:t>
            </a:r>
            <a:r>
              <a:rPr lang="en-US" sz="1100" dirty="0">
                <a:solidFill>
                  <a:srgbClr val="E4EEF1"/>
                </a:solidFill>
                <a:latin typeface="Geologica" pitchFamily="34" charset="0"/>
                <a:ea typeface="Geologica" pitchFamily="34" charset="-122"/>
                <a:cs typeface="Geologica" pitchFamily="34" charset="-120"/>
              </a:rPr>
              <a:t>. You can delete the branch afterward; its history lives on in main.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09</a:t>
            </a:r>
            <a:endParaRPr lang="en-US" sz="900" dirty="0"/>
          </a:p>
        </p:txBody>
      </p:sp>
      <p:sp>
        <p:nvSpPr>
          <p:cNvPr id="4" name="Shape 1"/>
          <p:cNvSpPr/>
          <p:nvPr/>
        </p:nvSpPr>
        <p:spPr>
          <a:xfrm>
            <a:off x="594360" y="502920"/>
            <a:ext cx="165506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65506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PART 1 · THE MAP</a:t>
            </a:r>
            <a:endParaRPr lang="en-US" sz="850" dirty="0"/>
          </a:p>
        </p:txBody>
      </p:sp>
      <p:sp>
        <p:nvSpPr>
          <p:cNvPr id="6" name="Text 3"/>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One repo, three windows</a:t>
            </a:r>
            <a:endParaRPr lang="en-US" sz="3000" dirty="0"/>
          </a:p>
        </p:txBody>
      </p:sp>
      <p:sp>
        <p:nvSpPr>
          <p:cNvPr id="7" name="Text 4"/>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Git is the same thing in every tool. Today you use it inside Replit, outside Replit, and then back inside.</a:t>
            </a:r>
            <a:endParaRPr lang="en-US" sz="1300" dirty="0"/>
          </a:p>
        </p:txBody>
      </p:sp>
      <p:sp>
        <p:nvSpPr>
          <p:cNvPr id="8" name="Shape 5"/>
          <p:cNvSpPr/>
          <p:nvPr/>
        </p:nvSpPr>
        <p:spPr>
          <a:xfrm>
            <a:off x="5090008" y="2926080"/>
            <a:ext cx="2011680" cy="2011680"/>
          </a:xfrm>
          <a:prstGeom prst="ellipse">
            <a:avLst/>
          </a:prstGeom>
          <a:solidFill>
            <a:srgbClr val="0E5A66"/>
          </a:solidFill>
          <a:ln w="19050">
            <a:solidFill>
              <a:srgbClr val="3FC9D4"/>
            </a:solidFill>
            <a:prstDash val="solid"/>
          </a:ln>
        </p:spPr>
        <p:txBody>
          <a:bodyPr/>
          <a:lstStyle/>
          <a:p>
            <a:endParaRPr lang="en-US"/>
          </a:p>
        </p:txBody>
      </p:sp>
      <p:sp>
        <p:nvSpPr>
          <p:cNvPr id="9" name="Text 6"/>
          <p:cNvSpPr txBox="1"/>
          <p:nvPr/>
        </p:nvSpPr>
        <p:spPr>
          <a:xfrm>
            <a:off x="5090008" y="2926080"/>
            <a:ext cx="2011680" cy="2011680"/>
          </a:xfrm>
          <a:prstGeom prst="rect">
            <a:avLst/>
          </a:prstGeom>
          <a:noFill/>
          <a:ln/>
        </p:spPr>
        <p:txBody>
          <a:bodyPr wrap="square" lIns="0" tIns="0" rIns="0" bIns="0" rtlCol="0" anchor="ctr"/>
          <a:lstStyle/>
          <a:p>
            <a:pPr marL="0" indent="0" algn="ctr">
              <a:buNone/>
            </a:pPr>
            <a:r>
              <a:rPr lang="en-US" sz="1500" b="1" dirty="0">
                <a:solidFill>
                  <a:srgbClr val="FFFFFF"/>
                </a:solidFill>
                <a:latin typeface="Geologica" pitchFamily="34" charset="0"/>
                <a:ea typeface="Geologica" pitchFamily="34" charset="-122"/>
                <a:cs typeface="Geologica" pitchFamily="34" charset="-120"/>
              </a:rPr>
              <a:t>GitHub.com</a:t>
            </a:r>
            <a:endParaRPr lang="en-US" sz="1500" dirty="0"/>
          </a:p>
          <a:p>
            <a:pPr marL="0" indent="0" algn="ctr">
              <a:buNone/>
            </a:pPr>
            <a:r>
              <a:rPr lang="en-US" sz="1000" dirty="0">
                <a:solidFill>
                  <a:srgbClr val="3FC9D4"/>
                </a:solidFill>
                <a:latin typeface="Geologica" pitchFamily="34" charset="0"/>
                <a:ea typeface="Geologica" pitchFamily="34" charset="-122"/>
                <a:cs typeface="Geologica" pitchFamily="34" charset="-120"/>
              </a:rPr>
              <a:t>the shared copy</a:t>
            </a:r>
            <a:endParaRPr lang="en-US" sz="1500" dirty="0"/>
          </a:p>
        </p:txBody>
      </p:sp>
      <p:sp>
        <p:nvSpPr>
          <p:cNvPr id="10" name="Shape 7"/>
          <p:cNvSpPr/>
          <p:nvPr/>
        </p:nvSpPr>
        <p:spPr>
          <a:xfrm>
            <a:off x="594360" y="2880360"/>
            <a:ext cx="3291840" cy="2103120"/>
          </a:xfrm>
          <a:prstGeom prst="roundRect">
            <a:avLst>
              <a:gd name="adj" fmla="val 5217"/>
            </a:avLst>
          </a:prstGeom>
          <a:solidFill>
            <a:srgbClr val="0F2831">
              <a:alpha val="88000"/>
            </a:srgbClr>
          </a:solidFill>
          <a:ln w="9525">
            <a:solidFill>
              <a:srgbClr val="1E4A55"/>
            </a:solidFill>
            <a:prstDash val="solid"/>
          </a:ln>
        </p:spPr>
        <p:txBody>
          <a:bodyPr/>
          <a:lstStyle/>
          <a:p>
            <a:endParaRPr lang="en-US"/>
          </a:p>
        </p:txBody>
      </p:sp>
      <p:sp>
        <p:nvSpPr>
          <p:cNvPr id="11" name="Text 8"/>
          <p:cNvSpPr txBox="1"/>
          <p:nvPr/>
        </p:nvSpPr>
        <p:spPr>
          <a:xfrm>
            <a:off x="822960" y="3063240"/>
            <a:ext cx="283464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WINDOW 1 · REPLIT</a:t>
            </a:r>
            <a:endParaRPr lang="en-US" sz="850" dirty="0"/>
          </a:p>
        </p:txBody>
      </p:sp>
      <p:sp>
        <p:nvSpPr>
          <p:cNvPr id="12" name="Text 9"/>
          <p:cNvSpPr txBox="1"/>
          <p:nvPr/>
        </p:nvSpPr>
        <p:spPr>
          <a:xfrm>
            <a:off x="822960" y="3392424"/>
            <a:ext cx="2834640" cy="329184"/>
          </a:xfrm>
          <a:prstGeom prst="rect">
            <a:avLst/>
          </a:prstGeom>
          <a:noFill/>
          <a:ln/>
        </p:spPr>
        <p:txBody>
          <a:bodyPr wrap="square" lIns="0" tIns="0" rIns="0" bIns="0" rtlCol="0" anchor="ctr"/>
          <a:lstStyle/>
          <a:p>
            <a:pPr marL="0" indent="0">
              <a:buNone/>
            </a:pPr>
            <a:r>
              <a:rPr lang="en-US" sz="1250" b="1" dirty="0">
                <a:solidFill>
                  <a:srgbClr val="FFFFFF"/>
                </a:solidFill>
                <a:latin typeface="Geologica" pitchFamily="34" charset="0"/>
                <a:ea typeface="Geologica" pitchFamily="34" charset="-122"/>
                <a:cs typeface="Geologica" pitchFamily="34" charset="-120"/>
              </a:rPr>
              <a:t>Git pane inside the builder</a:t>
            </a:r>
            <a:endParaRPr lang="en-US" sz="1250" dirty="0"/>
          </a:p>
        </p:txBody>
      </p:sp>
      <p:sp>
        <p:nvSpPr>
          <p:cNvPr id="13" name="Text 10"/>
          <p:cNvSpPr txBox="1"/>
          <p:nvPr/>
        </p:nvSpPr>
        <p:spPr>
          <a:xfrm>
            <a:off x="822960" y="3776472"/>
            <a:ext cx="2834640" cy="1069848"/>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Creates the repo, commits, pushes and pulls. No terminal.</a:t>
            </a:r>
            <a:endParaRPr lang="en-US" sz="1050" dirty="0"/>
          </a:p>
        </p:txBody>
      </p:sp>
      <p:sp>
        <p:nvSpPr>
          <p:cNvPr id="14" name="Shape 11"/>
          <p:cNvSpPr/>
          <p:nvPr/>
        </p:nvSpPr>
        <p:spPr>
          <a:xfrm>
            <a:off x="822960" y="4617720"/>
            <a:ext cx="1463040"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15" name="Text 12"/>
          <p:cNvSpPr txBox="1"/>
          <p:nvPr/>
        </p:nvSpPr>
        <p:spPr>
          <a:xfrm>
            <a:off x="822960" y="4617720"/>
            <a:ext cx="1463040"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1 + 3</a:t>
            </a:r>
            <a:endParaRPr lang="en-US" sz="850" dirty="0"/>
          </a:p>
        </p:txBody>
      </p:sp>
      <p:sp>
        <p:nvSpPr>
          <p:cNvPr id="16" name="Shape 13"/>
          <p:cNvSpPr/>
          <p:nvPr/>
        </p:nvSpPr>
        <p:spPr>
          <a:xfrm>
            <a:off x="8305495" y="2880360"/>
            <a:ext cx="3291840" cy="2103120"/>
          </a:xfrm>
          <a:prstGeom prst="roundRect">
            <a:avLst>
              <a:gd name="adj" fmla="val 5217"/>
            </a:avLst>
          </a:prstGeom>
          <a:solidFill>
            <a:srgbClr val="0F2831">
              <a:alpha val="88000"/>
            </a:srgbClr>
          </a:solidFill>
          <a:ln w="9525">
            <a:solidFill>
              <a:srgbClr val="1E4A55"/>
            </a:solidFill>
            <a:prstDash val="solid"/>
          </a:ln>
        </p:spPr>
        <p:txBody>
          <a:bodyPr/>
          <a:lstStyle/>
          <a:p>
            <a:endParaRPr lang="en-US"/>
          </a:p>
        </p:txBody>
      </p:sp>
      <p:sp>
        <p:nvSpPr>
          <p:cNvPr id="17" name="Text 14"/>
          <p:cNvSpPr txBox="1"/>
          <p:nvPr/>
        </p:nvSpPr>
        <p:spPr>
          <a:xfrm>
            <a:off x="8534095" y="3063240"/>
            <a:ext cx="283464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WINDOW 2 · YOUR LAPTOP</a:t>
            </a:r>
            <a:endParaRPr lang="en-US" sz="850" dirty="0"/>
          </a:p>
        </p:txBody>
      </p:sp>
      <p:sp>
        <p:nvSpPr>
          <p:cNvPr id="18" name="Text 15"/>
          <p:cNvSpPr txBox="1"/>
          <p:nvPr/>
        </p:nvSpPr>
        <p:spPr>
          <a:xfrm>
            <a:off x="8534095" y="3392424"/>
            <a:ext cx="2834640" cy="329184"/>
          </a:xfrm>
          <a:prstGeom prst="rect">
            <a:avLst/>
          </a:prstGeom>
          <a:noFill/>
          <a:ln/>
        </p:spPr>
        <p:txBody>
          <a:bodyPr wrap="square" lIns="0" tIns="0" rIns="0" bIns="0" rtlCol="0" anchor="ctr"/>
          <a:lstStyle/>
          <a:p>
            <a:pPr marL="0" indent="0">
              <a:buNone/>
            </a:pPr>
            <a:r>
              <a:rPr lang="en-US" sz="1250" b="1" dirty="0">
                <a:solidFill>
                  <a:srgbClr val="FFFFFF"/>
                </a:solidFill>
                <a:latin typeface="Geologica" pitchFamily="34" charset="0"/>
                <a:ea typeface="Geologica" pitchFamily="34" charset="-122"/>
                <a:cs typeface="Geologica" pitchFamily="34" charset="-120"/>
              </a:rPr>
              <a:t>GitHub Desktop + VS Code</a:t>
            </a:r>
            <a:endParaRPr lang="en-US" sz="1250" dirty="0"/>
          </a:p>
        </p:txBody>
      </p:sp>
      <p:sp>
        <p:nvSpPr>
          <p:cNvPr id="19" name="Text 16"/>
          <p:cNvSpPr txBox="1"/>
          <p:nvPr/>
        </p:nvSpPr>
        <p:spPr>
          <a:xfrm>
            <a:off x="8534095" y="3776472"/>
            <a:ext cx="2834640" cy="1069848"/>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Clones, branches, commits, publishes. The Workshop 1 toolkit.</a:t>
            </a:r>
            <a:endParaRPr lang="en-US" sz="1050" dirty="0"/>
          </a:p>
        </p:txBody>
      </p:sp>
      <p:sp>
        <p:nvSpPr>
          <p:cNvPr id="20" name="Shape 17"/>
          <p:cNvSpPr/>
          <p:nvPr/>
        </p:nvSpPr>
        <p:spPr>
          <a:xfrm>
            <a:off x="8534095" y="4617720"/>
            <a:ext cx="1463040"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21" name="Text 18"/>
          <p:cNvSpPr txBox="1"/>
          <p:nvPr/>
        </p:nvSpPr>
        <p:spPr>
          <a:xfrm>
            <a:off x="8534095" y="4617720"/>
            <a:ext cx="1463040"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2</a:t>
            </a:r>
            <a:endParaRPr lang="en-US" sz="850" dirty="0"/>
          </a:p>
        </p:txBody>
      </p:sp>
      <p:sp>
        <p:nvSpPr>
          <p:cNvPr id="22" name="Shape 19"/>
          <p:cNvSpPr/>
          <p:nvPr/>
        </p:nvSpPr>
        <p:spPr>
          <a:xfrm>
            <a:off x="3931920" y="3794760"/>
            <a:ext cx="1143000" cy="0"/>
          </a:xfrm>
          <a:prstGeom prst="line">
            <a:avLst/>
          </a:prstGeom>
          <a:noFill/>
          <a:ln w="25400">
            <a:solidFill>
              <a:srgbClr val="3FC9D4"/>
            </a:solidFill>
            <a:prstDash val="solid"/>
            <a:tailEnd type="triangle"/>
          </a:ln>
        </p:spPr>
        <p:txBody>
          <a:bodyPr/>
          <a:lstStyle/>
          <a:p>
            <a:endParaRPr lang="en-US"/>
          </a:p>
        </p:txBody>
      </p:sp>
      <p:sp>
        <p:nvSpPr>
          <p:cNvPr id="23" name="Shape 20"/>
          <p:cNvSpPr/>
          <p:nvPr/>
        </p:nvSpPr>
        <p:spPr>
          <a:xfrm>
            <a:off x="3931920" y="4069080"/>
            <a:ext cx="1143000" cy="0"/>
          </a:xfrm>
          <a:prstGeom prst="line">
            <a:avLst/>
          </a:prstGeom>
          <a:noFill/>
          <a:ln w="25400">
            <a:solidFill>
              <a:srgbClr val="3FC9D4"/>
            </a:solidFill>
            <a:prstDash val="solid"/>
            <a:headEnd type="triangle"/>
          </a:ln>
        </p:spPr>
        <p:txBody>
          <a:bodyPr/>
          <a:lstStyle/>
          <a:p>
            <a:endParaRPr lang="en-US"/>
          </a:p>
        </p:txBody>
      </p:sp>
      <p:sp>
        <p:nvSpPr>
          <p:cNvPr id="24" name="Shape 21"/>
          <p:cNvSpPr/>
          <p:nvPr/>
        </p:nvSpPr>
        <p:spPr>
          <a:xfrm>
            <a:off x="7114032" y="3794760"/>
            <a:ext cx="1143000" cy="0"/>
          </a:xfrm>
          <a:prstGeom prst="line">
            <a:avLst/>
          </a:prstGeom>
          <a:noFill/>
          <a:ln w="25400">
            <a:solidFill>
              <a:srgbClr val="3FC9D4"/>
            </a:solidFill>
            <a:prstDash val="solid"/>
            <a:headEnd type="triangle"/>
          </a:ln>
        </p:spPr>
        <p:txBody>
          <a:bodyPr/>
          <a:lstStyle/>
          <a:p>
            <a:endParaRPr lang="en-US"/>
          </a:p>
        </p:txBody>
      </p:sp>
      <p:sp>
        <p:nvSpPr>
          <p:cNvPr id="25" name="Shape 22"/>
          <p:cNvSpPr/>
          <p:nvPr/>
        </p:nvSpPr>
        <p:spPr>
          <a:xfrm>
            <a:off x="7114032" y="4069080"/>
            <a:ext cx="1143000" cy="0"/>
          </a:xfrm>
          <a:prstGeom prst="line">
            <a:avLst/>
          </a:prstGeom>
          <a:noFill/>
          <a:ln w="25400">
            <a:solidFill>
              <a:srgbClr val="3FC9D4"/>
            </a:solidFill>
            <a:prstDash val="solid"/>
            <a:tailEnd type="triangle"/>
          </a:ln>
        </p:spPr>
        <p:txBody>
          <a:bodyPr/>
          <a:lstStyle/>
          <a:p>
            <a:endParaRPr lang="en-US"/>
          </a:p>
        </p:txBody>
      </p:sp>
      <p:sp>
        <p:nvSpPr>
          <p:cNvPr id="26" name="Text 23"/>
          <p:cNvSpPr txBox="1"/>
          <p:nvPr/>
        </p:nvSpPr>
        <p:spPr>
          <a:xfrm>
            <a:off x="3931920" y="3474720"/>
            <a:ext cx="1143000" cy="274320"/>
          </a:xfrm>
          <a:prstGeom prst="rect">
            <a:avLst/>
          </a:prstGeom>
          <a:noFill/>
          <a:ln/>
        </p:spPr>
        <p:txBody>
          <a:bodyPr wrap="square" lIns="0" tIns="0" rIns="0" bIns="0" rtlCol="0" anchor="ctr"/>
          <a:lstStyle/>
          <a:p>
            <a:pPr marL="0" indent="0" algn="ctr">
              <a:buNone/>
            </a:pPr>
            <a:r>
              <a:rPr lang="en-US" sz="950" dirty="0">
                <a:solidFill>
                  <a:srgbClr val="9FB4BB"/>
                </a:solidFill>
                <a:latin typeface="Geologica" pitchFamily="34" charset="0"/>
                <a:ea typeface="Geologica" pitchFamily="34" charset="-122"/>
                <a:cs typeface="Geologica" pitchFamily="34" charset="-120"/>
              </a:rPr>
              <a:t>push</a:t>
            </a:r>
            <a:endParaRPr lang="en-US" sz="950" dirty="0"/>
          </a:p>
        </p:txBody>
      </p:sp>
      <p:sp>
        <p:nvSpPr>
          <p:cNvPr id="27" name="Text 24"/>
          <p:cNvSpPr txBox="1"/>
          <p:nvPr/>
        </p:nvSpPr>
        <p:spPr>
          <a:xfrm>
            <a:off x="3931920" y="4114800"/>
            <a:ext cx="1143000" cy="274320"/>
          </a:xfrm>
          <a:prstGeom prst="rect">
            <a:avLst/>
          </a:prstGeom>
          <a:noFill/>
          <a:ln/>
        </p:spPr>
        <p:txBody>
          <a:bodyPr wrap="square" lIns="0" tIns="0" rIns="0" bIns="0" rtlCol="0" anchor="ctr"/>
          <a:lstStyle/>
          <a:p>
            <a:pPr marL="0" indent="0" algn="ctr">
              <a:buNone/>
            </a:pPr>
            <a:r>
              <a:rPr lang="en-US" sz="950" dirty="0">
                <a:solidFill>
                  <a:srgbClr val="9FB4BB"/>
                </a:solidFill>
                <a:latin typeface="Geologica" pitchFamily="34" charset="0"/>
                <a:ea typeface="Geologica" pitchFamily="34" charset="-122"/>
                <a:cs typeface="Geologica" pitchFamily="34" charset="-120"/>
              </a:rPr>
              <a:t>pull</a:t>
            </a:r>
            <a:endParaRPr lang="en-US" sz="950" dirty="0"/>
          </a:p>
        </p:txBody>
      </p:sp>
      <p:sp>
        <p:nvSpPr>
          <p:cNvPr id="28" name="Text 25"/>
          <p:cNvSpPr txBox="1"/>
          <p:nvPr/>
        </p:nvSpPr>
        <p:spPr>
          <a:xfrm>
            <a:off x="7114032" y="3474720"/>
            <a:ext cx="1143000" cy="274320"/>
          </a:xfrm>
          <a:prstGeom prst="rect">
            <a:avLst/>
          </a:prstGeom>
          <a:noFill/>
          <a:ln/>
        </p:spPr>
        <p:txBody>
          <a:bodyPr wrap="square" lIns="0" tIns="0" rIns="0" bIns="0" rtlCol="0" anchor="ctr"/>
          <a:lstStyle/>
          <a:p>
            <a:pPr marL="0" indent="0" algn="ctr">
              <a:buNone/>
            </a:pPr>
            <a:r>
              <a:rPr lang="en-US" sz="950" dirty="0">
                <a:solidFill>
                  <a:srgbClr val="9FB4BB"/>
                </a:solidFill>
                <a:latin typeface="Geologica" pitchFamily="34" charset="0"/>
                <a:ea typeface="Geologica" pitchFamily="34" charset="-122"/>
                <a:cs typeface="Geologica" pitchFamily="34" charset="-120"/>
              </a:rPr>
              <a:t>clone</a:t>
            </a:r>
            <a:endParaRPr lang="en-US" sz="950" dirty="0"/>
          </a:p>
        </p:txBody>
      </p:sp>
      <p:sp>
        <p:nvSpPr>
          <p:cNvPr id="29" name="Text 26"/>
          <p:cNvSpPr txBox="1"/>
          <p:nvPr/>
        </p:nvSpPr>
        <p:spPr>
          <a:xfrm>
            <a:off x="7114032" y="4114800"/>
            <a:ext cx="1143000" cy="274320"/>
          </a:xfrm>
          <a:prstGeom prst="rect">
            <a:avLst/>
          </a:prstGeom>
          <a:noFill/>
          <a:ln/>
        </p:spPr>
        <p:txBody>
          <a:bodyPr wrap="square" lIns="0" tIns="0" rIns="0" bIns="0" rtlCol="0" anchor="ctr"/>
          <a:lstStyle/>
          <a:p>
            <a:pPr marL="0" indent="0" algn="ctr">
              <a:buNone/>
            </a:pPr>
            <a:r>
              <a:rPr lang="en-US" sz="950" dirty="0">
                <a:solidFill>
                  <a:srgbClr val="9FB4BB"/>
                </a:solidFill>
                <a:latin typeface="Geologica" pitchFamily="34" charset="0"/>
                <a:ea typeface="Geologica" pitchFamily="34" charset="-122"/>
                <a:cs typeface="Geologica" pitchFamily="34" charset="-120"/>
              </a:rPr>
              <a:t>publish</a:t>
            </a:r>
            <a:endParaRPr lang="en-US" sz="950" dirty="0"/>
          </a:p>
        </p:txBody>
      </p:sp>
      <p:sp>
        <p:nvSpPr>
          <p:cNvPr id="30" name="Shape 27"/>
          <p:cNvSpPr/>
          <p:nvPr/>
        </p:nvSpPr>
        <p:spPr>
          <a:xfrm>
            <a:off x="594360" y="5257800"/>
            <a:ext cx="11002975" cy="457200"/>
          </a:xfrm>
          <a:prstGeom prst="roundRect">
            <a:avLst>
              <a:gd name="adj" fmla="val 20000"/>
            </a:avLst>
          </a:prstGeom>
          <a:solidFill>
            <a:srgbClr val="00141B">
              <a:alpha val="80000"/>
            </a:srgbClr>
          </a:solidFill>
          <a:ln w="9525">
            <a:solidFill>
              <a:srgbClr val="2A5A66"/>
            </a:solidFill>
            <a:prstDash val="dash"/>
          </a:ln>
        </p:spPr>
        <p:txBody>
          <a:bodyPr/>
          <a:lstStyle/>
          <a:p>
            <a:endParaRPr lang="en-US"/>
          </a:p>
        </p:txBody>
      </p:sp>
      <p:sp>
        <p:nvSpPr>
          <p:cNvPr id="31" name="Text 28"/>
          <p:cNvSpPr txBox="1"/>
          <p:nvPr/>
        </p:nvSpPr>
        <p:spPr>
          <a:xfrm>
            <a:off x="868680" y="5257800"/>
            <a:ext cx="10454335"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LANE B · BROWSER  </a:t>
            </a:r>
            <a:r>
              <a:rPr lang="en-US" sz="1100" dirty="0">
                <a:solidFill>
                  <a:srgbClr val="E4EEF1"/>
                </a:solidFill>
                <a:latin typeface="Geologica" pitchFamily="34" charset="0"/>
                <a:ea typeface="Geologica" pitchFamily="34" charset="-122"/>
                <a:cs typeface="Geologica" pitchFamily="34" charset="-120"/>
              </a:rPr>
              <a:t>Window 3 is any browser: press the  .  key on a repo page and github.dev opens a full editor. Same commits, same branches, nothing installed.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10</a:t>
            </a:r>
            <a:endParaRPr lang="en-US" sz="900" dirty="0"/>
          </a:p>
        </p:txBody>
      </p:sp>
      <p:sp>
        <p:nvSpPr>
          <p:cNvPr id="4" name="Shape 1"/>
          <p:cNvSpPr/>
          <p:nvPr/>
        </p:nvSpPr>
        <p:spPr>
          <a:xfrm>
            <a:off x="594360" y="502920"/>
            <a:ext cx="134416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34416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TODAY'S LOOP</a:t>
            </a:r>
            <a:endParaRPr lang="en-US" sz="850" dirty="0"/>
          </a:p>
        </p:txBody>
      </p:sp>
      <p:sp>
        <p:nvSpPr>
          <p:cNvPr id="6" name="Text 3"/>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Today's loop</a:t>
            </a:r>
            <a:endParaRPr lang="en-US" sz="3000" dirty="0"/>
          </a:p>
        </p:txBody>
      </p:sp>
      <p:sp>
        <p:nvSpPr>
          <p:cNvPr id="7" name="Text 4"/>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Both of you run this at the same time, each on the other's repo.</a:t>
            </a:r>
            <a:endParaRPr lang="en-US" sz="1300" dirty="0"/>
          </a:p>
        </p:txBody>
      </p:sp>
      <p:sp>
        <p:nvSpPr>
          <p:cNvPr id="8" name="Shape 5"/>
          <p:cNvSpPr/>
          <p:nvPr/>
        </p:nvSpPr>
        <p:spPr>
          <a:xfrm>
            <a:off x="594360" y="2148840"/>
            <a:ext cx="3520440" cy="2788920"/>
          </a:xfrm>
          <a:prstGeom prst="roundRect">
            <a:avLst>
              <a:gd name="adj" fmla="val 3934"/>
            </a:avLst>
          </a:prstGeom>
          <a:solidFill>
            <a:srgbClr val="0F2831">
              <a:alpha val="88000"/>
            </a:srgbClr>
          </a:solidFill>
          <a:ln w="9525">
            <a:solidFill>
              <a:srgbClr val="1E4A55"/>
            </a:solidFill>
            <a:prstDash val="solid"/>
          </a:ln>
        </p:spPr>
        <p:txBody>
          <a:bodyPr/>
          <a:lstStyle/>
          <a:p>
            <a:endParaRPr lang="en-US"/>
          </a:p>
        </p:txBody>
      </p:sp>
      <p:sp>
        <p:nvSpPr>
          <p:cNvPr id="9" name="Text 6"/>
          <p:cNvSpPr txBox="1"/>
          <p:nvPr/>
        </p:nvSpPr>
        <p:spPr>
          <a:xfrm>
            <a:off x="822960" y="2286000"/>
            <a:ext cx="548640" cy="502920"/>
          </a:xfrm>
          <a:prstGeom prst="rect">
            <a:avLst/>
          </a:prstGeom>
          <a:noFill/>
          <a:ln/>
        </p:spPr>
        <p:txBody>
          <a:bodyPr wrap="square" lIns="0" tIns="0" rIns="0" bIns="0" rtlCol="0" anchor="ctr"/>
          <a:lstStyle/>
          <a:p>
            <a:pPr marL="0" indent="0">
              <a:buNone/>
            </a:pPr>
            <a:r>
              <a:rPr lang="en-US" sz="2600" b="1" dirty="0">
                <a:solidFill>
                  <a:srgbClr val="3FC9D4"/>
                </a:solidFill>
                <a:latin typeface="Geologica" pitchFamily="34" charset="0"/>
                <a:ea typeface="Geologica" pitchFamily="34" charset="-122"/>
                <a:cs typeface="Geologica" pitchFamily="34" charset="-120"/>
              </a:rPr>
              <a:t>1</a:t>
            </a:r>
            <a:endParaRPr lang="en-US" sz="2600" dirty="0"/>
          </a:p>
        </p:txBody>
      </p:sp>
      <p:sp>
        <p:nvSpPr>
          <p:cNvPr id="10" name="Text 7"/>
          <p:cNvSpPr txBox="1"/>
          <p:nvPr/>
        </p:nvSpPr>
        <p:spPr>
          <a:xfrm>
            <a:off x="1371600"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Build and ship</a:t>
            </a:r>
            <a:endParaRPr lang="en-US" sz="1400" dirty="0"/>
          </a:p>
        </p:txBody>
      </p:sp>
      <p:sp>
        <p:nvSpPr>
          <p:cNvPr id="11" name="Text 8"/>
          <p:cNvSpPr txBox="1"/>
          <p:nvPr/>
        </p:nvSpPr>
        <p:spPr>
          <a:xfrm>
            <a:off x="822960"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Build a page in Replit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Push from Replit's Git pane</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Write the prompt doc</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Invite your partner; accept theirs</a:t>
            </a:r>
            <a:endParaRPr lang="en-US" sz="1150" dirty="0"/>
          </a:p>
        </p:txBody>
      </p:sp>
      <p:sp>
        <p:nvSpPr>
          <p:cNvPr id="12" name="Text 9"/>
          <p:cNvSpPr txBox="1"/>
          <p:nvPr/>
        </p:nvSpPr>
        <p:spPr>
          <a:xfrm>
            <a:off x="822960" y="4526280"/>
            <a:ext cx="3063240" cy="274320"/>
          </a:xfrm>
          <a:prstGeom prst="rect">
            <a:avLst/>
          </a:prstGeom>
          <a:noFill/>
          <a:ln/>
        </p:spPr>
        <p:txBody>
          <a:bodyPr wrap="square" lIns="0" tIns="0" rIns="0" bIns="0" rtlCol="0" anchor="ctr"/>
          <a:lstStyle/>
          <a:p>
            <a:pPr marL="0" indent="0">
              <a:buNone/>
            </a:pPr>
            <a:r>
              <a:rPr lang="en-US" sz="1000" dirty="0">
                <a:solidFill>
                  <a:srgbClr val="9FB4BB"/>
                </a:solidFill>
                <a:latin typeface="Geologica" pitchFamily="34" charset="0"/>
                <a:ea typeface="Geologica" pitchFamily="34" charset="-122"/>
                <a:cs typeface="Geologica" pitchFamily="34" charset="-120"/>
              </a:rPr>
              <a:t>15 min</a:t>
            </a:r>
            <a:endParaRPr lang="en-US" sz="1000" dirty="0"/>
          </a:p>
        </p:txBody>
      </p:sp>
      <p:sp>
        <p:nvSpPr>
          <p:cNvPr id="13" name="Text 10"/>
          <p:cNvSpPr txBox="1"/>
          <p:nvPr/>
        </p:nvSpPr>
        <p:spPr>
          <a:xfrm>
            <a:off x="4096512" y="3246120"/>
            <a:ext cx="256032" cy="457200"/>
          </a:xfrm>
          <a:prstGeom prst="rect">
            <a:avLst/>
          </a:prstGeom>
          <a:noFill/>
          <a:ln/>
        </p:spPr>
        <p:txBody>
          <a:bodyPr wrap="square" lIns="0" tIns="0" rIns="0" bIns="0" rtlCol="0" anchor="ctr"/>
          <a:lstStyle/>
          <a:p>
            <a:pPr marL="0" indent="0" algn="ctr">
              <a:buNone/>
            </a:pPr>
            <a:r>
              <a:rPr lang="en-US" sz="1800" dirty="0">
                <a:solidFill>
                  <a:srgbClr val="3FC9D4"/>
                </a:solidFill>
                <a:latin typeface="Geologica" pitchFamily="34" charset="0"/>
                <a:ea typeface="Geologica" pitchFamily="34" charset="-122"/>
                <a:cs typeface="Geologica" pitchFamily="34" charset="-120"/>
              </a:rPr>
              <a:t>→</a:t>
            </a:r>
            <a:endParaRPr lang="en-US" sz="1800" dirty="0"/>
          </a:p>
        </p:txBody>
      </p:sp>
      <p:sp>
        <p:nvSpPr>
          <p:cNvPr id="14" name="Shape 11"/>
          <p:cNvSpPr/>
          <p:nvPr/>
        </p:nvSpPr>
        <p:spPr>
          <a:xfrm>
            <a:off x="4334256" y="2148840"/>
            <a:ext cx="3520440" cy="2788920"/>
          </a:xfrm>
          <a:prstGeom prst="roundRect">
            <a:avLst>
              <a:gd name="adj" fmla="val 3934"/>
            </a:avLst>
          </a:prstGeom>
          <a:solidFill>
            <a:srgbClr val="0F2831">
              <a:alpha val="88000"/>
            </a:srgbClr>
          </a:solidFill>
          <a:ln w="9525">
            <a:solidFill>
              <a:srgbClr val="1E4A55"/>
            </a:solidFill>
            <a:prstDash val="solid"/>
          </a:ln>
        </p:spPr>
        <p:txBody>
          <a:bodyPr/>
          <a:lstStyle/>
          <a:p>
            <a:endParaRPr lang="en-US"/>
          </a:p>
        </p:txBody>
      </p:sp>
      <p:sp>
        <p:nvSpPr>
          <p:cNvPr id="15" name="Text 12"/>
          <p:cNvSpPr txBox="1"/>
          <p:nvPr/>
        </p:nvSpPr>
        <p:spPr>
          <a:xfrm>
            <a:off x="4562856" y="2286000"/>
            <a:ext cx="548640" cy="502920"/>
          </a:xfrm>
          <a:prstGeom prst="rect">
            <a:avLst/>
          </a:prstGeom>
          <a:noFill/>
          <a:ln/>
        </p:spPr>
        <p:txBody>
          <a:bodyPr wrap="square" lIns="0" tIns="0" rIns="0" bIns="0" rtlCol="0" anchor="ctr"/>
          <a:lstStyle/>
          <a:p>
            <a:pPr marL="0" indent="0">
              <a:buNone/>
            </a:pPr>
            <a:r>
              <a:rPr lang="en-US" sz="2600" b="1" dirty="0">
                <a:solidFill>
                  <a:srgbClr val="3FC9D4"/>
                </a:solidFill>
                <a:latin typeface="Geologica" pitchFamily="34" charset="0"/>
                <a:ea typeface="Geologica" pitchFamily="34" charset="-122"/>
                <a:cs typeface="Geologica" pitchFamily="34" charset="-120"/>
              </a:rPr>
              <a:t>2</a:t>
            </a:r>
            <a:endParaRPr lang="en-US" sz="2600" dirty="0"/>
          </a:p>
        </p:txBody>
      </p:sp>
      <p:sp>
        <p:nvSpPr>
          <p:cNvPr id="16" name="Text 13"/>
          <p:cNvSpPr txBox="1"/>
          <p:nvPr/>
        </p:nvSpPr>
        <p:spPr>
          <a:xfrm>
            <a:off x="5111496"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Clone, branch, change</a:t>
            </a:r>
            <a:endParaRPr lang="en-US" sz="1400" dirty="0"/>
          </a:p>
        </p:txBody>
      </p:sp>
      <p:sp>
        <p:nvSpPr>
          <p:cNvPr id="17" name="Text 14"/>
          <p:cNvSpPr txBox="1"/>
          <p:nvPr/>
        </p:nvSpPr>
        <p:spPr>
          <a:xfrm>
            <a:off x="4562856"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Accept, then clone your partner's repo</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Branch before you touch anything</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Find one thing and change it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Commit, publish, open a pull request</a:t>
            </a:r>
            <a:endParaRPr lang="en-US" sz="1150" dirty="0"/>
          </a:p>
        </p:txBody>
      </p:sp>
      <p:sp>
        <p:nvSpPr>
          <p:cNvPr id="18" name="Text 15"/>
          <p:cNvSpPr txBox="1"/>
          <p:nvPr/>
        </p:nvSpPr>
        <p:spPr>
          <a:xfrm>
            <a:off x="4562856" y="4526280"/>
            <a:ext cx="3063240" cy="274320"/>
          </a:xfrm>
          <a:prstGeom prst="rect">
            <a:avLst/>
          </a:prstGeom>
          <a:noFill/>
          <a:ln/>
        </p:spPr>
        <p:txBody>
          <a:bodyPr wrap="square" lIns="0" tIns="0" rIns="0" bIns="0" rtlCol="0" anchor="ctr"/>
          <a:lstStyle/>
          <a:p>
            <a:pPr marL="0" indent="0">
              <a:buNone/>
            </a:pPr>
            <a:r>
              <a:rPr lang="en-US" sz="1000" dirty="0">
                <a:solidFill>
                  <a:srgbClr val="9FB4BB"/>
                </a:solidFill>
                <a:latin typeface="Geologica" pitchFamily="34" charset="0"/>
                <a:ea typeface="Geologica" pitchFamily="34" charset="-122"/>
                <a:cs typeface="Geologica" pitchFamily="34" charset="-120"/>
              </a:rPr>
              <a:t>22 min</a:t>
            </a:r>
            <a:endParaRPr lang="en-US" sz="1000" dirty="0"/>
          </a:p>
        </p:txBody>
      </p:sp>
      <p:sp>
        <p:nvSpPr>
          <p:cNvPr id="19" name="Text 16"/>
          <p:cNvSpPr txBox="1"/>
          <p:nvPr/>
        </p:nvSpPr>
        <p:spPr>
          <a:xfrm>
            <a:off x="7836408" y="3246120"/>
            <a:ext cx="256032" cy="457200"/>
          </a:xfrm>
          <a:prstGeom prst="rect">
            <a:avLst/>
          </a:prstGeom>
          <a:noFill/>
          <a:ln/>
        </p:spPr>
        <p:txBody>
          <a:bodyPr wrap="square" lIns="0" tIns="0" rIns="0" bIns="0" rtlCol="0" anchor="ctr"/>
          <a:lstStyle/>
          <a:p>
            <a:pPr marL="0" indent="0" algn="ctr">
              <a:buNone/>
            </a:pPr>
            <a:r>
              <a:rPr lang="en-US" sz="1800" dirty="0">
                <a:solidFill>
                  <a:srgbClr val="3FC9D4"/>
                </a:solidFill>
                <a:latin typeface="Geologica" pitchFamily="34" charset="0"/>
                <a:ea typeface="Geologica" pitchFamily="34" charset="-122"/>
                <a:cs typeface="Geologica" pitchFamily="34" charset="-120"/>
              </a:rPr>
              <a:t>→</a:t>
            </a:r>
            <a:endParaRPr lang="en-US" sz="1800" dirty="0"/>
          </a:p>
        </p:txBody>
      </p:sp>
      <p:sp>
        <p:nvSpPr>
          <p:cNvPr id="20" name="Shape 17"/>
          <p:cNvSpPr/>
          <p:nvPr/>
        </p:nvSpPr>
        <p:spPr>
          <a:xfrm>
            <a:off x="8074152" y="2148840"/>
            <a:ext cx="3520440" cy="2788920"/>
          </a:xfrm>
          <a:prstGeom prst="roundRect">
            <a:avLst>
              <a:gd name="adj" fmla="val 3934"/>
            </a:avLst>
          </a:prstGeom>
          <a:solidFill>
            <a:srgbClr val="0F2831">
              <a:alpha val="88000"/>
            </a:srgbClr>
          </a:solidFill>
          <a:ln w="9525">
            <a:solidFill>
              <a:srgbClr val="1E4A55"/>
            </a:solidFill>
            <a:prstDash val="solid"/>
          </a:ln>
        </p:spPr>
        <p:txBody>
          <a:bodyPr/>
          <a:lstStyle/>
          <a:p>
            <a:endParaRPr lang="en-US"/>
          </a:p>
        </p:txBody>
      </p:sp>
      <p:sp>
        <p:nvSpPr>
          <p:cNvPr id="21" name="Text 18"/>
          <p:cNvSpPr txBox="1"/>
          <p:nvPr/>
        </p:nvSpPr>
        <p:spPr>
          <a:xfrm>
            <a:off x="8302752" y="2286000"/>
            <a:ext cx="548640" cy="502920"/>
          </a:xfrm>
          <a:prstGeom prst="rect">
            <a:avLst/>
          </a:prstGeom>
          <a:noFill/>
          <a:ln/>
        </p:spPr>
        <p:txBody>
          <a:bodyPr wrap="square" lIns="0" tIns="0" rIns="0" bIns="0" rtlCol="0" anchor="ctr"/>
          <a:lstStyle/>
          <a:p>
            <a:pPr marL="0" indent="0">
              <a:buNone/>
            </a:pPr>
            <a:r>
              <a:rPr lang="en-US" sz="2600" b="1" dirty="0">
                <a:solidFill>
                  <a:srgbClr val="3FC9D4"/>
                </a:solidFill>
                <a:latin typeface="Geologica" pitchFamily="34" charset="0"/>
                <a:ea typeface="Geologica" pitchFamily="34" charset="-122"/>
                <a:cs typeface="Geologica" pitchFamily="34" charset="-120"/>
              </a:rPr>
              <a:t>3</a:t>
            </a:r>
            <a:endParaRPr lang="en-US" sz="2600" dirty="0"/>
          </a:p>
        </p:txBody>
      </p:sp>
      <p:sp>
        <p:nvSpPr>
          <p:cNvPr id="22" name="Text 19"/>
          <p:cNvSpPr txBox="1"/>
          <p:nvPr/>
        </p:nvSpPr>
        <p:spPr>
          <a:xfrm>
            <a:off x="8851392"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Review, merge, sync</a:t>
            </a:r>
            <a:endParaRPr lang="en-US" sz="1400" dirty="0"/>
          </a:p>
        </p:txBody>
      </p:sp>
      <p:sp>
        <p:nvSpPr>
          <p:cNvPr id="23" name="Text 20"/>
          <p:cNvSpPr txBox="1"/>
          <p:nvPr/>
        </p:nvSpPr>
        <p:spPr>
          <a:xfrm>
            <a:off x="8302752"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Open the PR on your own repo</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Read the diff, leave a comment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Merge and delete the branch</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Pull it back into Replit</a:t>
            </a:r>
            <a:endParaRPr lang="en-US" sz="1150" dirty="0"/>
          </a:p>
        </p:txBody>
      </p:sp>
      <p:sp>
        <p:nvSpPr>
          <p:cNvPr id="24" name="Text 21"/>
          <p:cNvSpPr txBox="1"/>
          <p:nvPr/>
        </p:nvSpPr>
        <p:spPr>
          <a:xfrm>
            <a:off x="8302752" y="4526280"/>
            <a:ext cx="3063240" cy="274320"/>
          </a:xfrm>
          <a:prstGeom prst="rect">
            <a:avLst/>
          </a:prstGeom>
          <a:noFill/>
          <a:ln/>
        </p:spPr>
        <p:txBody>
          <a:bodyPr wrap="square" lIns="0" tIns="0" rIns="0" bIns="0" rtlCol="0" anchor="ctr"/>
          <a:lstStyle/>
          <a:p>
            <a:pPr marL="0" indent="0">
              <a:buNone/>
            </a:pPr>
            <a:r>
              <a:rPr lang="en-US" sz="1000" dirty="0">
                <a:solidFill>
                  <a:srgbClr val="9FB4BB"/>
                </a:solidFill>
                <a:latin typeface="Geologica" pitchFamily="34" charset="0"/>
                <a:ea typeface="Geologica" pitchFamily="34" charset="-122"/>
                <a:cs typeface="Geologica" pitchFamily="34" charset="-120"/>
              </a:rPr>
              <a:t>10 min</a:t>
            </a:r>
            <a:endParaRPr lang="en-US" sz="1000" dirty="0"/>
          </a:p>
        </p:txBody>
      </p:sp>
      <p:sp>
        <p:nvSpPr>
          <p:cNvPr id="25" name="Text 22"/>
          <p:cNvSpPr txBox="1"/>
          <p:nvPr/>
        </p:nvSpPr>
        <p:spPr>
          <a:xfrm>
            <a:off x="594360" y="5120640"/>
            <a:ext cx="10972800" cy="457200"/>
          </a:xfrm>
          <a:prstGeom prst="rect">
            <a:avLst/>
          </a:prstGeom>
          <a:noFill/>
          <a:ln/>
        </p:spPr>
        <p:txBody>
          <a:bodyPr wrap="square" lIns="0" tIns="0" rIns="0" bIns="0" rtlCol="0" anchor="ctr"/>
          <a:lstStyle/>
          <a:p>
            <a:pPr marL="0" indent="0">
              <a:buNone/>
            </a:pPr>
            <a:r>
              <a:rPr lang="en-US" sz="1150" dirty="0">
                <a:solidFill>
                  <a:srgbClr val="9FB4BB"/>
                </a:solidFill>
                <a:latin typeface="Geologica" pitchFamily="34" charset="0"/>
                <a:ea typeface="Geologica" pitchFamily="34" charset="-122"/>
                <a:cs typeface="Geologica" pitchFamily="34" charset="-120"/>
              </a:rPr>
              <a:t>Round 3 closes the loop: the change you receive came from your partner's Round 2, and the change you made lands in their Round 3.</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11</a:t>
            </a:r>
            <a:endParaRPr lang="en-US" sz="900" dirty="0"/>
          </a:p>
        </p:txBody>
      </p:sp>
      <p:sp>
        <p:nvSpPr>
          <p:cNvPr id="4" name="Shape 1"/>
          <p:cNvSpPr/>
          <p:nvPr/>
        </p:nvSpPr>
        <p:spPr>
          <a:xfrm>
            <a:off x="594360" y="1965960"/>
            <a:ext cx="18105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1965960"/>
            <a:ext cx="18105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PART 2 · LIVE DEMO</a:t>
            </a:r>
            <a:endParaRPr lang="en-US" sz="850" dirty="0"/>
          </a:p>
        </p:txBody>
      </p:sp>
      <p:sp>
        <p:nvSpPr>
          <p:cNvPr id="6" name="Text 3"/>
          <p:cNvSpPr txBox="1"/>
          <p:nvPr/>
        </p:nvSpPr>
        <p:spPr>
          <a:xfrm>
            <a:off x="566928" y="237744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Geologica" pitchFamily="34" charset="0"/>
                <a:ea typeface="Geologica" pitchFamily="34" charset="-122"/>
                <a:cs typeface="Geologica" pitchFamily="34" charset="-120"/>
              </a:rPr>
              <a:t>Watch one full loop</a:t>
            </a:r>
            <a:endParaRPr lang="en-US" sz="4400" dirty="0"/>
          </a:p>
        </p:txBody>
      </p:sp>
      <p:sp>
        <p:nvSpPr>
          <p:cNvPr id="7" name="Text 4"/>
          <p:cNvSpPr txBox="1"/>
          <p:nvPr/>
        </p:nvSpPr>
        <p:spPr>
          <a:xfrm>
            <a:off x="594360" y="3429000"/>
            <a:ext cx="9601200" cy="640080"/>
          </a:xfrm>
          <a:prstGeom prst="rect">
            <a:avLst/>
          </a:prstGeom>
          <a:noFill/>
          <a:ln/>
        </p:spPr>
        <p:txBody>
          <a:bodyPr wrap="square" lIns="0" tIns="0" rIns="0" bIns="0" rtlCol="0" anchor="ctr"/>
          <a:lstStyle/>
          <a:p>
            <a:pPr marL="0" indent="0">
              <a:buNone/>
            </a:pPr>
            <a:endParaRPr lang="en-US" sz="1600" dirty="0"/>
          </a:p>
        </p:txBody>
      </p:sp>
      <p:sp>
        <p:nvSpPr>
          <p:cNvPr id="8" name="Shape 5"/>
          <p:cNvSpPr/>
          <p:nvPr/>
        </p:nvSpPr>
        <p:spPr>
          <a:xfrm>
            <a:off x="594360" y="4160520"/>
            <a:ext cx="1188720"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9" name="Text 6"/>
          <p:cNvSpPr txBox="1"/>
          <p:nvPr/>
        </p:nvSpPr>
        <p:spPr>
          <a:xfrm>
            <a:off x="594360" y="4160520"/>
            <a:ext cx="1188720"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~8 MINUTES</a:t>
            </a:r>
            <a:endParaRPr lang="en-US" sz="850" dirty="0"/>
          </a:p>
        </p:txBody>
      </p:sp>
      <p:sp>
        <p:nvSpPr>
          <p:cNvPr id="10" name="Shape 7"/>
          <p:cNvSpPr/>
          <p:nvPr/>
        </p:nvSpPr>
        <p:spPr>
          <a:xfrm>
            <a:off x="594360" y="4892040"/>
            <a:ext cx="11002975" cy="640080"/>
          </a:xfrm>
          <a:prstGeom prst="roundRect">
            <a:avLst>
              <a:gd name="adj" fmla="val 14286"/>
            </a:avLst>
          </a:prstGeom>
          <a:solidFill>
            <a:srgbClr val="0B2A33">
              <a:alpha val="90000"/>
            </a:srgbClr>
          </a:solidFill>
          <a:ln w="9525">
            <a:solidFill>
              <a:srgbClr val="1E4A55"/>
            </a:solidFill>
            <a:prstDash val="solid"/>
          </a:ln>
        </p:spPr>
        <p:txBody>
          <a:bodyPr/>
          <a:lstStyle/>
          <a:p>
            <a:endParaRPr lang="en-US"/>
          </a:p>
        </p:txBody>
      </p:sp>
      <p:sp>
        <p:nvSpPr>
          <p:cNvPr id="11" name="Text 8"/>
          <p:cNvSpPr txBox="1"/>
          <p:nvPr/>
        </p:nvSpPr>
        <p:spPr>
          <a:xfrm>
            <a:off x="868680" y="4892040"/>
            <a:ext cx="10454335" cy="640080"/>
          </a:xfrm>
          <a:prstGeom prst="rect">
            <a:avLst/>
          </a:prstGeom>
          <a:noFill/>
          <a:ln/>
        </p:spPr>
        <p:txBody>
          <a:bodyPr wrap="square" lIns="0" tIns="0" rIns="0" bIns="0" rtlCol="0" anchor="ctr"/>
          <a:lstStyle/>
          <a:p>
            <a:pPr marL="0" indent="0">
              <a:buNone/>
            </a:pPr>
            <a:r>
              <a:rPr lang="en-US" sz="1250" dirty="0">
                <a:solidFill>
                  <a:srgbClr val="FFFFFF"/>
                </a:solidFill>
                <a:latin typeface="Geologica" pitchFamily="34" charset="0"/>
                <a:ea typeface="Geologica" pitchFamily="34" charset="-122"/>
                <a:cs typeface="Geologica" pitchFamily="34" charset="-120"/>
              </a:rPr>
              <a:t>Watch for the four moments on the next slide. Everything else is clicks you will do yourself in ten minutes.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12</a:t>
            </a:r>
            <a:endParaRPr lang="en-US" sz="900" dirty="0"/>
          </a:p>
        </p:txBody>
      </p:sp>
      <p:sp>
        <p:nvSpPr>
          <p:cNvPr id="4" name="Shape 1"/>
          <p:cNvSpPr/>
          <p:nvPr/>
        </p:nvSpPr>
        <p:spPr>
          <a:xfrm>
            <a:off x="594360" y="502920"/>
            <a:ext cx="18105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8105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PART 2 · LIVE DEMO</a:t>
            </a:r>
            <a:endParaRPr lang="en-US" sz="850" dirty="0"/>
          </a:p>
        </p:txBody>
      </p:sp>
      <p:sp>
        <p:nvSpPr>
          <p:cNvPr id="6" name="Shape 3"/>
          <p:cNvSpPr/>
          <p:nvPr/>
        </p:nvSpPr>
        <p:spPr>
          <a:xfrm>
            <a:off x="9585655" y="502920"/>
            <a:ext cx="2011680"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585655" y="502920"/>
            <a:ext cx="2011680"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WATCH · 8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The four handoff moments</a:t>
            </a:r>
            <a:endParaRPr lang="en-US" sz="3000" dirty="0"/>
          </a:p>
        </p:txBody>
      </p:sp>
      <p:sp>
        <p:nvSpPr>
          <p:cNvPr id="9" name="Shape 6"/>
          <p:cNvSpPr/>
          <p:nvPr/>
        </p:nvSpPr>
        <p:spPr>
          <a:xfrm>
            <a:off x="594360" y="1874520"/>
            <a:ext cx="2633472" cy="3017520"/>
          </a:xfrm>
          <a:prstGeom prst="roundRect">
            <a:avLst>
              <a:gd name="adj" fmla="val 4167"/>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1</a:t>
            </a:r>
            <a:endParaRPr lang="en-US" sz="2400" dirty="0"/>
          </a:p>
        </p:txBody>
      </p:sp>
      <p:sp>
        <p:nvSpPr>
          <p:cNvPr id="11" name="Text 8"/>
          <p:cNvSpPr txBox="1"/>
          <p:nvPr/>
        </p:nvSpPr>
        <p:spPr>
          <a:xfrm>
            <a:off x="1325880" y="2075688"/>
            <a:ext cx="1719072" cy="36576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Ship</a:t>
            </a:r>
            <a:endParaRPr lang="en-US" sz="1300" dirty="0"/>
          </a:p>
        </p:txBody>
      </p:sp>
      <p:sp>
        <p:nvSpPr>
          <p:cNvPr id="12" name="Text 9"/>
          <p:cNvSpPr txBox="1"/>
          <p:nvPr/>
        </p:nvSpPr>
        <p:spPr>
          <a:xfrm>
            <a:off x="822960" y="2606040"/>
            <a:ext cx="2176272" cy="868680"/>
          </a:xfrm>
          <a:prstGeom prst="rect">
            <a:avLst/>
          </a:prstGeom>
          <a:noFill/>
          <a:ln/>
        </p:spPr>
        <p:txBody>
          <a:bodyPr wrap="square" lIns="0" tIns="0" rIns="0" bIns="0" rtlCol="0" anchor="t"/>
          <a:lstStyle/>
          <a:p>
            <a:pPr marL="0" indent="0">
              <a:buNone/>
            </a:pPr>
            <a:r>
              <a:rPr lang="en-US" sz="1250" b="1" i="1" dirty="0">
                <a:solidFill>
                  <a:srgbClr val="3FC9D4"/>
                </a:solidFill>
                <a:latin typeface="Geologica" pitchFamily="34" charset="0"/>
                <a:ea typeface="Geologica" pitchFamily="34" charset="-122"/>
                <a:cs typeface="Geologica" pitchFamily="34" charset="-120"/>
              </a:rPr>
              <a:t>"My work is now visible to my partner."</a:t>
            </a:r>
            <a:endParaRPr lang="en-US" sz="1250" dirty="0"/>
          </a:p>
        </p:txBody>
      </p:sp>
      <p:sp>
        <p:nvSpPr>
          <p:cNvPr id="13" name="Text 10"/>
          <p:cNvSpPr txBox="1"/>
          <p:nvPr/>
        </p:nvSpPr>
        <p:spPr>
          <a:xfrm>
            <a:off x="822960" y="3474720"/>
            <a:ext cx="2176272" cy="1325880"/>
          </a:xfrm>
          <a:prstGeom prst="rect">
            <a:avLst/>
          </a:prstGeom>
          <a:noFill/>
          <a:ln/>
        </p:spPr>
        <p:txBody>
          <a:bodyPr wrap="square" lIns="0" tIns="0" rIns="0" bIns="0" rtlCol="0" anchor="t"/>
          <a:lstStyle/>
          <a:p>
            <a:pPr marL="0" indent="0">
              <a:buNone/>
            </a:pPr>
            <a:r>
              <a:rPr lang="en-US" sz="1050" dirty="0">
                <a:solidFill>
                  <a:srgbClr val="E4EEF1"/>
                </a:solidFill>
                <a:latin typeface="Geologica" pitchFamily="34" charset="0"/>
                <a:ea typeface="Geologica" pitchFamily="34" charset="-122"/>
                <a:cs typeface="Geologica" pitchFamily="34" charset="-120"/>
              </a:rPr>
              <a:t>Replit builds → Git pane push → the code is on main on GitHub.com → prompt doc → collaborator invite.</a:t>
            </a:r>
            <a:endParaRPr lang="en-US" sz="1050" dirty="0"/>
          </a:p>
        </p:txBody>
      </p:sp>
      <p:sp>
        <p:nvSpPr>
          <p:cNvPr id="14" name="Shape 11"/>
          <p:cNvSpPr/>
          <p:nvPr/>
        </p:nvSpPr>
        <p:spPr>
          <a:xfrm>
            <a:off x="3383280" y="1874520"/>
            <a:ext cx="2633472" cy="3017520"/>
          </a:xfrm>
          <a:prstGeom prst="roundRect">
            <a:avLst>
              <a:gd name="adj" fmla="val 4167"/>
            </a:avLst>
          </a:prstGeom>
          <a:solidFill>
            <a:srgbClr val="0F2831">
              <a:alpha val="88000"/>
            </a:srgbClr>
          </a:solidFill>
          <a:ln w="9525">
            <a:solidFill>
              <a:srgbClr val="1E4A55"/>
            </a:solidFill>
            <a:prstDash val="solid"/>
          </a:ln>
        </p:spPr>
        <p:txBody>
          <a:bodyPr/>
          <a:lstStyle/>
          <a:p>
            <a:endParaRPr lang="en-US"/>
          </a:p>
        </p:txBody>
      </p:sp>
      <p:sp>
        <p:nvSpPr>
          <p:cNvPr id="15" name="Text 12"/>
          <p:cNvSpPr txBox="1"/>
          <p:nvPr/>
        </p:nvSpPr>
        <p:spPr>
          <a:xfrm>
            <a:off x="3611880"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2</a:t>
            </a:r>
            <a:endParaRPr lang="en-US" sz="2400" dirty="0"/>
          </a:p>
        </p:txBody>
      </p:sp>
      <p:sp>
        <p:nvSpPr>
          <p:cNvPr id="16" name="Text 13"/>
          <p:cNvSpPr txBox="1"/>
          <p:nvPr/>
        </p:nvSpPr>
        <p:spPr>
          <a:xfrm>
            <a:off x="4114800" y="2075688"/>
            <a:ext cx="1719072" cy="36576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Branch</a:t>
            </a:r>
            <a:endParaRPr lang="en-US" sz="1300" dirty="0"/>
          </a:p>
        </p:txBody>
      </p:sp>
      <p:sp>
        <p:nvSpPr>
          <p:cNvPr id="17" name="Text 14"/>
          <p:cNvSpPr txBox="1"/>
          <p:nvPr/>
        </p:nvSpPr>
        <p:spPr>
          <a:xfrm>
            <a:off x="3611880" y="2606040"/>
            <a:ext cx="2176272" cy="868680"/>
          </a:xfrm>
          <a:prstGeom prst="rect">
            <a:avLst/>
          </a:prstGeom>
          <a:noFill/>
          <a:ln/>
        </p:spPr>
        <p:txBody>
          <a:bodyPr wrap="square" lIns="0" tIns="0" rIns="0" bIns="0" rtlCol="0" anchor="t"/>
          <a:lstStyle/>
          <a:p>
            <a:pPr marL="0" indent="0">
              <a:buNone/>
            </a:pPr>
            <a:r>
              <a:rPr lang="en-US" sz="1250" b="1" i="1" dirty="0">
                <a:solidFill>
                  <a:srgbClr val="3FC9D4"/>
                </a:solidFill>
                <a:latin typeface="Geologica" pitchFamily="34" charset="0"/>
                <a:ea typeface="Geologica" pitchFamily="34" charset="-122"/>
                <a:cs typeface="Geologica" pitchFamily="34" charset="-120"/>
              </a:rPr>
              <a:t>"They never touch main."</a:t>
            </a:r>
            <a:endParaRPr lang="en-US" sz="1250" dirty="0"/>
          </a:p>
        </p:txBody>
      </p:sp>
      <p:sp>
        <p:nvSpPr>
          <p:cNvPr id="18" name="Text 15"/>
          <p:cNvSpPr txBox="1"/>
          <p:nvPr/>
        </p:nvSpPr>
        <p:spPr>
          <a:xfrm>
            <a:off x="3611880" y="3474720"/>
            <a:ext cx="2176272" cy="1325880"/>
          </a:xfrm>
          <a:prstGeom prst="rect">
            <a:avLst/>
          </a:prstGeom>
          <a:noFill/>
          <a:ln/>
        </p:spPr>
        <p:txBody>
          <a:bodyPr wrap="square" lIns="0" tIns="0" rIns="0" bIns="0" rtlCol="0" anchor="t"/>
          <a:lstStyle/>
          <a:p>
            <a:pPr marL="0" indent="0">
              <a:buNone/>
            </a:pPr>
            <a:r>
              <a:rPr lang="en-US" sz="1050" dirty="0">
                <a:solidFill>
                  <a:srgbClr val="E4EEF1"/>
                </a:solidFill>
                <a:latin typeface="Geologica" pitchFamily="34" charset="0"/>
                <a:ea typeface="Geologica" pitchFamily="34" charset="-122"/>
                <a:cs typeface="Geologica" pitchFamily="34" charset="-120"/>
              </a:rPr>
              <a:t>Partner accepts the invite, clones in GitHub Desktop, and the first thing they do is make a branch. Look at the branch indicator.</a:t>
            </a:r>
            <a:endParaRPr lang="en-US" sz="1050" dirty="0"/>
          </a:p>
        </p:txBody>
      </p:sp>
      <p:sp>
        <p:nvSpPr>
          <p:cNvPr id="19" name="Shape 16"/>
          <p:cNvSpPr/>
          <p:nvPr/>
        </p:nvSpPr>
        <p:spPr>
          <a:xfrm>
            <a:off x="6172200" y="1874520"/>
            <a:ext cx="2633472" cy="3017520"/>
          </a:xfrm>
          <a:prstGeom prst="roundRect">
            <a:avLst>
              <a:gd name="adj" fmla="val 4167"/>
            </a:avLst>
          </a:prstGeom>
          <a:solidFill>
            <a:srgbClr val="0F2831">
              <a:alpha val="88000"/>
            </a:srgbClr>
          </a:solidFill>
          <a:ln w="9525">
            <a:solidFill>
              <a:srgbClr val="1E4A55"/>
            </a:solidFill>
            <a:prstDash val="solid"/>
          </a:ln>
        </p:spPr>
        <p:txBody>
          <a:bodyPr/>
          <a:lstStyle/>
          <a:p>
            <a:endParaRPr lang="en-US"/>
          </a:p>
        </p:txBody>
      </p:sp>
      <p:sp>
        <p:nvSpPr>
          <p:cNvPr id="20" name="Text 17"/>
          <p:cNvSpPr txBox="1"/>
          <p:nvPr/>
        </p:nvSpPr>
        <p:spPr>
          <a:xfrm>
            <a:off x="6400800"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3</a:t>
            </a:r>
            <a:endParaRPr lang="en-US" sz="2400" dirty="0"/>
          </a:p>
        </p:txBody>
      </p:sp>
      <p:sp>
        <p:nvSpPr>
          <p:cNvPr id="21" name="Text 18"/>
          <p:cNvSpPr txBox="1"/>
          <p:nvPr/>
        </p:nvSpPr>
        <p:spPr>
          <a:xfrm>
            <a:off x="6903720" y="2075688"/>
            <a:ext cx="1719072" cy="36576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Propose</a:t>
            </a:r>
            <a:endParaRPr lang="en-US" sz="1300" dirty="0"/>
          </a:p>
        </p:txBody>
      </p:sp>
      <p:sp>
        <p:nvSpPr>
          <p:cNvPr id="22" name="Text 19"/>
          <p:cNvSpPr txBox="1"/>
          <p:nvPr/>
        </p:nvSpPr>
        <p:spPr>
          <a:xfrm>
            <a:off x="6400800" y="2606040"/>
            <a:ext cx="2176272" cy="868680"/>
          </a:xfrm>
          <a:prstGeom prst="rect">
            <a:avLst/>
          </a:prstGeom>
          <a:noFill/>
          <a:ln/>
        </p:spPr>
        <p:txBody>
          <a:bodyPr wrap="square" lIns="0" tIns="0" rIns="0" bIns="0" rtlCol="0" anchor="t"/>
          <a:lstStyle/>
          <a:p>
            <a:pPr marL="0" indent="0">
              <a:buNone/>
            </a:pPr>
            <a:r>
              <a:rPr lang="en-US" sz="1250" b="1" i="1" dirty="0">
                <a:solidFill>
                  <a:srgbClr val="3FC9D4"/>
                </a:solidFill>
                <a:latin typeface="Geologica" pitchFamily="34" charset="0"/>
                <a:ea typeface="Geologica" pitchFamily="34" charset="-122"/>
                <a:cs typeface="Geologica" pitchFamily="34" charset="-120"/>
              </a:rPr>
              <a:t>"Here is my change. Look before it counts."</a:t>
            </a:r>
            <a:endParaRPr lang="en-US" sz="1250" dirty="0"/>
          </a:p>
        </p:txBody>
      </p:sp>
      <p:sp>
        <p:nvSpPr>
          <p:cNvPr id="23" name="Text 20"/>
          <p:cNvSpPr txBox="1"/>
          <p:nvPr/>
        </p:nvSpPr>
        <p:spPr>
          <a:xfrm>
            <a:off x="6400800" y="3474720"/>
            <a:ext cx="2176272" cy="1325880"/>
          </a:xfrm>
          <a:prstGeom prst="rect">
            <a:avLst/>
          </a:prstGeom>
          <a:noFill/>
          <a:ln/>
        </p:spPr>
        <p:txBody>
          <a:bodyPr wrap="square" lIns="0" tIns="0" rIns="0" bIns="0" rtlCol="0" anchor="t"/>
          <a:lstStyle/>
          <a:p>
            <a:pPr marL="0" indent="0">
              <a:buNone/>
            </a:pPr>
            <a:r>
              <a:rPr lang="en-US" sz="1050" dirty="0">
                <a:solidFill>
                  <a:srgbClr val="E4EEF1"/>
                </a:solidFill>
                <a:latin typeface="Geologica" pitchFamily="34" charset="0"/>
                <a:ea typeface="Geologica" pitchFamily="34" charset="-122"/>
                <a:cs typeface="Geologica" pitchFamily="34" charset="-120"/>
              </a:rPr>
              <a:t>One edit in VS Code, commit with context, Publish branch, then the yellow banner on GitHub.com: Compare &amp; pull request.</a:t>
            </a:r>
            <a:endParaRPr lang="en-US" sz="1050" dirty="0"/>
          </a:p>
        </p:txBody>
      </p:sp>
      <p:sp>
        <p:nvSpPr>
          <p:cNvPr id="24" name="Shape 21"/>
          <p:cNvSpPr/>
          <p:nvPr/>
        </p:nvSpPr>
        <p:spPr>
          <a:xfrm>
            <a:off x="8961120" y="1874520"/>
            <a:ext cx="2633472" cy="3017520"/>
          </a:xfrm>
          <a:prstGeom prst="roundRect">
            <a:avLst>
              <a:gd name="adj" fmla="val 4167"/>
            </a:avLst>
          </a:prstGeom>
          <a:solidFill>
            <a:srgbClr val="0F2831">
              <a:alpha val="88000"/>
            </a:srgbClr>
          </a:solidFill>
          <a:ln w="9525">
            <a:solidFill>
              <a:srgbClr val="1E4A55"/>
            </a:solidFill>
            <a:prstDash val="solid"/>
          </a:ln>
        </p:spPr>
        <p:txBody>
          <a:bodyPr/>
          <a:lstStyle/>
          <a:p>
            <a:endParaRPr lang="en-US"/>
          </a:p>
        </p:txBody>
      </p:sp>
      <p:sp>
        <p:nvSpPr>
          <p:cNvPr id="25" name="Text 22"/>
          <p:cNvSpPr txBox="1"/>
          <p:nvPr/>
        </p:nvSpPr>
        <p:spPr>
          <a:xfrm>
            <a:off x="9189720"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4</a:t>
            </a:r>
            <a:endParaRPr lang="en-US" sz="2400" dirty="0"/>
          </a:p>
        </p:txBody>
      </p:sp>
      <p:sp>
        <p:nvSpPr>
          <p:cNvPr id="26" name="Text 23"/>
          <p:cNvSpPr txBox="1"/>
          <p:nvPr/>
        </p:nvSpPr>
        <p:spPr>
          <a:xfrm>
            <a:off x="9692640" y="2075688"/>
            <a:ext cx="1719072" cy="36576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Return</a:t>
            </a:r>
            <a:endParaRPr lang="en-US" sz="1300" dirty="0"/>
          </a:p>
        </p:txBody>
      </p:sp>
      <p:sp>
        <p:nvSpPr>
          <p:cNvPr id="27" name="Text 24"/>
          <p:cNvSpPr txBox="1"/>
          <p:nvPr/>
        </p:nvSpPr>
        <p:spPr>
          <a:xfrm>
            <a:off x="9189720" y="2606040"/>
            <a:ext cx="2176272" cy="868680"/>
          </a:xfrm>
          <a:prstGeom prst="rect">
            <a:avLst/>
          </a:prstGeom>
          <a:noFill/>
          <a:ln/>
        </p:spPr>
        <p:txBody>
          <a:bodyPr wrap="square" lIns="0" tIns="0" rIns="0" bIns="0" rtlCol="0" anchor="t"/>
          <a:lstStyle/>
          <a:p>
            <a:pPr marL="0" indent="0">
              <a:buNone/>
            </a:pPr>
            <a:r>
              <a:rPr lang="en-US" sz="1250" b="1" i="1" dirty="0">
                <a:solidFill>
                  <a:srgbClr val="3FC9D4"/>
                </a:solidFill>
                <a:latin typeface="Geologica" pitchFamily="34" charset="0"/>
                <a:ea typeface="Geologica" pitchFamily="34" charset="-122"/>
                <a:cs typeface="Geologica" pitchFamily="34" charset="-120"/>
              </a:rPr>
              <a:t>"It came back without me touching the code."</a:t>
            </a:r>
            <a:endParaRPr lang="en-US" sz="1250" dirty="0"/>
          </a:p>
        </p:txBody>
      </p:sp>
      <p:sp>
        <p:nvSpPr>
          <p:cNvPr id="28" name="Text 25"/>
          <p:cNvSpPr txBox="1"/>
          <p:nvPr/>
        </p:nvSpPr>
        <p:spPr>
          <a:xfrm>
            <a:off x="9189720" y="3474720"/>
            <a:ext cx="2176272" cy="1325880"/>
          </a:xfrm>
          <a:prstGeom prst="rect">
            <a:avLst/>
          </a:prstGeom>
          <a:noFill/>
          <a:ln/>
        </p:spPr>
        <p:txBody>
          <a:bodyPr wrap="square" lIns="0" tIns="0" rIns="0" bIns="0" rtlCol="0" anchor="t"/>
          <a:lstStyle/>
          <a:p>
            <a:pPr marL="0" indent="0">
              <a:buNone/>
            </a:pPr>
            <a:r>
              <a:rPr lang="en-US" sz="1050" dirty="0">
                <a:solidFill>
                  <a:srgbClr val="E4EEF1"/>
                </a:solidFill>
                <a:latin typeface="Geologica" pitchFamily="34" charset="0"/>
                <a:ea typeface="Geologica" pitchFamily="34" charset="-122"/>
                <a:cs typeface="Geologica" pitchFamily="34" charset="-120"/>
              </a:rPr>
              <a:t>Files changed: green added, red removed. Comment, merge, delete branch. In Replit: Git pane → Pull. The change is home.</a:t>
            </a:r>
            <a:endParaRPr lang="en-US" sz="1050" dirty="0"/>
          </a:p>
        </p:txBody>
      </p:sp>
      <p:sp>
        <p:nvSpPr>
          <p:cNvPr id="29" name="Shape 26"/>
          <p:cNvSpPr/>
          <p:nvPr/>
        </p:nvSpPr>
        <p:spPr>
          <a:xfrm>
            <a:off x="594360" y="5120640"/>
            <a:ext cx="11002975" cy="548640"/>
          </a:xfrm>
          <a:prstGeom prst="roundRect">
            <a:avLst>
              <a:gd name="adj" fmla="val 16667"/>
            </a:avLst>
          </a:prstGeom>
          <a:solidFill>
            <a:srgbClr val="0B2A33">
              <a:alpha val="90000"/>
            </a:srgbClr>
          </a:solidFill>
          <a:ln w="9525">
            <a:solidFill>
              <a:srgbClr val="1E4A55"/>
            </a:solidFill>
            <a:prstDash val="solid"/>
          </a:ln>
        </p:spPr>
        <p:txBody>
          <a:bodyPr/>
          <a:lstStyle/>
          <a:p>
            <a:endParaRPr lang="en-US"/>
          </a:p>
        </p:txBody>
      </p:sp>
      <p:sp>
        <p:nvSpPr>
          <p:cNvPr id="30" name="Text 27"/>
          <p:cNvSpPr txBox="1"/>
          <p:nvPr/>
        </p:nvSpPr>
        <p:spPr>
          <a:xfrm>
            <a:off x="868680" y="5120640"/>
            <a:ext cx="10454335" cy="548640"/>
          </a:xfrm>
          <a:prstGeom prst="rect">
            <a:avLst/>
          </a:prstGeom>
          <a:noFill/>
          <a:ln/>
        </p:spPr>
        <p:txBody>
          <a:bodyPr wrap="square" lIns="0" tIns="0" rIns="0" bIns="0" rtlCol="0" anchor="ctr"/>
          <a:lstStyle/>
          <a:p>
            <a:pPr marL="0" indent="0">
              <a:buNone/>
            </a:pPr>
            <a:r>
              <a:rPr lang="en-US" sz="1200" dirty="0">
                <a:solidFill>
                  <a:srgbClr val="FFFFFF"/>
                </a:solidFill>
                <a:latin typeface="Geologica" pitchFamily="34" charset="0"/>
                <a:ea typeface="Geologica" pitchFamily="34" charset="-122"/>
                <a:cs typeface="Geologica" pitchFamily="34" charset="-120"/>
              </a:rPr>
              <a:t>Questions before we start? Keep the small ones for your partner; the handout has answers to most of them.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13</a:t>
            </a:r>
            <a:endParaRPr lang="en-US" sz="900" dirty="0"/>
          </a:p>
        </p:txBody>
      </p:sp>
      <p:sp>
        <p:nvSpPr>
          <p:cNvPr id="4" name="Shape 1"/>
          <p:cNvSpPr/>
          <p:nvPr/>
        </p:nvSpPr>
        <p:spPr>
          <a:xfrm>
            <a:off x="594360" y="502920"/>
            <a:ext cx="134416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34416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TODAY'S LOOP</a:t>
            </a:r>
            <a:endParaRPr lang="en-US" sz="850" dirty="0"/>
          </a:p>
        </p:txBody>
      </p:sp>
      <p:sp>
        <p:nvSpPr>
          <p:cNvPr id="6" name="Shape 3"/>
          <p:cNvSpPr/>
          <p:nvPr/>
        </p:nvSpPr>
        <p:spPr>
          <a:xfrm>
            <a:off x="9329623" y="502920"/>
            <a:ext cx="22677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329623" y="502920"/>
            <a:ext cx="22677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YOU ARE HERE · ROUND 1</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You are here</a:t>
            </a:r>
            <a:endParaRPr lang="en-US" sz="3000" dirty="0"/>
          </a:p>
        </p:txBody>
      </p:sp>
      <p:sp>
        <p:nvSpPr>
          <p:cNvPr id="9" name="Text 6"/>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Both of you run this at the same time, each on the other's repo.</a:t>
            </a:r>
            <a:endParaRPr lang="en-US" sz="1300" dirty="0"/>
          </a:p>
        </p:txBody>
      </p:sp>
      <p:sp>
        <p:nvSpPr>
          <p:cNvPr id="10" name="Shape 7"/>
          <p:cNvSpPr/>
          <p:nvPr/>
        </p:nvSpPr>
        <p:spPr>
          <a:xfrm>
            <a:off x="594360" y="2148840"/>
            <a:ext cx="3520440" cy="2788920"/>
          </a:xfrm>
          <a:prstGeom prst="roundRect">
            <a:avLst>
              <a:gd name="adj" fmla="val 3934"/>
            </a:avLst>
          </a:prstGeom>
          <a:solidFill>
            <a:srgbClr val="0E5A66"/>
          </a:solidFill>
          <a:ln w="19050">
            <a:solidFill>
              <a:srgbClr val="3FC9D4"/>
            </a:solidFill>
            <a:prstDash val="solid"/>
          </a:ln>
        </p:spPr>
        <p:txBody>
          <a:bodyPr/>
          <a:lstStyle/>
          <a:p>
            <a:endParaRPr lang="en-US"/>
          </a:p>
        </p:txBody>
      </p:sp>
      <p:sp>
        <p:nvSpPr>
          <p:cNvPr id="11" name="Text 8"/>
          <p:cNvSpPr txBox="1"/>
          <p:nvPr/>
        </p:nvSpPr>
        <p:spPr>
          <a:xfrm>
            <a:off x="822960" y="2286000"/>
            <a:ext cx="548640" cy="502920"/>
          </a:xfrm>
          <a:prstGeom prst="rect">
            <a:avLst/>
          </a:prstGeom>
          <a:noFill/>
          <a:ln/>
        </p:spPr>
        <p:txBody>
          <a:bodyPr wrap="square" lIns="0" tIns="0" rIns="0" bIns="0" rtlCol="0" anchor="ctr"/>
          <a:lstStyle/>
          <a:p>
            <a:pPr marL="0" indent="0">
              <a:buNone/>
            </a:pPr>
            <a:r>
              <a:rPr lang="en-US" sz="2600" b="1" dirty="0">
                <a:solidFill>
                  <a:srgbClr val="FFFFFF"/>
                </a:solidFill>
                <a:latin typeface="Geologica" pitchFamily="34" charset="0"/>
                <a:ea typeface="Geologica" pitchFamily="34" charset="-122"/>
                <a:cs typeface="Geologica" pitchFamily="34" charset="-120"/>
              </a:rPr>
              <a:t>1</a:t>
            </a:r>
            <a:endParaRPr lang="en-US" sz="2600" dirty="0"/>
          </a:p>
        </p:txBody>
      </p:sp>
      <p:sp>
        <p:nvSpPr>
          <p:cNvPr id="12" name="Text 9"/>
          <p:cNvSpPr txBox="1"/>
          <p:nvPr/>
        </p:nvSpPr>
        <p:spPr>
          <a:xfrm>
            <a:off x="1371600"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Build and ship</a:t>
            </a:r>
            <a:endParaRPr lang="en-US" sz="1400" dirty="0"/>
          </a:p>
        </p:txBody>
      </p:sp>
      <p:sp>
        <p:nvSpPr>
          <p:cNvPr id="13" name="Text 10"/>
          <p:cNvSpPr txBox="1"/>
          <p:nvPr/>
        </p:nvSpPr>
        <p:spPr>
          <a:xfrm>
            <a:off x="822960"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Build a page in Replit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Push from Replit's Git pane</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Write the prompt doc</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Invite your partner; accept theirs</a:t>
            </a:r>
            <a:endParaRPr lang="en-US" sz="1150" dirty="0"/>
          </a:p>
        </p:txBody>
      </p:sp>
      <p:sp>
        <p:nvSpPr>
          <p:cNvPr id="14" name="Text 11"/>
          <p:cNvSpPr txBox="1"/>
          <p:nvPr/>
        </p:nvSpPr>
        <p:spPr>
          <a:xfrm>
            <a:off x="822960" y="4526280"/>
            <a:ext cx="3063240" cy="274320"/>
          </a:xfrm>
          <a:prstGeom prst="rect">
            <a:avLst/>
          </a:prstGeom>
          <a:noFill/>
          <a:ln/>
        </p:spPr>
        <p:txBody>
          <a:bodyPr wrap="square" lIns="0" tIns="0" rIns="0" bIns="0" rtlCol="0" anchor="ctr"/>
          <a:lstStyle/>
          <a:p>
            <a:pPr marL="0" indent="0">
              <a:buNone/>
            </a:pPr>
            <a:r>
              <a:rPr lang="en-US" sz="1000" dirty="0">
                <a:solidFill>
                  <a:srgbClr val="3FC9D4"/>
                </a:solidFill>
                <a:latin typeface="Geologica" pitchFamily="34" charset="0"/>
                <a:ea typeface="Geologica" pitchFamily="34" charset="-122"/>
                <a:cs typeface="Geologica" pitchFamily="34" charset="-120"/>
              </a:rPr>
              <a:t>15 min</a:t>
            </a:r>
            <a:endParaRPr lang="en-US" sz="1000" dirty="0"/>
          </a:p>
        </p:txBody>
      </p:sp>
      <p:sp>
        <p:nvSpPr>
          <p:cNvPr id="15" name="Text 12"/>
          <p:cNvSpPr txBox="1"/>
          <p:nvPr/>
        </p:nvSpPr>
        <p:spPr>
          <a:xfrm>
            <a:off x="4096512" y="3246120"/>
            <a:ext cx="256032" cy="457200"/>
          </a:xfrm>
          <a:prstGeom prst="rect">
            <a:avLst/>
          </a:prstGeom>
          <a:noFill/>
          <a:ln/>
        </p:spPr>
        <p:txBody>
          <a:bodyPr wrap="square" lIns="0" tIns="0" rIns="0" bIns="0" rtlCol="0" anchor="ctr"/>
          <a:lstStyle/>
          <a:p>
            <a:pPr marL="0" indent="0" algn="ctr">
              <a:buNone/>
            </a:pPr>
            <a:r>
              <a:rPr lang="en-US" sz="1800" dirty="0">
                <a:solidFill>
                  <a:srgbClr val="3FC9D4"/>
                </a:solidFill>
                <a:latin typeface="Geologica" pitchFamily="34" charset="0"/>
                <a:ea typeface="Geologica" pitchFamily="34" charset="-122"/>
                <a:cs typeface="Geologica" pitchFamily="34" charset="-120"/>
              </a:rPr>
              <a:t>→</a:t>
            </a:r>
            <a:endParaRPr lang="en-US" sz="1800" dirty="0"/>
          </a:p>
        </p:txBody>
      </p:sp>
      <p:sp>
        <p:nvSpPr>
          <p:cNvPr id="16" name="Shape 13"/>
          <p:cNvSpPr/>
          <p:nvPr/>
        </p:nvSpPr>
        <p:spPr>
          <a:xfrm>
            <a:off x="4334256" y="2148840"/>
            <a:ext cx="3520440" cy="2788920"/>
          </a:xfrm>
          <a:prstGeom prst="roundRect">
            <a:avLst>
              <a:gd name="adj" fmla="val 3934"/>
            </a:avLst>
          </a:prstGeom>
          <a:solidFill>
            <a:srgbClr val="0F2831">
              <a:alpha val="88000"/>
            </a:srgbClr>
          </a:solidFill>
          <a:ln w="9525">
            <a:solidFill>
              <a:srgbClr val="1E4A55"/>
            </a:solidFill>
            <a:prstDash val="solid"/>
          </a:ln>
        </p:spPr>
        <p:txBody>
          <a:bodyPr/>
          <a:lstStyle/>
          <a:p>
            <a:endParaRPr lang="en-US"/>
          </a:p>
        </p:txBody>
      </p:sp>
      <p:sp>
        <p:nvSpPr>
          <p:cNvPr id="17" name="Text 14"/>
          <p:cNvSpPr txBox="1"/>
          <p:nvPr/>
        </p:nvSpPr>
        <p:spPr>
          <a:xfrm>
            <a:off x="4562856" y="2286000"/>
            <a:ext cx="548640" cy="502920"/>
          </a:xfrm>
          <a:prstGeom prst="rect">
            <a:avLst/>
          </a:prstGeom>
          <a:noFill/>
          <a:ln/>
        </p:spPr>
        <p:txBody>
          <a:bodyPr wrap="square" lIns="0" tIns="0" rIns="0" bIns="0" rtlCol="0" anchor="ctr"/>
          <a:lstStyle/>
          <a:p>
            <a:pPr marL="0" indent="0">
              <a:buNone/>
            </a:pPr>
            <a:r>
              <a:rPr lang="en-US" sz="2600" b="1" dirty="0">
                <a:solidFill>
                  <a:srgbClr val="3FC9D4"/>
                </a:solidFill>
                <a:latin typeface="Geologica" pitchFamily="34" charset="0"/>
                <a:ea typeface="Geologica" pitchFamily="34" charset="-122"/>
                <a:cs typeface="Geologica" pitchFamily="34" charset="-120"/>
              </a:rPr>
              <a:t>2</a:t>
            </a:r>
            <a:endParaRPr lang="en-US" sz="2600" dirty="0"/>
          </a:p>
        </p:txBody>
      </p:sp>
      <p:sp>
        <p:nvSpPr>
          <p:cNvPr id="18" name="Text 15"/>
          <p:cNvSpPr txBox="1"/>
          <p:nvPr/>
        </p:nvSpPr>
        <p:spPr>
          <a:xfrm>
            <a:off x="5111496"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Clone, branch, change</a:t>
            </a:r>
            <a:endParaRPr lang="en-US" sz="1400" dirty="0"/>
          </a:p>
        </p:txBody>
      </p:sp>
      <p:sp>
        <p:nvSpPr>
          <p:cNvPr id="19" name="Text 16"/>
          <p:cNvSpPr txBox="1"/>
          <p:nvPr/>
        </p:nvSpPr>
        <p:spPr>
          <a:xfrm>
            <a:off x="4562856"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Accept, then clone your partner's repo</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Branch before you touch anything</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Find one thing and change it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Commit, publish, open a pull request</a:t>
            </a:r>
            <a:endParaRPr lang="en-US" sz="1150" dirty="0"/>
          </a:p>
        </p:txBody>
      </p:sp>
      <p:sp>
        <p:nvSpPr>
          <p:cNvPr id="20" name="Text 17"/>
          <p:cNvSpPr txBox="1"/>
          <p:nvPr/>
        </p:nvSpPr>
        <p:spPr>
          <a:xfrm>
            <a:off x="4562856" y="4526280"/>
            <a:ext cx="3063240" cy="274320"/>
          </a:xfrm>
          <a:prstGeom prst="rect">
            <a:avLst/>
          </a:prstGeom>
          <a:noFill/>
          <a:ln/>
        </p:spPr>
        <p:txBody>
          <a:bodyPr wrap="square" lIns="0" tIns="0" rIns="0" bIns="0" rtlCol="0" anchor="ctr"/>
          <a:lstStyle/>
          <a:p>
            <a:pPr marL="0" indent="0">
              <a:buNone/>
            </a:pPr>
            <a:r>
              <a:rPr lang="en-US" sz="1000" dirty="0">
                <a:solidFill>
                  <a:srgbClr val="9FB4BB"/>
                </a:solidFill>
                <a:latin typeface="Geologica" pitchFamily="34" charset="0"/>
                <a:ea typeface="Geologica" pitchFamily="34" charset="-122"/>
                <a:cs typeface="Geologica" pitchFamily="34" charset="-120"/>
              </a:rPr>
              <a:t>22 min</a:t>
            </a:r>
            <a:endParaRPr lang="en-US" sz="1000" dirty="0"/>
          </a:p>
        </p:txBody>
      </p:sp>
      <p:sp>
        <p:nvSpPr>
          <p:cNvPr id="21" name="Text 18"/>
          <p:cNvSpPr txBox="1"/>
          <p:nvPr/>
        </p:nvSpPr>
        <p:spPr>
          <a:xfrm>
            <a:off x="7836408" y="3246120"/>
            <a:ext cx="256032" cy="457200"/>
          </a:xfrm>
          <a:prstGeom prst="rect">
            <a:avLst/>
          </a:prstGeom>
          <a:noFill/>
          <a:ln/>
        </p:spPr>
        <p:txBody>
          <a:bodyPr wrap="square" lIns="0" tIns="0" rIns="0" bIns="0" rtlCol="0" anchor="ctr"/>
          <a:lstStyle/>
          <a:p>
            <a:pPr marL="0" indent="0" algn="ctr">
              <a:buNone/>
            </a:pPr>
            <a:r>
              <a:rPr lang="en-US" sz="1800" dirty="0">
                <a:solidFill>
                  <a:srgbClr val="3FC9D4"/>
                </a:solidFill>
                <a:latin typeface="Geologica" pitchFamily="34" charset="0"/>
                <a:ea typeface="Geologica" pitchFamily="34" charset="-122"/>
                <a:cs typeface="Geologica" pitchFamily="34" charset="-120"/>
              </a:rPr>
              <a:t>→</a:t>
            </a:r>
            <a:endParaRPr lang="en-US" sz="1800" dirty="0"/>
          </a:p>
        </p:txBody>
      </p:sp>
      <p:sp>
        <p:nvSpPr>
          <p:cNvPr id="22" name="Shape 19"/>
          <p:cNvSpPr/>
          <p:nvPr/>
        </p:nvSpPr>
        <p:spPr>
          <a:xfrm>
            <a:off x="8074152" y="2148840"/>
            <a:ext cx="3520440" cy="2788920"/>
          </a:xfrm>
          <a:prstGeom prst="roundRect">
            <a:avLst>
              <a:gd name="adj" fmla="val 3934"/>
            </a:avLst>
          </a:prstGeom>
          <a:solidFill>
            <a:srgbClr val="0F2831">
              <a:alpha val="88000"/>
            </a:srgbClr>
          </a:solidFill>
          <a:ln w="9525">
            <a:solidFill>
              <a:srgbClr val="1E4A55"/>
            </a:solidFill>
            <a:prstDash val="solid"/>
          </a:ln>
        </p:spPr>
        <p:txBody>
          <a:bodyPr/>
          <a:lstStyle/>
          <a:p>
            <a:endParaRPr lang="en-US"/>
          </a:p>
        </p:txBody>
      </p:sp>
      <p:sp>
        <p:nvSpPr>
          <p:cNvPr id="23" name="Text 20"/>
          <p:cNvSpPr txBox="1"/>
          <p:nvPr/>
        </p:nvSpPr>
        <p:spPr>
          <a:xfrm>
            <a:off x="8302752" y="2286000"/>
            <a:ext cx="548640" cy="502920"/>
          </a:xfrm>
          <a:prstGeom prst="rect">
            <a:avLst/>
          </a:prstGeom>
          <a:noFill/>
          <a:ln/>
        </p:spPr>
        <p:txBody>
          <a:bodyPr wrap="square" lIns="0" tIns="0" rIns="0" bIns="0" rtlCol="0" anchor="ctr"/>
          <a:lstStyle/>
          <a:p>
            <a:pPr marL="0" indent="0">
              <a:buNone/>
            </a:pPr>
            <a:r>
              <a:rPr lang="en-US" sz="2600" b="1" dirty="0">
                <a:solidFill>
                  <a:srgbClr val="3FC9D4"/>
                </a:solidFill>
                <a:latin typeface="Geologica" pitchFamily="34" charset="0"/>
                <a:ea typeface="Geologica" pitchFamily="34" charset="-122"/>
                <a:cs typeface="Geologica" pitchFamily="34" charset="-120"/>
              </a:rPr>
              <a:t>3</a:t>
            </a:r>
            <a:endParaRPr lang="en-US" sz="2600" dirty="0"/>
          </a:p>
        </p:txBody>
      </p:sp>
      <p:sp>
        <p:nvSpPr>
          <p:cNvPr id="24" name="Text 21"/>
          <p:cNvSpPr txBox="1"/>
          <p:nvPr/>
        </p:nvSpPr>
        <p:spPr>
          <a:xfrm>
            <a:off x="8851392"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Review, merge, sync</a:t>
            </a:r>
            <a:endParaRPr lang="en-US" sz="1400" dirty="0"/>
          </a:p>
        </p:txBody>
      </p:sp>
      <p:sp>
        <p:nvSpPr>
          <p:cNvPr id="25" name="Text 22"/>
          <p:cNvSpPr txBox="1"/>
          <p:nvPr/>
        </p:nvSpPr>
        <p:spPr>
          <a:xfrm>
            <a:off x="8302752"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Open the PR on your own repo</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Read the diff, leave a comment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Merge and delete the branch</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Pull it back into Replit</a:t>
            </a:r>
            <a:endParaRPr lang="en-US" sz="1150" dirty="0"/>
          </a:p>
        </p:txBody>
      </p:sp>
      <p:sp>
        <p:nvSpPr>
          <p:cNvPr id="26" name="Text 23"/>
          <p:cNvSpPr txBox="1"/>
          <p:nvPr/>
        </p:nvSpPr>
        <p:spPr>
          <a:xfrm>
            <a:off x="8302752" y="4526280"/>
            <a:ext cx="3063240" cy="274320"/>
          </a:xfrm>
          <a:prstGeom prst="rect">
            <a:avLst/>
          </a:prstGeom>
          <a:noFill/>
          <a:ln/>
        </p:spPr>
        <p:txBody>
          <a:bodyPr wrap="square" lIns="0" tIns="0" rIns="0" bIns="0" rtlCol="0" anchor="ctr"/>
          <a:lstStyle/>
          <a:p>
            <a:pPr marL="0" indent="0">
              <a:buNone/>
            </a:pPr>
            <a:r>
              <a:rPr lang="en-US" sz="1000" dirty="0">
                <a:solidFill>
                  <a:srgbClr val="9FB4BB"/>
                </a:solidFill>
                <a:latin typeface="Geologica" pitchFamily="34" charset="0"/>
                <a:ea typeface="Geologica" pitchFamily="34" charset="-122"/>
                <a:cs typeface="Geologica" pitchFamily="34" charset="-120"/>
              </a:rPr>
              <a:t>10 min</a:t>
            </a:r>
            <a:endParaRPr lang="en-US" sz="1000" dirty="0"/>
          </a:p>
        </p:txBody>
      </p:sp>
      <p:sp>
        <p:nvSpPr>
          <p:cNvPr id="27" name="Text 24"/>
          <p:cNvSpPr txBox="1"/>
          <p:nvPr/>
        </p:nvSpPr>
        <p:spPr>
          <a:xfrm>
            <a:off x="594360" y="5120640"/>
            <a:ext cx="10972800" cy="457200"/>
          </a:xfrm>
          <a:prstGeom prst="rect">
            <a:avLst/>
          </a:prstGeom>
          <a:noFill/>
          <a:ln/>
        </p:spPr>
        <p:txBody>
          <a:bodyPr wrap="square" lIns="0" tIns="0" rIns="0" bIns="0" rtlCol="0" anchor="ctr"/>
          <a:lstStyle/>
          <a:p>
            <a:pPr marL="0" indent="0">
              <a:buNone/>
            </a:pPr>
            <a:r>
              <a:rPr lang="en-US" sz="1150" dirty="0">
                <a:solidFill>
                  <a:srgbClr val="9FB4BB"/>
                </a:solidFill>
                <a:latin typeface="Geologica" pitchFamily="34" charset="0"/>
                <a:ea typeface="Geologica" pitchFamily="34" charset="-122"/>
                <a:cs typeface="Geologica" pitchFamily="34" charset="-120"/>
              </a:rPr>
              <a:t>Round 3 closes the loop: the change you receive came from your partner's Round 2, and the change you made lands in their Round 3.</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14</a:t>
            </a:r>
            <a:endParaRPr lang="en-US" sz="900" dirty="0"/>
          </a:p>
        </p:txBody>
      </p:sp>
      <p:sp>
        <p:nvSpPr>
          <p:cNvPr id="4" name="Shape 1"/>
          <p:cNvSpPr/>
          <p:nvPr/>
        </p:nvSpPr>
        <p:spPr>
          <a:xfrm>
            <a:off x="594360" y="1965960"/>
            <a:ext cx="2276856"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1965960"/>
            <a:ext cx="2276856"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1 · BUILD AND SHIP</a:t>
            </a:r>
            <a:endParaRPr lang="en-US" sz="850" dirty="0"/>
          </a:p>
        </p:txBody>
      </p:sp>
      <p:sp>
        <p:nvSpPr>
          <p:cNvPr id="6" name="Text 3"/>
          <p:cNvSpPr txBox="1"/>
          <p:nvPr/>
        </p:nvSpPr>
        <p:spPr>
          <a:xfrm>
            <a:off x="566928" y="237744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Geologica" pitchFamily="34" charset="0"/>
                <a:ea typeface="Geologica" pitchFamily="34" charset="-122"/>
                <a:cs typeface="Geologica" pitchFamily="34" charset="-120"/>
              </a:rPr>
              <a:t>Everyone builds, everyone ships</a:t>
            </a:r>
            <a:endParaRPr lang="en-US" sz="4400" dirty="0"/>
          </a:p>
        </p:txBody>
      </p:sp>
      <p:sp>
        <p:nvSpPr>
          <p:cNvPr id="7" name="Text 4"/>
          <p:cNvSpPr txBox="1"/>
          <p:nvPr/>
        </p:nvSpPr>
        <p:spPr>
          <a:xfrm>
            <a:off x="594360" y="3429000"/>
            <a:ext cx="9601200" cy="640080"/>
          </a:xfrm>
          <a:prstGeom prst="rect">
            <a:avLst/>
          </a:prstGeom>
          <a:noFill/>
          <a:ln/>
        </p:spPr>
        <p:txBody>
          <a:bodyPr wrap="square" lIns="0" tIns="0" rIns="0" bIns="0" rtlCol="0" anchor="ctr"/>
          <a:lstStyle/>
          <a:p>
            <a:pPr marL="0" indent="0">
              <a:buNone/>
            </a:pPr>
            <a:r>
              <a:rPr lang="en-US" sz="1600" dirty="0">
                <a:solidFill>
                  <a:srgbClr val="E4EEF1"/>
                </a:solidFill>
                <a:latin typeface="Geologica" pitchFamily="34" charset="0"/>
                <a:ea typeface="Geologica" pitchFamily="34" charset="-122"/>
                <a:cs typeface="Geologica" pitchFamily="34" charset="-120"/>
              </a:rPr>
              <a:t>Both of you will build at the same time, each in your own Replit account. </a:t>
            </a:r>
            <a:endParaRPr lang="en-US" sz="1600" dirty="0"/>
          </a:p>
        </p:txBody>
      </p:sp>
      <p:sp>
        <p:nvSpPr>
          <p:cNvPr id="8" name="Shape 5"/>
          <p:cNvSpPr/>
          <p:nvPr/>
        </p:nvSpPr>
        <p:spPr>
          <a:xfrm>
            <a:off x="594360" y="4160520"/>
            <a:ext cx="126644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9" name="Text 6"/>
          <p:cNvSpPr txBox="1"/>
          <p:nvPr/>
        </p:nvSpPr>
        <p:spPr>
          <a:xfrm>
            <a:off x="594360" y="4160520"/>
            <a:ext cx="126644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~15 MINUTES</a:t>
            </a:r>
            <a:endParaRPr lang="en-US" sz="850" dirty="0"/>
          </a:p>
        </p:txBody>
      </p:sp>
      <p:sp>
        <p:nvSpPr>
          <p:cNvPr id="10" name="Shape 7"/>
          <p:cNvSpPr/>
          <p:nvPr/>
        </p:nvSpPr>
        <p:spPr>
          <a:xfrm>
            <a:off x="594360" y="4892040"/>
            <a:ext cx="11002975" cy="640080"/>
          </a:xfrm>
          <a:prstGeom prst="roundRect">
            <a:avLst>
              <a:gd name="adj" fmla="val 14286"/>
            </a:avLst>
          </a:prstGeom>
          <a:solidFill>
            <a:srgbClr val="0B2A33">
              <a:alpha val="90000"/>
            </a:srgbClr>
          </a:solidFill>
          <a:ln w="9525">
            <a:solidFill>
              <a:srgbClr val="1E4A55"/>
            </a:solidFill>
            <a:prstDash val="solid"/>
          </a:ln>
        </p:spPr>
        <p:txBody>
          <a:bodyPr/>
          <a:lstStyle/>
          <a:p>
            <a:endParaRPr lang="en-US"/>
          </a:p>
        </p:txBody>
      </p:sp>
      <p:sp>
        <p:nvSpPr>
          <p:cNvPr id="11" name="Text 8"/>
          <p:cNvSpPr txBox="1"/>
          <p:nvPr/>
        </p:nvSpPr>
        <p:spPr>
          <a:xfrm>
            <a:off x="868680" y="4892040"/>
            <a:ext cx="10454335" cy="640080"/>
          </a:xfrm>
          <a:prstGeom prst="rect">
            <a:avLst/>
          </a:prstGeom>
          <a:noFill/>
          <a:ln/>
        </p:spPr>
        <p:txBody>
          <a:bodyPr wrap="square" lIns="0" tIns="0" rIns="0" bIns="0" rtlCol="0" anchor="ctr"/>
          <a:lstStyle/>
          <a:p>
            <a:pPr marL="0" indent="0">
              <a:buNone/>
            </a:pPr>
            <a:r>
              <a:rPr lang="en-US" sz="1250" dirty="0">
                <a:solidFill>
                  <a:srgbClr val="FFFFFF"/>
                </a:solidFill>
                <a:latin typeface="Geologica" pitchFamily="34" charset="0"/>
                <a:ea typeface="Geologica" pitchFamily="34" charset="-122"/>
                <a:cs typeface="Geologica" pitchFamily="34" charset="-120"/>
              </a:rPr>
              <a:t>You should only use one generation: good enough is good enough. Save your </a:t>
            </a:r>
            <a:r>
              <a:rPr lang="en-US" sz="1250" dirty="0" err="1">
                <a:solidFill>
                  <a:srgbClr val="FFFFFF"/>
                </a:solidFill>
                <a:latin typeface="Geologica" pitchFamily="34" charset="0"/>
                <a:ea typeface="Geologica" pitchFamily="34" charset="-122"/>
                <a:cs typeface="Geologica" pitchFamily="34" charset="-120"/>
              </a:rPr>
              <a:t>Replit</a:t>
            </a:r>
            <a:r>
              <a:rPr lang="en-US" sz="1250" dirty="0">
                <a:solidFill>
                  <a:srgbClr val="FFFFFF"/>
                </a:solidFill>
                <a:latin typeface="Geologica" pitchFamily="34" charset="0"/>
                <a:ea typeface="Geologica" pitchFamily="34" charset="-122"/>
                <a:cs typeface="Geologica" pitchFamily="34" charset="-120"/>
              </a:rPr>
              <a:t> credits.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15</a:t>
            </a:r>
            <a:endParaRPr lang="en-US" sz="900" dirty="0"/>
          </a:p>
        </p:txBody>
      </p:sp>
      <p:sp>
        <p:nvSpPr>
          <p:cNvPr id="4" name="Shape 1"/>
          <p:cNvSpPr/>
          <p:nvPr/>
        </p:nvSpPr>
        <p:spPr>
          <a:xfrm>
            <a:off x="594360" y="502920"/>
            <a:ext cx="18105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8105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1 · STEP 1.1</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5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Build the page</a:t>
            </a:r>
            <a:endParaRPr lang="en-US" sz="3000" dirty="0"/>
          </a:p>
        </p:txBody>
      </p:sp>
      <p:sp>
        <p:nvSpPr>
          <p:cNvPr id="9" name="Shape 6"/>
          <p:cNvSpPr/>
          <p:nvPr/>
        </p:nvSpPr>
        <p:spPr>
          <a:xfrm>
            <a:off x="594360" y="1874520"/>
            <a:ext cx="6583680" cy="3886200"/>
          </a:xfrm>
          <a:prstGeom prst="roundRect">
            <a:avLst>
              <a:gd name="adj" fmla="val 2824"/>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57400"/>
            <a:ext cx="612648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DO THIS</a:t>
            </a:r>
            <a:endParaRPr lang="en-US" sz="850" dirty="0"/>
          </a:p>
        </p:txBody>
      </p:sp>
      <p:sp>
        <p:nvSpPr>
          <p:cNvPr id="11" name="Shape 8"/>
          <p:cNvSpPr/>
          <p:nvPr/>
        </p:nvSpPr>
        <p:spPr>
          <a:xfrm>
            <a:off x="822960"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2" name="Text 9"/>
          <p:cNvSpPr txBox="1"/>
          <p:nvPr/>
        </p:nvSpPr>
        <p:spPr>
          <a:xfrm>
            <a:off x="822960"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3" name="Text 10"/>
          <p:cNvSpPr txBox="1"/>
          <p:nvPr/>
        </p:nvSpPr>
        <p:spPr>
          <a:xfrm>
            <a:off x="1216152" y="23682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In Replit, create a new App</a:t>
            </a:r>
            <a:endParaRPr lang="en-US" sz="1200" dirty="0"/>
          </a:p>
        </p:txBody>
      </p:sp>
      <p:sp>
        <p:nvSpPr>
          <p:cNvPr id="14" name="Shape 11"/>
          <p:cNvSpPr/>
          <p:nvPr/>
        </p:nvSpPr>
        <p:spPr>
          <a:xfrm>
            <a:off x="822960" y="28620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5" name="Text 12"/>
          <p:cNvSpPr txBox="1"/>
          <p:nvPr/>
        </p:nvSpPr>
        <p:spPr>
          <a:xfrm>
            <a:off x="822960" y="28620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6" name="Text 13"/>
          <p:cNvSpPr txBox="1"/>
          <p:nvPr/>
        </p:nvSpPr>
        <p:spPr>
          <a:xfrm>
            <a:off x="1216152" y="28254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Paste your filled-in prompt into Agent</a:t>
            </a:r>
            <a:endParaRPr lang="en-US" sz="1200" dirty="0"/>
          </a:p>
        </p:txBody>
      </p:sp>
      <p:sp>
        <p:nvSpPr>
          <p:cNvPr id="17" name="Shape 14"/>
          <p:cNvSpPr/>
          <p:nvPr/>
        </p:nvSpPr>
        <p:spPr>
          <a:xfrm>
            <a:off x="822960" y="33192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8" name="Text 15"/>
          <p:cNvSpPr txBox="1"/>
          <p:nvPr/>
        </p:nvSpPr>
        <p:spPr>
          <a:xfrm>
            <a:off x="822960" y="33192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19" name="Text 16"/>
          <p:cNvSpPr txBox="1"/>
          <p:nvPr/>
        </p:nvSpPr>
        <p:spPr>
          <a:xfrm>
            <a:off x="1216152" y="32826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Let it finish. Do not interrupt it, do not ask for changes</a:t>
            </a:r>
            <a:endParaRPr lang="en-US" sz="1200" dirty="0"/>
          </a:p>
        </p:txBody>
      </p:sp>
      <p:sp>
        <p:nvSpPr>
          <p:cNvPr id="20" name="Shape 17"/>
          <p:cNvSpPr/>
          <p:nvPr/>
        </p:nvSpPr>
        <p:spPr>
          <a:xfrm>
            <a:off x="822960" y="37764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1" name="Text 18"/>
          <p:cNvSpPr txBox="1"/>
          <p:nvPr/>
        </p:nvSpPr>
        <p:spPr>
          <a:xfrm>
            <a:off x="822960" y="37764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22" name="Text 19"/>
          <p:cNvSpPr txBox="1"/>
          <p:nvPr/>
        </p:nvSpPr>
        <p:spPr>
          <a:xfrm>
            <a:off x="1216152" y="37398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Click the preview</a:t>
            </a:r>
            <a:endParaRPr lang="en-US" sz="1200" dirty="0"/>
          </a:p>
        </p:txBody>
      </p:sp>
      <p:sp>
        <p:nvSpPr>
          <p:cNvPr id="23" name="Shape 20"/>
          <p:cNvSpPr/>
          <p:nvPr/>
        </p:nvSpPr>
        <p:spPr>
          <a:xfrm>
            <a:off x="7452360" y="1874520"/>
            <a:ext cx="4144975" cy="1463040"/>
          </a:xfrm>
          <a:prstGeom prst="roundRect">
            <a:avLst>
              <a:gd name="adj" fmla="val 7500"/>
            </a:avLst>
          </a:prstGeom>
          <a:solidFill>
            <a:srgbClr val="0F2831">
              <a:alpha val="88000"/>
            </a:srgbClr>
          </a:solidFill>
          <a:ln w="9525">
            <a:solidFill>
              <a:srgbClr val="1E4A55"/>
            </a:solidFill>
            <a:prstDash val="solid"/>
          </a:ln>
        </p:spPr>
        <p:txBody>
          <a:bodyPr/>
          <a:lstStyle/>
          <a:p>
            <a:endParaRPr lang="en-US"/>
          </a:p>
        </p:txBody>
      </p:sp>
      <p:sp>
        <p:nvSpPr>
          <p:cNvPr id="24" name="Text 21"/>
          <p:cNvSpPr txBox="1"/>
          <p:nvPr/>
        </p:nvSpPr>
        <p:spPr>
          <a:xfrm>
            <a:off x="7680960" y="2057400"/>
            <a:ext cx="3687775"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YOU'RE DONE WHEN</a:t>
            </a:r>
            <a:endParaRPr lang="en-US" sz="850" dirty="0"/>
          </a:p>
        </p:txBody>
      </p:sp>
      <p:sp>
        <p:nvSpPr>
          <p:cNvPr id="25" name="Text 22"/>
          <p:cNvSpPr txBox="1"/>
          <p:nvPr/>
        </p:nvSpPr>
        <p:spPr>
          <a:xfrm>
            <a:off x="7680960" y="2386584"/>
            <a:ext cx="3687775" cy="813816"/>
          </a:xfrm>
          <a:prstGeom prst="rect">
            <a:avLst/>
          </a:prstGeom>
          <a:noFill/>
          <a:ln/>
        </p:spPr>
        <p:txBody>
          <a:bodyPr wrap="square" lIns="0" tIns="0" rIns="0" bIns="0" rtlCol="0" anchor="t"/>
          <a:lstStyle/>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The preview shows a page with your name and tagline on it.</a:t>
            </a:r>
            <a:endParaRPr lang="en-US" sz="1100" dirty="0"/>
          </a:p>
          <a:p>
            <a:pPr marL="0" indent="0">
              <a:spcAft>
                <a:spcPts val="600"/>
              </a:spcAft>
              <a:buNone/>
            </a:pPr>
            <a:endParaRPr lang="en-US" sz="1100" dirty="0"/>
          </a:p>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Ugly is fine. Slightly off is fine. </a:t>
            </a:r>
            <a:endParaRPr lang="en-US" sz="1100" dirty="0"/>
          </a:p>
        </p:txBody>
      </p:sp>
      <p:sp>
        <p:nvSpPr>
          <p:cNvPr id="26" name="Shape 23"/>
          <p:cNvSpPr/>
          <p:nvPr/>
        </p:nvSpPr>
        <p:spPr>
          <a:xfrm>
            <a:off x="7452360" y="3566160"/>
            <a:ext cx="4144975" cy="2194560"/>
          </a:xfrm>
          <a:prstGeom prst="roundRect">
            <a:avLst>
              <a:gd name="adj" fmla="val 5000"/>
            </a:avLst>
          </a:prstGeom>
          <a:solidFill>
            <a:srgbClr val="0F2831">
              <a:alpha val="88000"/>
            </a:srgbClr>
          </a:solidFill>
          <a:ln w="9525">
            <a:solidFill>
              <a:srgbClr val="1E4A55"/>
            </a:solidFill>
            <a:prstDash val="solid"/>
          </a:ln>
        </p:spPr>
        <p:txBody>
          <a:bodyPr/>
          <a:lstStyle/>
          <a:p>
            <a:endParaRPr lang="en-US"/>
          </a:p>
        </p:txBody>
      </p:sp>
      <p:sp>
        <p:nvSpPr>
          <p:cNvPr id="27" name="Text 24"/>
          <p:cNvSpPr txBox="1"/>
          <p:nvPr/>
        </p:nvSpPr>
        <p:spPr>
          <a:xfrm>
            <a:off x="7680960" y="3749040"/>
            <a:ext cx="3687775"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IF YOU'RE STUCK</a:t>
            </a:r>
            <a:endParaRPr lang="en-US" sz="850" dirty="0"/>
          </a:p>
        </p:txBody>
      </p:sp>
      <p:sp>
        <p:nvSpPr>
          <p:cNvPr id="28" name="Text 25"/>
          <p:cNvSpPr txBox="1"/>
          <p:nvPr/>
        </p:nvSpPr>
        <p:spPr>
          <a:xfrm>
            <a:off x="7680960" y="4078224"/>
            <a:ext cx="3687775" cy="1545336"/>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If the agent asks a clarifying question: answer in one short line and let it continue.</a:t>
            </a:r>
            <a:endParaRPr lang="en-US" sz="1050" dirty="0"/>
          </a:p>
          <a:p>
            <a:pPr marL="0" indent="0">
              <a:spcAft>
                <a:spcPts val="600"/>
              </a:spcAft>
              <a:buNone/>
            </a:pPr>
            <a:endParaRPr lang="en-US" sz="1050" dirty="0"/>
          </a:p>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If the agent added a server or extra files: fine, ignore them. Your index.html is in there.</a:t>
            </a:r>
            <a:endParaRPr lang="en-US" sz="1050" dirty="0"/>
          </a:p>
          <a:p>
            <a:pPr marL="0" indent="0">
              <a:spcAft>
                <a:spcPts val="600"/>
              </a:spcAft>
              <a:buNone/>
            </a:pPr>
            <a:endParaRPr lang="en-US" sz="1050" dirty="0"/>
          </a:p>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Out of credits: wave a mentor over for the backup repo. You will start at step 2.1.</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16</a:t>
            </a:r>
            <a:endParaRPr lang="en-US" sz="900" dirty="0"/>
          </a:p>
        </p:txBody>
      </p:sp>
      <p:sp>
        <p:nvSpPr>
          <p:cNvPr id="4" name="Shape 1"/>
          <p:cNvSpPr/>
          <p:nvPr/>
        </p:nvSpPr>
        <p:spPr>
          <a:xfrm>
            <a:off x="594360" y="502920"/>
            <a:ext cx="18105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8105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1 · STEP 1.2</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4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Push to GitHub from Replit</a:t>
            </a:r>
            <a:endParaRPr lang="en-US" sz="3000" dirty="0"/>
          </a:p>
        </p:txBody>
      </p:sp>
      <p:sp>
        <p:nvSpPr>
          <p:cNvPr id="9" name="Shape 6"/>
          <p:cNvSpPr/>
          <p:nvPr/>
        </p:nvSpPr>
        <p:spPr>
          <a:xfrm>
            <a:off x="594360" y="1874520"/>
            <a:ext cx="6583680" cy="3886200"/>
          </a:xfrm>
          <a:prstGeom prst="roundRect">
            <a:avLst>
              <a:gd name="adj" fmla="val 2824"/>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57400"/>
            <a:ext cx="612648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DO THIS</a:t>
            </a:r>
            <a:endParaRPr lang="en-US" sz="850" dirty="0"/>
          </a:p>
        </p:txBody>
      </p:sp>
      <p:sp>
        <p:nvSpPr>
          <p:cNvPr id="11" name="Shape 8"/>
          <p:cNvSpPr/>
          <p:nvPr/>
        </p:nvSpPr>
        <p:spPr>
          <a:xfrm>
            <a:off x="822960"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2" name="Text 9"/>
          <p:cNvSpPr txBox="1"/>
          <p:nvPr/>
        </p:nvSpPr>
        <p:spPr>
          <a:xfrm>
            <a:off x="822960"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3" name="Text 10"/>
          <p:cNvSpPr txBox="1"/>
          <p:nvPr/>
        </p:nvSpPr>
        <p:spPr>
          <a:xfrm>
            <a:off x="1216152" y="23682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Open the Git pane: Tools → Git</a:t>
            </a:r>
            <a:endParaRPr lang="en-US" sz="1200" dirty="0"/>
          </a:p>
        </p:txBody>
      </p:sp>
      <p:sp>
        <p:nvSpPr>
          <p:cNvPr id="14" name="Shape 11"/>
          <p:cNvSpPr/>
          <p:nvPr/>
        </p:nvSpPr>
        <p:spPr>
          <a:xfrm>
            <a:off x="822960" y="28620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5" name="Text 12"/>
          <p:cNvSpPr txBox="1"/>
          <p:nvPr/>
        </p:nvSpPr>
        <p:spPr>
          <a:xfrm>
            <a:off x="822960" y="28620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6" name="Text 13"/>
          <p:cNvSpPr txBox="1"/>
          <p:nvPr/>
        </p:nvSpPr>
        <p:spPr>
          <a:xfrm>
            <a:off x="1216152" y="28254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Connect to GitHub if it asks</a:t>
            </a:r>
            <a:endParaRPr lang="en-US" sz="1200" dirty="0"/>
          </a:p>
        </p:txBody>
      </p:sp>
      <p:sp>
        <p:nvSpPr>
          <p:cNvPr id="17" name="Shape 14"/>
          <p:cNvSpPr/>
          <p:nvPr/>
        </p:nvSpPr>
        <p:spPr>
          <a:xfrm>
            <a:off x="822960" y="33192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8" name="Text 15"/>
          <p:cNvSpPr txBox="1"/>
          <p:nvPr/>
        </p:nvSpPr>
        <p:spPr>
          <a:xfrm>
            <a:off x="822960" y="33192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19" name="Text 16"/>
          <p:cNvSpPr txBox="1"/>
          <p:nvPr/>
        </p:nvSpPr>
        <p:spPr>
          <a:xfrm>
            <a:off x="1216152" y="32826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Create a new GitHub repository from the pane. Name: &lt;yourname&gt;-handoff-lab. Visibility: Public</a:t>
            </a:r>
            <a:endParaRPr lang="en-US" sz="1200" dirty="0"/>
          </a:p>
        </p:txBody>
      </p:sp>
      <p:sp>
        <p:nvSpPr>
          <p:cNvPr id="20" name="Shape 17"/>
          <p:cNvSpPr/>
          <p:nvPr/>
        </p:nvSpPr>
        <p:spPr>
          <a:xfrm>
            <a:off x="822960" y="37764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1" name="Text 18"/>
          <p:cNvSpPr txBox="1"/>
          <p:nvPr/>
        </p:nvSpPr>
        <p:spPr>
          <a:xfrm>
            <a:off x="822960" y="37764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22" name="Text 19"/>
          <p:cNvSpPr txBox="1"/>
          <p:nvPr/>
        </p:nvSpPr>
        <p:spPr>
          <a:xfrm>
            <a:off x="1216152" y="37398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Stage all → message "Initial scaffold from personal page prompt" → Commit → Push</a:t>
            </a:r>
            <a:endParaRPr lang="en-US" sz="1200" dirty="0"/>
          </a:p>
        </p:txBody>
      </p:sp>
      <p:sp>
        <p:nvSpPr>
          <p:cNvPr id="23" name="Shape 20"/>
          <p:cNvSpPr/>
          <p:nvPr/>
        </p:nvSpPr>
        <p:spPr>
          <a:xfrm>
            <a:off x="7452360" y="1874520"/>
            <a:ext cx="4144975" cy="1463040"/>
          </a:xfrm>
          <a:prstGeom prst="roundRect">
            <a:avLst>
              <a:gd name="adj" fmla="val 7500"/>
            </a:avLst>
          </a:prstGeom>
          <a:solidFill>
            <a:srgbClr val="0F2831">
              <a:alpha val="88000"/>
            </a:srgbClr>
          </a:solidFill>
          <a:ln w="9525">
            <a:solidFill>
              <a:srgbClr val="1E4A55"/>
            </a:solidFill>
            <a:prstDash val="solid"/>
          </a:ln>
        </p:spPr>
        <p:txBody>
          <a:bodyPr/>
          <a:lstStyle/>
          <a:p>
            <a:endParaRPr lang="en-US"/>
          </a:p>
        </p:txBody>
      </p:sp>
      <p:sp>
        <p:nvSpPr>
          <p:cNvPr id="24" name="Text 21"/>
          <p:cNvSpPr txBox="1"/>
          <p:nvPr/>
        </p:nvSpPr>
        <p:spPr>
          <a:xfrm>
            <a:off x="7680960" y="2057400"/>
            <a:ext cx="3687775"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YOU'RE DONE WHEN</a:t>
            </a:r>
            <a:endParaRPr lang="en-US" sz="850" dirty="0"/>
          </a:p>
        </p:txBody>
      </p:sp>
      <p:sp>
        <p:nvSpPr>
          <p:cNvPr id="25" name="Text 22"/>
          <p:cNvSpPr txBox="1"/>
          <p:nvPr/>
        </p:nvSpPr>
        <p:spPr>
          <a:xfrm>
            <a:off x="7680960" y="2386584"/>
            <a:ext cx="3687775" cy="813816"/>
          </a:xfrm>
          <a:prstGeom prst="rect">
            <a:avLst/>
          </a:prstGeom>
          <a:noFill/>
          <a:ln/>
        </p:spPr>
        <p:txBody>
          <a:bodyPr wrap="square" lIns="0" tIns="0" rIns="0" bIns="0" rtlCol="0" anchor="t"/>
          <a:lstStyle/>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The Git pane shows your commit as pushed, with no pending changes.</a:t>
            </a:r>
            <a:endParaRPr lang="en-US" sz="1100" dirty="0"/>
          </a:p>
          <a:p>
            <a:pPr marL="0" indent="0">
              <a:spcAft>
                <a:spcPts val="600"/>
              </a:spcAft>
              <a:buNone/>
            </a:pPr>
            <a:endParaRPr lang="en-US" sz="1100" dirty="0"/>
          </a:p>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This is Git inside Replit. Same commit, same push as Desktop.</a:t>
            </a:r>
            <a:endParaRPr lang="en-US" sz="1100" dirty="0"/>
          </a:p>
        </p:txBody>
      </p:sp>
      <p:sp>
        <p:nvSpPr>
          <p:cNvPr id="26" name="Shape 23"/>
          <p:cNvSpPr/>
          <p:nvPr/>
        </p:nvSpPr>
        <p:spPr>
          <a:xfrm>
            <a:off x="7452360" y="3566160"/>
            <a:ext cx="4144975" cy="2194560"/>
          </a:xfrm>
          <a:prstGeom prst="roundRect">
            <a:avLst>
              <a:gd name="adj" fmla="val 5000"/>
            </a:avLst>
          </a:prstGeom>
          <a:solidFill>
            <a:srgbClr val="0F2831">
              <a:alpha val="88000"/>
            </a:srgbClr>
          </a:solidFill>
          <a:ln w="9525">
            <a:solidFill>
              <a:srgbClr val="1E4A55"/>
            </a:solidFill>
            <a:prstDash val="solid"/>
          </a:ln>
        </p:spPr>
        <p:txBody>
          <a:bodyPr/>
          <a:lstStyle/>
          <a:p>
            <a:endParaRPr lang="en-US"/>
          </a:p>
        </p:txBody>
      </p:sp>
      <p:sp>
        <p:nvSpPr>
          <p:cNvPr id="27" name="Text 24"/>
          <p:cNvSpPr txBox="1"/>
          <p:nvPr/>
        </p:nvSpPr>
        <p:spPr>
          <a:xfrm>
            <a:off x="7680960" y="3749040"/>
            <a:ext cx="3687775"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IF YOU'RE STUCK</a:t>
            </a:r>
            <a:endParaRPr lang="en-US" sz="850" dirty="0"/>
          </a:p>
        </p:txBody>
      </p:sp>
      <p:sp>
        <p:nvSpPr>
          <p:cNvPr id="28" name="Text 25"/>
          <p:cNvSpPr txBox="1"/>
          <p:nvPr/>
        </p:nvSpPr>
        <p:spPr>
          <a:xfrm>
            <a:off x="7680960" y="4078224"/>
            <a:ext cx="3687775" cy="1545336"/>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No Connect button: Replit is not linked to GitHub yet (arrival step 2). Avatar → Account → Connected services.</a:t>
            </a:r>
            <a:endParaRPr lang="en-US" sz="1050" dirty="0"/>
          </a:p>
          <a:p>
            <a:pPr marL="0" indent="0">
              <a:spcAft>
                <a:spcPts val="600"/>
              </a:spcAft>
              <a:buNone/>
            </a:pPr>
            <a:endParaRPr lang="en-US" sz="1050" dirty="0"/>
          </a:p>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Push fails: click Pull first, then Push again.</a:t>
            </a:r>
            <a:endParaRPr lang="en-US" sz="1050" dirty="0"/>
          </a:p>
          <a:p>
            <a:pPr marL="0" indent="0">
              <a:spcAft>
                <a:spcPts val="600"/>
              </a:spcAft>
              <a:buNone/>
            </a:pPr>
            <a:endParaRPr lang="en-US" sz="1050" dirty="0"/>
          </a:p>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It made the repo private: Settings on GitHub.com → Danger Zone → Change visibility → Public.</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17</a:t>
            </a:r>
            <a:endParaRPr lang="en-US" sz="900" dirty="0"/>
          </a:p>
        </p:txBody>
      </p:sp>
      <p:sp>
        <p:nvSpPr>
          <p:cNvPr id="4" name="Shape 1"/>
          <p:cNvSpPr/>
          <p:nvPr/>
        </p:nvSpPr>
        <p:spPr>
          <a:xfrm>
            <a:off x="594360" y="502920"/>
            <a:ext cx="251002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251002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1 · STEPS 1.3 AND 1.4</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3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Confirm on GitHub.com, then write the prompt doc</a:t>
            </a:r>
            <a:endParaRPr lang="en-US" sz="3000" dirty="0"/>
          </a:p>
        </p:txBody>
      </p:sp>
      <p:sp>
        <p:nvSpPr>
          <p:cNvPr id="9" name="Shape 6"/>
          <p:cNvSpPr/>
          <p:nvPr/>
        </p:nvSpPr>
        <p:spPr>
          <a:xfrm>
            <a:off x="594360" y="1874520"/>
            <a:ext cx="5394960" cy="3200400"/>
          </a:xfrm>
          <a:prstGeom prst="roundRect">
            <a:avLst>
              <a:gd name="adj" fmla="val 3429"/>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57400"/>
            <a:ext cx="493776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1.3 · CONFIRM</a:t>
            </a:r>
            <a:endParaRPr lang="en-US" sz="850" dirty="0"/>
          </a:p>
        </p:txBody>
      </p:sp>
      <p:sp>
        <p:nvSpPr>
          <p:cNvPr id="11" name="Shape 8"/>
          <p:cNvSpPr/>
          <p:nvPr/>
        </p:nvSpPr>
        <p:spPr>
          <a:xfrm>
            <a:off x="822960"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2" name="Text 9"/>
          <p:cNvSpPr txBox="1"/>
          <p:nvPr/>
        </p:nvSpPr>
        <p:spPr>
          <a:xfrm>
            <a:off x="822960"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3" name="Text 10"/>
          <p:cNvSpPr txBox="1"/>
          <p:nvPr/>
        </p:nvSpPr>
        <p:spPr>
          <a:xfrm>
            <a:off x="1216152" y="2368296"/>
            <a:ext cx="4526280" cy="50292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Open github.com and find &lt;yourname&gt;-handoff-lab</a:t>
            </a:r>
            <a:endParaRPr lang="en-US" sz="1150" dirty="0"/>
          </a:p>
        </p:txBody>
      </p:sp>
      <p:sp>
        <p:nvSpPr>
          <p:cNvPr id="14" name="Shape 11"/>
          <p:cNvSpPr/>
          <p:nvPr/>
        </p:nvSpPr>
        <p:spPr>
          <a:xfrm>
            <a:off x="822960" y="290779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5" name="Text 12"/>
          <p:cNvSpPr txBox="1"/>
          <p:nvPr/>
        </p:nvSpPr>
        <p:spPr>
          <a:xfrm>
            <a:off x="822960" y="290779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6" name="Text 13"/>
          <p:cNvSpPr txBox="1"/>
          <p:nvPr/>
        </p:nvSpPr>
        <p:spPr>
          <a:xfrm>
            <a:off x="1216152" y="2871216"/>
            <a:ext cx="4526280" cy="50292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Check the branch dropdown says main</a:t>
            </a:r>
            <a:endParaRPr lang="en-US" sz="1150" dirty="0"/>
          </a:p>
        </p:txBody>
      </p:sp>
      <p:sp>
        <p:nvSpPr>
          <p:cNvPr id="17" name="Shape 14"/>
          <p:cNvSpPr/>
          <p:nvPr/>
        </p:nvSpPr>
        <p:spPr>
          <a:xfrm>
            <a:off x="822960" y="341071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8" name="Text 15"/>
          <p:cNvSpPr txBox="1"/>
          <p:nvPr/>
        </p:nvSpPr>
        <p:spPr>
          <a:xfrm>
            <a:off x="822960" y="341071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19" name="Text 16"/>
          <p:cNvSpPr txBox="1"/>
          <p:nvPr/>
        </p:nvSpPr>
        <p:spPr>
          <a:xfrm>
            <a:off x="1216152" y="3374136"/>
            <a:ext cx="4526280" cy="50292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Check the branch count says 1 branch</a:t>
            </a:r>
            <a:endParaRPr lang="en-US" sz="1150" dirty="0"/>
          </a:p>
        </p:txBody>
      </p:sp>
      <p:sp>
        <p:nvSpPr>
          <p:cNvPr id="20" name="Shape 17"/>
          <p:cNvSpPr/>
          <p:nvPr/>
        </p:nvSpPr>
        <p:spPr>
          <a:xfrm>
            <a:off x="822960" y="391363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1" name="Text 18"/>
          <p:cNvSpPr txBox="1"/>
          <p:nvPr/>
        </p:nvSpPr>
        <p:spPr>
          <a:xfrm>
            <a:off x="822960" y="391363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22" name="Text 19"/>
          <p:cNvSpPr txBox="1"/>
          <p:nvPr/>
        </p:nvSpPr>
        <p:spPr>
          <a:xfrm>
            <a:off x="1216152" y="3877056"/>
            <a:ext cx="4526280" cy="50292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You see index.html in the file list</a:t>
            </a:r>
            <a:endParaRPr lang="en-US" sz="1150" dirty="0"/>
          </a:p>
        </p:txBody>
      </p:sp>
      <p:sp>
        <p:nvSpPr>
          <p:cNvPr id="23" name="Shape 20"/>
          <p:cNvSpPr/>
          <p:nvPr/>
        </p:nvSpPr>
        <p:spPr>
          <a:xfrm>
            <a:off x="6199632" y="1874520"/>
            <a:ext cx="5394960" cy="3200400"/>
          </a:xfrm>
          <a:prstGeom prst="roundRect">
            <a:avLst>
              <a:gd name="adj" fmla="val 3429"/>
            </a:avLst>
          </a:prstGeom>
          <a:solidFill>
            <a:srgbClr val="0F2831">
              <a:alpha val="88000"/>
            </a:srgbClr>
          </a:solidFill>
          <a:ln w="9525">
            <a:solidFill>
              <a:srgbClr val="1E4A55"/>
            </a:solidFill>
            <a:prstDash val="solid"/>
          </a:ln>
        </p:spPr>
        <p:txBody>
          <a:bodyPr/>
          <a:lstStyle/>
          <a:p>
            <a:endParaRPr lang="en-US"/>
          </a:p>
        </p:txBody>
      </p:sp>
      <p:sp>
        <p:nvSpPr>
          <p:cNvPr id="24" name="Text 21"/>
          <p:cNvSpPr txBox="1"/>
          <p:nvPr/>
        </p:nvSpPr>
        <p:spPr>
          <a:xfrm>
            <a:off x="6428232" y="2057400"/>
            <a:ext cx="493776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1.4 · PROMPT DOC</a:t>
            </a:r>
            <a:endParaRPr lang="en-US" sz="850" dirty="0"/>
          </a:p>
        </p:txBody>
      </p:sp>
      <p:sp>
        <p:nvSpPr>
          <p:cNvPr id="25" name="Shape 22"/>
          <p:cNvSpPr/>
          <p:nvPr/>
        </p:nvSpPr>
        <p:spPr>
          <a:xfrm>
            <a:off x="6428232"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6" name="Text 23"/>
          <p:cNvSpPr txBox="1"/>
          <p:nvPr/>
        </p:nvSpPr>
        <p:spPr>
          <a:xfrm>
            <a:off x="6428232"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27" name="Text 24"/>
          <p:cNvSpPr txBox="1"/>
          <p:nvPr/>
        </p:nvSpPr>
        <p:spPr>
          <a:xfrm>
            <a:off x="6821424" y="2368296"/>
            <a:ext cx="4526280" cy="50292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Add file → Create new file</a:t>
            </a:r>
            <a:endParaRPr lang="en-US" sz="1150" dirty="0"/>
          </a:p>
        </p:txBody>
      </p:sp>
      <p:sp>
        <p:nvSpPr>
          <p:cNvPr id="28" name="Shape 25"/>
          <p:cNvSpPr/>
          <p:nvPr/>
        </p:nvSpPr>
        <p:spPr>
          <a:xfrm>
            <a:off x="6428232" y="290779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9" name="Text 26"/>
          <p:cNvSpPr txBox="1"/>
          <p:nvPr/>
        </p:nvSpPr>
        <p:spPr>
          <a:xfrm>
            <a:off x="6428232" y="290779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30" name="Text 27"/>
          <p:cNvSpPr txBox="1"/>
          <p:nvPr/>
        </p:nvSpPr>
        <p:spPr>
          <a:xfrm>
            <a:off x="6821424" y="2871216"/>
            <a:ext cx="4526280" cy="50292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Name it prompts/scaffold-prompt.md (the slash makes the folder)</a:t>
            </a:r>
            <a:endParaRPr lang="en-US" sz="1150" dirty="0"/>
          </a:p>
        </p:txBody>
      </p:sp>
      <p:sp>
        <p:nvSpPr>
          <p:cNvPr id="31" name="Shape 28"/>
          <p:cNvSpPr/>
          <p:nvPr/>
        </p:nvSpPr>
        <p:spPr>
          <a:xfrm>
            <a:off x="6428232" y="341071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32" name="Text 29"/>
          <p:cNvSpPr txBox="1"/>
          <p:nvPr/>
        </p:nvSpPr>
        <p:spPr>
          <a:xfrm>
            <a:off x="6428232" y="341071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33" name="Text 30"/>
          <p:cNvSpPr txBox="1"/>
          <p:nvPr/>
        </p:nvSpPr>
        <p:spPr>
          <a:xfrm>
            <a:off x="6821424" y="3374136"/>
            <a:ext cx="4526280" cy="50292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Paste your filled-in prompt</a:t>
            </a:r>
            <a:endParaRPr lang="en-US" sz="1150" dirty="0"/>
          </a:p>
        </p:txBody>
      </p:sp>
      <p:sp>
        <p:nvSpPr>
          <p:cNvPr id="34" name="Shape 31"/>
          <p:cNvSpPr/>
          <p:nvPr/>
        </p:nvSpPr>
        <p:spPr>
          <a:xfrm>
            <a:off x="6428232" y="391363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35" name="Text 32"/>
          <p:cNvSpPr txBox="1"/>
          <p:nvPr/>
        </p:nvSpPr>
        <p:spPr>
          <a:xfrm>
            <a:off x="6428232" y="391363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36" name="Text 33"/>
          <p:cNvSpPr txBox="1"/>
          <p:nvPr/>
        </p:nvSpPr>
        <p:spPr>
          <a:xfrm>
            <a:off x="6821424" y="3877056"/>
            <a:ext cx="4526280" cy="50292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Commit changes → Commit directly to main. The last time today anyone does this.</a:t>
            </a:r>
            <a:endParaRPr lang="en-US" sz="1150" dirty="0"/>
          </a:p>
        </p:txBody>
      </p:sp>
      <p:sp>
        <p:nvSpPr>
          <p:cNvPr id="37" name="Shape 34"/>
          <p:cNvSpPr/>
          <p:nvPr/>
        </p:nvSpPr>
        <p:spPr>
          <a:xfrm>
            <a:off x="594360" y="5257800"/>
            <a:ext cx="11002975" cy="658368"/>
          </a:xfrm>
          <a:prstGeom prst="roundRect">
            <a:avLst>
              <a:gd name="adj" fmla="val 13889"/>
            </a:avLst>
          </a:prstGeom>
          <a:solidFill>
            <a:srgbClr val="4A1216"/>
          </a:solidFill>
          <a:ln w="9525">
            <a:solidFill>
              <a:srgbClr val="E11D2A"/>
            </a:solidFill>
            <a:prstDash val="solid"/>
          </a:ln>
        </p:spPr>
        <p:txBody>
          <a:bodyPr/>
          <a:lstStyle/>
          <a:p>
            <a:endParaRPr lang="en-US"/>
          </a:p>
        </p:txBody>
      </p:sp>
      <p:sp>
        <p:nvSpPr>
          <p:cNvPr id="38" name="Text 35"/>
          <p:cNvSpPr txBox="1"/>
          <p:nvPr/>
        </p:nvSpPr>
        <p:spPr>
          <a:xfrm>
            <a:off x="868680" y="5257800"/>
            <a:ext cx="10454335" cy="658368"/>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Sees 2 branches, or the code is on master? </a:t>
            </a:r>
            <a:r>
              <a:rPr lang="en-US" sz="1150" dirty="0">
                <a:solidFill>
                  <a:srgbClr val="FFFFFF"/>
                </a:solidFill>
                <a:latin typeface="Geologica" pitchFamily="34" charset="0"/>
                <a:ea typeface="Geologica" pitchFamily="34" charset="-122"/>
                <a:cs typeface="Geologica" pitchFamily="34" charset="-120"/>
              </a:rPr>
              <a:t>Replit sometimes pushes to a branch named master while GitHub made main. Wave a mentor over now, before your partner clones. The fix is on the handout under "When things go wrong".</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18</a:t>
            </a:r>
            <a:endParaRPr lang="en-US" sz="900" dirty="0"/>
          </a:p>
        </p:txBody>
      </p:sp>
      <p:sp>
        <p:nvSpPr>
          <p:cNvPr id="4" name="Shape 1"/>
          <p:cNvSpPr/>
          <p:nvPr/>
        </p:nvSpPr>
        <p:spPr>
          <a:xfrm>
            <a:off x="594360" y="502920"/>
            <a:ext cx="251002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251002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1 · STEPS 1.5 AND 1.6</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3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Invite your partner, then accept theirs</a:t>
            </a:r>
            <a:endParaRPr lang="en-US" sz="3000" dirty="0"/>
          </a:p>
        </p:txBody>
      </p:sp>
      <p:sp>
        <p:nvSpPr>
          <p:cNvPr id="9" name="Shape 6"/>
          <p:cNvSpPr/>
          <p:nvPr/>
        </p:nvSpPr>
        <p:spPr>
          <a:xfrm>
            <a:off x="594360" y="1874520"/>
            <a:ext cx="5394960" cy="2880360"/>
          </a:xfrm>
          <a:prstGeom prst="roundRect">
            <a:avLst>
              <a:gd name="adj" fmla="val 3810"/>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57400"/>
            <a:ext cx="493776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1.5 · INVITE</a:t>
            </a:r>
            <a:endParaRPr lang="en-US" sz="850" dirty="0"/>
          </a:p>
        </p:txBody>
      </p:sp>
      <p:sp>
        <p:nvSpPr>
          <p:cNvPr id="11" name="Shape 8"/>
          <p:cNvSpPr/>
          <p:nvPr/>
        </p:nvSpPr>
        <p:spPr>
          <a:xfrm>
            <a:off x="822960"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2" name="Text 9"/>
          <p:cNvSpPr txBox="1"/>
          <p:nvPr/>
        </p:nvSpPr>
        <p:spPr>
          <a:xfrm>
            <a:off x="822960"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3" name="Text 10"/>
          <p:cNvSpPr txBox="1"/>
          <p:nvPr/>
        </p:nvSpPr>
        <p:spPr>
          <a:xfrm>
            <a:off x="1216152" y="2368296"/>
            <a:ext cx="4526280" cy="54864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Settings → Collaborators → Add people</a:t>
            </a:r>
            <a:endParaRPr lang="en-US" sz="1150" dirty="0"/>
          </a:p>
        </p:txBody>
      </p:sp>
      <p:sp>
        <p:nvSpPr>
          <p:cNvPr id="14" name="Shape 11"/>
          <p:cNvSpPr/>
          <p:nvPr/>
        </p:nvSpPr>
        <p:spPr>
          <a:xfrm>
            <a:off x="822960" y="295351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5" name="Text 12"/>
          <p:cNvSpPr txBox="1"/>
          <p:nvPr/>
        </p:nvSpPr>
        <p:spPr>
          <a:xfrm>
            <a:off x="822960" y="295351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6" name="Text 13"/>
          <p:cNvSpPr txBox="1"/>
          <p:nvPr/>
        </p:nvSpPr>
        <p:spPr>
          <a:xfrm>
            <a:off x="1216152" y="2916936"/>
            <a:ext cx="4526280" cy="54864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Type your partner's GitHub username → Add</a:t>
            </a:r>
            <a:endParaRPr lang="en-US" sz="1150" dirty="0"/>
          </a:p>
        </p:txBody>
      </p:sp>
      <p:sp>
        <p:nvSpPr>
          <p:cNvPr id="17" name="Shape 14"/>
          <p:cNvSpPr/>
          <p:nvPr/>
        </p:nvSpPr>
        <p:spPr>
          <a:xfrm>
            <a:off x="822960" y="350215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8" name="Text 15"/>
          <p:cNvSpPr txBox="1"/>
          <p:nvPr/>
        </p:nvSpPr>
        <p:spPr>
          <a:xfrm>
            <a:off x="822960" y="350215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19" name="Text 16"/>
          <p:cNvSpPr txBox="1"/>
          <p:nvPr/>
        </p:nvSpPr>
        <p:spPr>
          <a:xfrm>
            <a:off x="1216152" y="3465576"/>
            <a:ext cx="4526280" cy="54864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You are done when their name shows "Pending invite"</a:t>
            </a:r>
            <a:endParaRPr lang="en-US" sz="1150" dirty="0"/>
          </a:p>
        </p:txBody>
      </p:sp>
      <p:sp>
        <p:nvSpPr>
          <p:cNvPr id="20" name="Shape 17"/>
          <p:cNvSpPr/>
          <p:nvPr/>
        </p:nvSpPr>
        <p:spPr>
          <a:xfrm>
            <a:off x="6199632" y="1874520"/>
            <a:ext cx="5394960" cy="2880360"/>
          </a:xfrm>
          <a:prstGeom prst="roundRect">
            <a:avLst>
              <a:gd name="adj" fmla="val 3810"/>
            </a:avLst>
          </a:prstGeom>
          <a:solidFill>
            <a:srgbClr val="0F2831">
              <a:alpha val="88000"/>
            </a:srgbClr>
          </a:solidFill>
          <a:ln w="9525">
            <a:solidFill>
              <a:srgbClr val="1E4A55"/>
            </a:solidFill>
            <a:prstDash val="solid"/>
          </a:ln>
        </p:spPr>
        <p:txBody>
          <a:bodyPr/>
          <a:lstStyle/>
          <a:p>
            <a:endParaRPr lang="en-US"/>
          </a:p>
        </p:txBody>
      </p:sp>
      <p:sp>
        <p:nvSpPr>
          <p:cNvPr id="21" name="Text 18"/>
          <p:cNvSpPr txBox="1"/>
          <p:nvPr/>
        </p:nvSpPr>
        <p:spPr>
          <a:xfrm>
            <a:off x="6428232" y="2057400"/>
            <a:ext cx="493776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1.6 · ACCEPT (BEFORE ANYONE CLONES)</a:t>
            </a:r>
            <a:endParaRPr lang="en-US" sz="850" dirty="0"/>
          </a:p>
        </p:txBody>
      </p:sp>
      <p:sp>
        <p:nvSpPr>
          <p:cNvPr id="22" name="Shape 19"/>
          <p:cNvSpPr/>
          <p:nvPr/>
        </p:nvSpPr>
        <p:spPr>
          <a:xfrm>
            <a:off x="6428232"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3" name="Text 20"/>
          <p:cNvSpPr txBox="1"/>
          <p:nvPr/>
        </p:nvSpPr>
        <p:spPr>
          <a:xfrm>
            <a:off x="6428232"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24" name="Text 21"/>
          <p:cNvSpPr txBox="1"/>
          <p:nvPr/>
        </p:nvSpPr>
        <p:spPr>
          <a:xfrm>
            <a:off x="6821424" y="2368296"/>
            <a:ext cx="4526280" cy="54864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github.com/notifications, or your email, or the banner on your partner's repo page</a:t>
            </a:r>
            <a:endParaRPr lang="en-US" sz="1150" dirty="0"/>
          </a:p>
        </p:txBody>
      </p:sp>
      <p:sp>
        <p:nvSpPr>
          <p:cNvPr id="25" name="Shape 22"/>
          <p:cNvSpPr/>
          <p:nvPr/>
        </p:nvSpPr>
        <p:spPr>
          <a:xfrm>
            <a:off x="6428232" y="295351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6" name="Text 23"/>
          <p:cNvSpPr txBox="1"/>
          <p:nvPr/>
        </p:nvSpPr>
        <p:spPr>
          <a:xfrm>
            <a:off x="6428232" y="295351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27" name="Text 24"/>
          <p:cNvSpPr txBox="1"/>
          <p:nvPr/>
        </p:nvSpPr>
        <p:spPr>
          <a:xfrm>
            <a:off x="6821424" y="2916936"/>
            <a:ext cx="4526280" cy="54864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Click Accept</a:t>
            </a:r>
            <a:endParaRPr lang="en-US" sz="1150" dirty="0"/>
          </a:p>
        </p:txBody>
      </p:sp>
      <p:sp>
        <p:nvSpPr>
          <p:cNvPr id="28" name="Shape 25"/>
          <p:cNvSpPr/>
          <p:nvPr/>
        </p:nvSpPr>
        <p:spPr>
          <a:xfrm>
            <a:off x="6428232" y="350215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9" name="Text 26"/>
          <p:cNvSpPr txBox="1"/>
          <p:nvPr/>
        </p:nvSpPr>
        <p:spPr>
          <a:xfrm>
            <a:off x="6428232" y="350215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30" name="Text 27"/>
          <p:cNvSpPr txBox="1"/>
          <p:nvPr/>
        </p:nvSpPr>
        <p:spPr>
          <a:xfrm>
            <a:off x="6821424" y="3465576"/>
            <a:ext cx="4526280" cy="548640"/>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You are done when their repo appears in GitHub Desktop → File → Clone → GitHub.com tab (click refresh)</a:t>
            </a:r>
            <a:endParaRPr lang="en-US" sz="1150" dirty="0"/>
          </a:p>
        </p:txBody>
      </p:sp>
      <p:sp>
        <p:nvSpPr>
          <p:cNvPr id="31" name="Shape 28"/>
          <p:cNvSpPr/>
          <p:nvPr/>
        </p:nvSpPr>
        <p:spPr>
          <a:xfrm>
            <a:off x="594360" y="4937760"/>
            <a:ext cx="11002975" cy="731520"/>
          </a:xfrm>
          <a:prstGeom prst="roundRect">
            <a:avLst>
              <a:gd name="adj" fmla="val 12500"/>
            </a:avLst>
          </a:prstGeom>
          <a:solidFill>
            <a:srgbClr val="0E5A66"/>
          </a:solidFill>
          <a:ln w="9525">
            <a:solidFill>
              <a:srgbClr val="0094A0"/>
            </a:solidFill>
            <a:prstDash val="solid"/>
          </a:ln>
        </p:spPr>
        <p:txBody>
          <a:bodyPr/>
          <a:lstStyle/>
          <a:p>
            <a:endParaRPr lang="en-US"/>
          </a:p>
        </p:txBody>
      </p:sp>
      <p:sp>
        <p:nvSpPr>
          <p:cNvPr id="32" name="Text 29"/>
          <p:cNvSpPr txBox="1"/>
          <p:nvPr/>
        </p:nvSpPr>
        <p:spPr>
          <a:xfrm>
            <a:off x="868680" y="4937760"/>
            <a:ext cx="10454335" cy="731520"/>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Why accept before cloning: </a:t>
            </a:r>
            <a:r>
              <a:rPr lang="en-US" sz="1150" dirty="0">
                <a:solidFill>
                  <a:srgbClr val="FFFFFF"/>
                </a:solidFill>
                <a:latin typeface="Geologica" pitchFamily="34" charset="0"/>
                <a:ea typeface="Geologica" pitchFamily="34" charset="-122"/>
                <a:cs typeface="Geologica" pitchFamily="34" charset="-120"/>
              </a:rPr>
              <a:t>anyone can clone a public repo, but only a collaborator can push to it. If you push before accepting, GitHub Desktop offers to fork the repo instead. Forking sends you down a different path. Do not fork today.</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19</a:t>
            </a:r>
            <a:endParaRPr lang="en-US" sz="900" dirty="0"/>
          </a:p>
        </p:txBody>
      </p:sp>
      <p:sp>
        <p:nvSpPr>
          <p:cNvPr id="4" name="Shape 1"/>
          <p:cNvSpPr/>
          <p:nvPr/>
        </p:nvSpPr>
        <p:spPr>
          <a:xfrm>
            <a:off x="594360" y="1554480"/>
            <a:ext cx="1344168" cy="292608"/>
          </a:xfrm>
          <a:prstGeom prst="roundRect">
            <a:avLst>
              <a:gd name="adj" fmla="val 50000"/>
            </a:avLst>
          </a:prstGeom>
          <a:solidFill>
            <a:srgbClr val="0094A0"/>
          </a:solidFill>
          <a:ln w="9525">
            <a:solidFill>
              <a:srgbClr val="3FC9D4"/>
            </a:solidFill>
            <a:prstDash val="solid"/>
          </a:ln>
        </p:spPr>
        <p:txBody>
          <a:bodyPr/>
          <a:lstStyle/>
          <a:p>
            <a:endParaRPr lang="en-US"/>
          </a:p>
        </p:txBody>
      </p:sp>
      <p:sp>
        <p:nvSpPr>
          <p:cNvPr id="5" name="Text 2"/>
          <p:cNvSpPr txBox="1"/>
          <p:nvPr/>
        </p:nvSpPr>
        <p:spPr>
          <a:xfrm>
            <a:off x="594360" y="1554480"/>
            <a:ext cx="1344168" cy="292608"/>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Geologica" pitchFamily="34" charset="0"/>
                <a:ea typeface="Geologica" pitchFamily="34" charset="-122"/>
                <a:cs typeface="Geologica" pitchFamily="34" charset="-120"/>
              </a:rPr>
              <a:t>CHECKPOINT 1</a:t>
            </a:r>
            <a:endParaRPr lang="en-US" sz="850" dirty="0"/>
          </a:p>
        </p:txBody>
      </p:sp>
      <p:sp>
        <p:nvSpPr>
          <p:cNvPr id="6" name="Text 3"/>
          <p:cNvSpPr txBox="1"/>
          <p:nvPr/>
        </p:nvSpPr>
        <p:spPr>
          <a:xfrm>
            <a:off x="566928" y="1965960"/>
            <a:ext cx="10972800" cy="914400"/>
          </a:xfrm>
          <a:prstGeom prst="rect">
            <a:avLst/>
          </a:prstGeom>
          <a:noFill/>
          <a:ln/>
        </p:spPr>
        <p:txBody>
          <a:bodyPr wrap="square" lIns="0" tIns="0" rIns="0" bIns="0" rtlCol="0" anchor="ctr"/>
          <a:lstStyle/>
          <a:p>
            <a:pPr marL="0" indent="0">
              <a:buNone/>
            </a:pPr>
            <a:r>
              <a:rPr lang="en-US" sz="3400" b="1" dirty="0">
                <a:solidFill>
                  <a:srgbClr val="FFFFFF"/>
                </a:solidFill>
                <a:latin typeface="Geologica" pitchFamily="34" charset="0"/>
                <a:ea typeface="Geologica" pitchFamily="34" charset="-122"/>
                <a:cs typeface="Geologica" pitchFamily="34" charset="-120"/>
              </a:rPr>
              <a:t>Two repos, two invites, both accepted</a:t>
            </a:r>
            <a:endParaRPr lang="en-US" sz="3400" dirty="0"/>
          </a:p>
        </p:txBody>
      </p:sp>
      <p:sp>
        <p:nvSpPr>
          <p:cNvPr id="7" name="Text 4"/>
          <p:cNvSpPr txBox="1"/>
          <p:nvPr/>
        </p:nvSpPr>
        <p:spPr>
          <a:xfrm>
            <a:off x="594360" y="2880360"/>
            <a:ext cx="10058400" cy="365760"/>
          </a:xfrm>
          <a:prstGeom prst="rect">
            <a:avLst/>
          </a:prstGeom>
          <a:noFill/>
          <a:ln/>
        </p:spPr>
        <p:txBody>
          <a:bodyPr wrap="square" lIns="0" tIns="0" rIns="0" bIns="0" rtlCol="0" anchor="ctr"/>
          <a:lstStyle/>
          <a:p>
            <a:pPr marL="0" indent="0">
              <a:buNone/>
            </a:pPr>
            <a:r>
              <a:rPr lang="en-US" sz="1400" dirty="0">
                <a:solidFill>
                  <a:srgbClr val="E4EEF1"/>
                </a:solidFill>
                <a:latin typeface="Geologica" pitchFamily="34" charset="0"/>
                <a:ea typeface="Geologica" pitchFamily="34" charset="-122"/>
                <a:cs typeface="Geologica" pitchFamily="34" charset="-120"/>
              </a:rPr>
              <a:t>Thumbs up when all of these are true for both of you. </a:t>
            </a:r>
            <a:endParaRPr lang="en-US" sz="1400" dirty="0"/>
          </a:p>
        </p:txBody>
      </p:sp>
      <p:sp>
        <p:nvSpPr>
          <p:cNvPr id="8" name="Shape 5"/>
          <p:cNvSpPr/>
          <p:nvPr/>
        </p:nvSpPr>
        <p:spPr>
          <a:xfrm>
            <a:off x="594360" y="3474720"/>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9" name="Text 6"/>
          <p:cNvSpPr txBox="1"/>
          <p:nvPr/>
        </p:nvSpPr>
        <p:spPr>
          <a:xfrm>
            <a:off x="594360" y="34747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0" name="Text 7"/>
          <p:cNvSpPr txBox="1"/>
          <p:nvPr/>
        </p:nvSpPr>
        <p:spPr>
          <a:xfrm>
            <a:off x="1143000" y="3474720"/>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Your repo is on GitHub.com with index.html and a prompts/ folder</a:t>
            </a:r>
            <a:endParaRPr lang="en-US" sz="1400" dirty="0"/>
          </a:p>
        </p:txBody>
      </p:sp>
      <p:sp>
        <p:nvSpPr>
          <p:cNvPr id="11" name="Shape 8"/>
          <p:cNvSpPr/>
          <p:nvPr/>
        </p:nvSpPr>
        <p:spPr>
          <a:xfrm>
            <a:off x="594360" y="4005072"/>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12" name="Text 9"/>
          <p:cNvSpPr txBox="1"/>
          <p:nvPr/>
        </p:nvSpPr>
        <p:spPr>
          <a:xfrm>
            <a:off x="594360" y="40050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3" name="Text 10"/>
          <p:cNvSpPr txBox="1"/>
          <p:nvPr/>
        </p:nvSpPr>
        <p:spPr>
          <a:xfrm>
            <a:off x="1143000" y="4005072"/>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The branch dropdown says main and there is 1 branch</a:t>
            </a:r>
            <a:endParaRPr lang="en-US" sz="1400" dirty="0"/>
          </a:p>
        </p:txBody>
      </p:sp>
      <p:sp>
        <p:nvSpPr>
          <p:cNvPr id="14" name="Shape 11"/>
          <p:cNvSpPr/>
          <p:nvPr/>
        </p:nvSpPr>
        <p:spPr>
          <a:xfrm>
            <a:off x="594360" y="4535424"/>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15" name="Text 12"/>
          <p:cNvSpPr txBox="1"/>
          <p:nvPr/>
        </p:nvSpPr>
        <p:spPr>
          <a:xfrm>
            <a:off x="594360" y="45354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6" name="Text 13"/>
          <p:cNvSpPr txBox="1"/>
          <p:nvPr/>
        </p:nvSpPr>
        <p:spPr>
          <a:xfrm>
            <a:off x="1143000" y="4535424"/>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Your partner shows as a collaborator, and you have accepted their invite</a:t>
            </a:r>
            <a:endParaRPr lang="en-US" sz="1400" dirty="0"/>
          </a:p>
        </p:txBody>
      </p:sp>
      <p:sp>
        <p:nvSpPr>
          <p:cNvPr id="17" name="Shape 14"/>
          <p:cNvSpPr/>
          <p:nvPr/>
        </p:nvSpPr>
        <p:spPr>
          <a:xfrm>
            <a:off x="594360" y="5065776"/>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18" name="Text 15"/>
          <p:cNvSpPr txBox="1"/>
          <p:nvPr/>
        </p:nvSpPr>
        <p:spPr>
          <a:xfrm>
            <a:off x="594360" y="50657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9" name="Text 16"/>
          <p:cNvSpPr txBox="1"/>
          <p:nvPr/>
        </p:nvSpPr>
        <p:spPr>
          <a:xfrm>
            <a:off x="1143000" y="5065776"/>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Their repo appears in your GitHub Desktop under File → Clone → GitHub.com</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20</a:t>
            </a:r>
            <a:endParaRPr lang="en-US" sz="900" dirty="0"/>
          </a:p>
        </p:txBody>
      </p:sp>
      <p:sp>
        <p:nvSpPr>
          <p:cNvPr id="4" name="Shape 1"/>
          <p:cNvSpPr/>
          <p:nvPr/>
        </p:nvSpPr>
        <p:spPr>
          <a:xfrm>
            <a:off x="594360" y="502920"/>
            <a:ext cx="134416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34416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TODAY'S LOOP</a:t>
            </a:r>
            <a:endParaRPr lang="en-US" sz="850" dirty="0"/>
          </a:p>
        </p:txBody>
      </p:sp>
      <p:sp>
        <p:nvSpPr>
          <p:cNvPr id="6" name="Shape 3"/>
          <p:cNvSpPr/>
          <p:nvPr/>
        </p:nvSpPr>
        <p:spPr>
          <a:xfrm>
            <a:off x="9329623" y="502920"/>
            <a:ext cx="22677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329623" y="502920"/>
            <a:ext cx="22677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YOU ARE HERE · ROUND 2</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You should be here</a:t>
            </a:r>
            <a:endParaRPr lang="en-US" sz="3000" dirty="0"/>
          </a:p>
        </p:txBody>
      </p:sp>
      <p:sp>
        <p:nvSpPr>
          <p:cNvPr id="9" name="Text 6"/>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Both of you run this at the same time, each on the other's repo.</a:t>
            </a:r>
            <a:endParaRPr lang="en-US" sz="1300" dirty="0"/>
          </a:p>
        </p:txBody>
      </p:sp>
      <p:sp>
        <p:nvSpPr>
          <p:cNvPr id="10" name="Shape 7"/>
          <p:cNvSpPr/>
          <p:nvPr/>
        </p:nvSpPr>
        <p:spPr>
          <a:xfrm>
            <a:off x="594360" y="2148840"/>
            <a:ext cx="3520440" cy="2788920"/>
          </a:xfrm>
          <a:prstGeom prst="roundRect">
            <a:avLst>
              <a:gd name="adj" fmla="val 3934"/>
            </a:avLst>
          </a:prstGeom>
          <a:solidFill>
            <a:srgbClr val="0F2831">
              <a:alpha val="88000"/>
            </a:srgbClr>
          </a:solidFill>
          <a:ln w="9525">
            <a:solidFill>
              <a:srgbClr val="1E4A55"/>
            </a:solidFill>
            <a:prstDash val="solid"/>
          </a:ln>
        </p:spPr>
        <p:txBody>
          <a:bodyPr/>
          <a:lstStyle/>
          <a:p>
            <a:endParaRPr lang="en-US"/>
          </a:p>
        </p:txBody>
      </p:sp>
      <p:sp>
        <p:nvSpPr>
          <p:cNvPr id="11" name="Text 8"/>
          <p:cNvSpPr txBox="1"/>
          <p:nvPr/>
        </p:nvSpPr>
        <p:spPr>
          <a:xfrm>
            <a:off x="822960" y="2286000"/>
            <a:ext cx="548640" cy="502920"/>
          </a:xfrm>
          <a:prstGeom prst="rect">
            <a:avLst/>
          </a:prstGeom>
          <a:noFill/>
          <a:ln/>
        </p:spPr>
        <p:txBody>
          <a:bodyPr wrap="square" lIns="0" tIns="0" rIns="0" bIns="0" rtlCol="0" anchor="ctr"/>
          <a:lstStyle/>
          <a:p>
            <a:pPr marL="0" indent="0">
              <a:buNone/>
            </a:pPr>
            <a:r>
              <a:rPr lang="en-US" sz="2600" b="1" dirty="0">
                <a:solidFill>
                  <a:srgbClr val="3FC9D4"/>
                </a:solidFill>
                <a:latin typeface="Geologica" pitchFamily="34" charset="0"/>
                <a:ea typeface="Geologica" pitchFamily="34" charset="-122"/>
                <a:cs typeface="Geologica" pitchFamily="34" charset="-120"/>
              </a:rPr>
              <a:t>1</a:t>
            </a:r>
            <a:endParaRPr lang="en-US" sz="2600" dirty="0"/>
          </a:p>
        </p:txBody>
      </p:sp>
      <p:sp>
        <p:nvSpPr>
          <p:cNvPr id="12" name="Text 9"/>
          <p:cNvSpPr txBox="1"/>
          <p:nvPr/>
        </p:nvSpPr>
        <p:spPr>
          <a:xfrm>
            <a:off x="1371600"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Build and ship</a:t>
            </a:r>
            <a:endParaRPr lang="en-US" sz="1400" dirty="0"/>
          </a:p>
        </p:txBody>
      </p:sp>
      <p:sp>
        <p:nvSpPr>
          <p:cNvPr id="13" name="Text 10"/>
          <p:cNvSpPr txBox="1"/>
          <p:nvPr/>
        </p:nvSpPr>
        <p:spPr>
          <a:xfrm>
            <a:off x="822960"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Build a page in Replit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Push from Replit's Git pane</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Write the prompt doc</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Invite your partner; accept theirs</a:t>
            </a:r>
            <a:endParaRPr lang="en-US" sz="1150" dirty="0"/>
          </a:p>
        </p:txBody>
      </p:sp>
      <p:sp>
        <p:nvSpPr>
          <p:cNvPr id="14" name="Text 11"/>
          <p:cNvSpPr txBox="1"/>
          <p:nvPr/>
        </p:nvSpPr>
        <p:spPr>
          <a:xfrm>
            <a:off x="822960" y="4526280"/>
            <a:ext cx="3063240" cy="274320"/>
          </a:xfrm>
          <a:prstGeom prst="rect">
            <a:avLst/>
          </a:prstGeom>
          <a:noFill/>
          <a:ln/>
        </p:spPr>
        <p:txBody>
          <a:bodyPr wrap="square" lIns="0" tIns="0" rIns="0" bIns="0" rtlCol="0" anchor="ctr"/>
          <a:lstStyle/>
          <a:p>
            <a:pPr marL="0" indent="0">
              <a:buNone/>
            </a:pPr>
            <a:r>
              <a:rPr lang="en-US" sz="1000" dirty="0">
                <a:solidFill>
                  <a:srgbClr val="9FB4BB"/>
                </a:solidFill>
                <a:latin typeface="Geologica" pitchFamily="34" charset="0"/>
                <a:ea typeface="Geologica" pitchFamily="34" charset="-122"/>
                <a:cs typeface="Geologica" pitchFamily="34" charset="-120"/>
              </a:rPr>
              <a:t>15 min</a:t>
            </a:r>
            <a:endParaRPr lang="en-US" sz="1000" dirty="0"/>
          </a:p>
        </p:txBody>
      </p:sp>
      <p:sp>
        <p:nvSpPr>
          <p:cNvPr id="15" name="Text 12"/>
          <p:cNvSpPr txBox="1"/>
          <p:nvPr/>
        </p:nvSpPr>
        <p:spPr>
          <a:xfrm>
            <a:off x="4096512" y="3246120"/>
            <a:ext cx="256032" cy="457200"/>
          </a:xfrm>
          <a:prstGeom prst="rect">
            <a:avLst/>
          </a:prstGeom>
          <a:noFill/>
          <a:ln/>
        </p:spPr>
        <p:txBody>
          <a:bodyPr wrap="square" lIns="0" tIns="0" rIns="0" bIns="0" rtlCol="0" anchor="ctr"/>
          <a:lstStyle/>
          <a:p>
            <a:pPr marL="0" indent="0" algn="ctr">
              <a:buNone/>
            </a:pPr>
            <a:r>
              <a:rPr lang="en-US" sz="1800" dirty="0">
                <a:solidFill>
                  <a:srgbClr val="3FC9D4"/>
                </a:solidFill>
                <a:latin typeface="Geologica" pitchFamily="34" charset="0"/>
                <a:ea typeface="Geologica" pitchFamily="34" charset="-122"/>
                <a:cs typeface="Geologica" pitchFamily="34" charset="-120"/>
              </a:rPr>
              <a:t>→</a:t>
            </a:r>
            <a:endParaRPr lang="en-US" sz="1800" dirty="0"/>
          </a:p>
        </p:txBody>
      </p:sp>
      <p:sp>
        <p:nvSpPr>
          <p:cNvPr id="16" name="Shape 13"/>
          <p:cNvSpPr/>
          <p:nvPr/>
        </p:nvSpPr>
        <p:spPr>
          <a:xfrm>
            <a:off x="4334256" y="2148840"/>
            <a:ext cx="3520440" cy="2788920"/>
          </a:xfrm>
          <a:prstGeom prst="roundRect">
            <a:avLst>
              <a:gd name="adj" fmla="val 3934"/>
            </a:avLst>
          </a:prstGeom>
          <a:solidFill>
            <a:srgbClr val="0E5A66"/>
          </a:solidFill>
          <a:ln w="19050">
            <a:solidFill>
              <a:srgbClr val="3FC9D4"/>
            </a:solidFill>
            <a:prstDash val="solid"/>
          </a:ln>
        </p:spPr>
        <p:txBody>
          <a:bodyPr/>
          <a:lstStyle/>
          <a:p>
            <a:endParaRPr lang="en-US"/>
          </a:p>
        </p:txBody>
      </p:sp>
      <p:sp>
        <p:nvSpPr>
          <p:cNvPr id="17" name="Text 14"/>
          <p:cNvSpPr txBox="1"/>
          <p:nvPr/>
        </p:nvSpPr>
        <p:spPr>
          <a:xfrm>
            <a:off x="4562856" y="2286000"/>
            <a:ext cx="548640" cy="502920"/>
          </a:xfrm>
          <a:prstGeom prst="rect">
            <a:avLst/>
          </a:prstGeom>
          <a:noFill/>
          <a:ln/>
        </p:spPr>
        <p:txBody>
          <a:bodyPr wrap="square" lIns="0" tIns="0" rIns="0" bIns="0" rtlCol="0" anchor="ctr"/>
          <a:lstStyle/>
          <a:p>
            <a:pPr marL="0" indent="0">
              <a:buNone/>
            </a:pPr>
            <a:r>
              <a:rPr lang="en-US" sz="2600" b="1" dirty="0">
                <a:solidFill>
                  <a:srgbClr val="FFFFFF"/>
                </a:solidFill>
                <a:latin typeface="Geologica" pitchFamily="34" charset="0"/>
                <a:ea typeface="Geologica" pitchFamily="34" charset="-122"/>
                <a:cs typeface="Geologica" pitchFamily="34" charset="-120"/>
              </a:rPr>
              <a:t>2</a:t>
            </a:r>
            <a:endParaRPr lang="en-US" sz="2600" dirty="0"/>
          </a:p>
        </p:txBody>
      </p:sp>
      <p:sp>
        <p:nvSpPr>
          <p:cNvPr id="18" name="Text 15"/>
          <p:cNvSpPr txBox="1"/>
          <p:nvPr/>
        </p:nvSpPr>
        <p:spPr>
          <a:xfrm>
            <a:off x="5111496"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Clone, branch, change</a:t>
            </a:r>
            <a:endParaRPr lang="en-US" sz="1400" dirty="0"/>
          </a:p>
        </p:txBody>
      </p:sp>
      <p:sp>
        <p:nvSpPr>
          <p:cNvPr id="19" name="Text 16"/>
          <p:cNvSpPr txBox="1"/>
          <p:nvPr/>
        </p:nvSpPr>
        <p:spPr>
          <a:xfrm>
            <a:off x="4562856"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Accept, then clone your partner's repo</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Branch before you touch anything</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Find one thing and change it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Commit, publish, open a pull request</a:t>
            </a:r>
            <a:endParaRPr lang="en-US" sz="1150" dirty="0"/>
          </a:p>
        </p:txBody>
      </p:sp>
      <p:sp>
        <p:nvSpPr>
          <p:cNvPr id="20" name="Text 17"/>
          <p:cNvSpPr txBox="1"/>
          <p:nvPr/>
        </p:nvSpPr>
        <p:spPr>
          <a:xfrm>
            <a:off x="4562856" y="4526280"/>
            <a:ext cx="3063240" cy="274320"/>
          </a:xfrm>
          <a:prstGeom prst="rect">
            <a:avLst/>
          </a:prstGeom>
          <a:noFill/>
          <a:ln/>
        </p:spPr>
        <p:txBody>
          <a:bodyPr wrap="square" lIns="0" tIns="0" rIns="0" bIns="0" rtlCol="0" anchor="ctr"/>
          <a:lstStyle/>
          <a:p>
            <a:pPr marL="0" indent="0">
              <a:buNone/>
            </a:pPr>
            <a:r>
              <a:rPr lang="en-US" sz="1000" dirty="0">
                <a:solidFill>
                  <a:srgbClr val="3FC9D4"/>
                </a:solidFill>
                <a:latin typeface="Geologica" pitchFamily="34" charset="0"/>
                <a:ea typeface="Geologica" pitchFamily="34" charset="-122"/>
                <a:cs typeface="Geologica" pitchFamily="34" charset="-120"/>
              </a:rPr>
              <a:t>22 min</a:t>
            </a:r>
            <a:endParaRPr lang="en-US" sz="1000" dirty="0"/>
          </a:p>
        </p:txBody>
      </p:sp>
      <p:sp>
        <p:nvSpPr>
          <p:cNvPr id="21" name="Text 18"/>
          <p:cNvSpPr txBox="1"/>
          <p:nvPr/>
        </p:nvSpPr>
        <p:spPr>
          <a:xfrm>
            <a:off x="7836408" y="3246120"/>
            <a:ext cx="256032" cy="457200"/>
          </a:xfrm>
          <a:prstGeom prst="rect">
            <a:avLst/>
          </a:prstGeom>
          <a:noFill/>
          <a:ln/>
        </p:spPr>
        <p:txBody>
          <a:bodyPr wrap="square" lIns="0" tIns="0" rIns="0" bIns="0" rtlCol="0" anchor="ctr"/>
          <a:lstStyle/>
          <a:p>
            <a:pPr marL="0" indent="0" algn="ctr">
              <a:buNone/>
            </a:pPr>
            <a:r>
              <a:rPr lang="en-US" sz="1800" dirty="0">
                <a:solidFill>
                  <a:srgbClr val="3FC9D4"/>
                </a:solidFill>
                <a:latin typeface="Geologica" pitchFamily="34" charset="0"/>
                <a:ea typeface="Geologica" pitchFamily="34" charset="-122"/>
                <a:cs typeface="Geologica" pitchFamily="34" charset="-120"/>
              </a:rPr>
              <a:t>→</a:t>
            </a:r>
            <a:endParaRPr lang="en-US" sz="1800" dirty="0"/>
          </a:p>
        </p:txBody>
      </p:sp>
      <p:sp>
        <p:nvSpPr>
          <p:cNvPr id="22" name="Shape 19"/>
          <p:cNvSpPr/>
          <p:nvPr/>
        </p:nvSpPr>
        <p:spPr>
          <a:xfrm>
            <a:off x="8074152" y="2148840"/>
            <a:ext cx="3520440" cy="2788920"/>
          </a:xfrm>
          <a:prstGeom prst="roundRect">
            <a:avLst>
              <a:gd name="adj" fmla="val 3934"/>
            </a:avLst>
          </a:prstGeom>
          <a:solidFill>
            <a:srgbClr val="0F2831">
              <a:alpha val="88000"/>
            </a:srgbClr>
          </a:solidFill>
          <a:ln w="9525">
            <a:solidFill>
              <a:srgbClr val="1E4A55"/>
            </a:solidFill>
            <a:prstDash val="solid"/>
          </a:ln>
        </p:spPr>
        <p:txBody>
          <a:bodyPr/>
          <a:lstStyle/>
          <a:p>
            <a:endParaRPr lang="en-US"/>
          </a:p>
        </p:txBody>
      </p:sp>
      <p:sp>
        <p:nvSpPr>
          <p:cNvPr id="23" name="Text 20"/>
          <p:cNvSpPr txBox="1"/>
          <p:nvPr/>
        </p:nvSpPr>
        <p:spPr>
          <a:xfrm>
            <a:off x="8302752" y="2286000"/>
            <a:ext cx="548640" cy="502920"/>
          </a:xfrm>
          <a:prstGeom prst="rect">
            <a:avLst/>
          </a:prstGeom>
          <a:noFill/>
          <a:ln/>
        </p:spPr>
        <p:txBody>
          <a:bodyPr wrap="square" lIns="0" tIns="0" rIns="0" bIns="0" rtlCol="0" anchor="ctr"/>
          <a:lstStyle/>
          <a:p>
            <a:pPr marL="0" indent="0">
              <a:buNone/>
            </a:pPr>
            <a:r>
              <a:rPr lang="en-US" sz="2600" b="1" dirty="0">
                <a:solidFill>
                  <a:srgbClr val="3FC9D4"/>
                </a:solidFill>
                <a:latin typeface="Geologica" pitchFamily="34" charset="0"/>
                <a:ea typeface="Geologica" pitchFamily="34" charset="-122"/>
                <a:cs typeface="Geologica" pitchFamily="34" charset="-120"/>
              </a:rPr>
              <a:t>3</a:t>
            </a:r>
            <a:endParaRPr lang="en-US" sz="2600" dirty="0"/>
          </a:p>
        </p:txBody>
      </p:sp>
      <p:sp>
        <p:nvSpPr>
          <p:cNvPr id="24" name="Text 21"/>
          <p:cNvSpPr txBox="1"/>
          <p:nvPr/>
        </p:nvSpPr>
        <p:spPr>
          <a:xfrm>
            <a:off x="8851392"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Review, merge, sync</a:t>
            </a:r>
            <a:endParaRPr lang="en-US" sz="1400" dirty="0"/>
          </a:p>
        </p:txBody>
      </p:sp>
      <p:sp>
        <p:nvSpPr>
          <p:cNvPr id="25" name="Text 22"/>
          <p:cNvSpPr txBox="1"/>
          <p:nvPr/>
        </p:nvSpPr>
        <p:spPr>
          <a:xfrm>
            <a:off x="8302752"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Open the PR on your own repo</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Read the diff, leave a comment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Merge and delete the branch</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Pull it back into Replit</a:t>
            </a:r>
            <a:endParaRPr lang="en-US" sz="1150" dirty="0"/>
          </a:p>
        </p:txBody>
      </p:sp>
      <p:sp>
        <p:nvSpPr>
          <p:cNvPr id="26" name="Text 23"/>
          <p:cNvSpPr txBox="1"/>
          <p:nvPr/>
        </p:nvSpPr>
        <p:spPr>
          <a:xfrm>
            <a:off x="8302752" y="4526280"/>
            <a:ext cx="3063240" cy="274320"/>
          </a:xfrm>
          <a:prstGeom prst="rect">
            <a:avLst/>
          </a:prstGeom>
          <a:noFill/>
          <a:ln/>
        </p:spPr>
        <p:txBody>
          <a:bodyPr wrap="square" lIns="0" tIns="0" rIns="0" bIns="0" rtlCol="0" anchor="ctr"/>
          <a:lstStyle/>
          <a:p>
            <a:pPr marL="0" indent="0">
              <a:buNone/>
            </a:pPr>
            <a:r>
              <a:rPr lang="en-US" sz="1000" dirty="0">
                <a:solidFill>
                  <a:srgbClr val="9FB4BB"/>
                </a:solidFill>
                <a:latin typeface="Geologica" pitchFamily="34" charset="0"/>
                <a:ea typeface="Geologica" pitchFamily="34" charset="-122"/>
                <a:cs typeface="Geologica" pitchFamily="34" charset="-120"/>
              </a:rPr>
              <a:t>10 min</a:t>
            </a:r>
            <a:endParaRPr lang="en-US" sz="1000" dirty="0"/>
          </a:p>
        </p:txBody>
      </p:sp>
      <p:sp>
        <p:nvSpPr>
          <p:cNvPr id="27" name="Text 24"/>
          <p:cNvSpPr txBox="1"/>
          <p:nvPr/>
        </p:nvSpPr>
        <p:spPr>
          <a:xfrm>
            <a:off x="594360" y="5120640"/>
            <a:ext cx="10972800" cy="457200"/>
          </a:xfrm>
          <a:prstGeom prst="rect">
            <a:avLst/>
          </a:prstGeom>
          <a:noFill/>
          <a:ln/>
        </p:spPr>
        <p:txBody>
          <a:bodyPr wrap="square" lIns="0" tIns="0" rIns="0" bIns="0" rtlCol="0" anchor="ctr"/>
          <a:lstStyle/>
          <a:p>
            <a:pPr marL="0" indent="0">
              <a:buNone/>
            </a:pPr>
            <a:r>
              <a:rPr lang="en-US" sz="1150" dirty="0">
                <a:solidFill>
                  <a:srgbClr val="9FB4BB"/>
                </a:solidFill>
                <a:latin typeface="Geologica" pitchFamily="34" charset="0"/>
                <a:ea typeface="Geologica" pitchFamily="34" charset="-122"/>
                <a:cs typeface="Geologica" pitchFamily="34" charset="-120"/>
              </a:rPr>
              <a:t>Round 3 closes the loop: the change you receive came from your partner's Round 2, and the change you made lands in their Round 3.</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21</a:t>
            </a:r>
            <a:endParaRPr lang="en-US" sz="900" dirty="0"/>
          </a:p>
        </p:txBody>
      </p:sp>
      <p:sp>
        <p:nvSpPr>
          <p:cNvPr id="4" name="Shape 1"/>
          <p:cNvSpPr/>
          <p:nvPr/>
        </p:nvSpPr>
        <p:spPr>
          <a:xfrm>
            <a:off x="594360" y="1965960"/>
            <a:ext cx="282092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1965960"/>
            <a:ext cx="282092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2 · CLONE, BRANCH, CHANGE</a:t>
            </a:r>
            <a:endParaRPr lang="en-US" sz="850" dirty="0"/>
          </a:p>
        </p:txBody>
      </p:sp>
      <p:sp>
        <p:nvSpPr>
          <p:cNvPr id="6" name="Text 3"/>
          <p:cNvSpPr txBox="1"/>
          <p:nvPr/>
        </p:nvSpPr>
        <p:spPr>
          <a:xfrm>
            <a:off x="566928" y="237744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Geologica" pitchFamily="34" charset="0"/>
                <a:ea typeface="Geologica" pitchFamily="34" charset="-122"/>
                <a:cs typeface="Geologica" pitchFamily="34" charset="-120"/>
              </a:rPr>
              <a:t>Change your partner's code</a:t>
            </a:r>
            <a:endParaRPr lang="en-US" sz="4400" dirty="0"/>
          </a:p>
        </p:txBody>
      </p:sp>
      <p:sp>
        <p:nvSpPr>
          <p:cNvPr id="7" name="Text 4"/>
          <p:cNvSpPr txBox="1"/>
          <p:nvPr/>
        </p:nvSpPr>
        <p:spPr>
          <a:xfrm>
            <a:off x="594360" y="3429000"/>
            <a:ext cx="9601200" cy="640080"/>
          </a:xfrm>
          <a:prstGeom prst="rect">
            <a:avLst/>
          </a:prstGeom>
          <a:noFill/>
          <a:ln/>
        </p:spPr>
        <p:txBody>
          <a:bodyPr wrap="square" lIns="0" tIns="0" rIns="0" bIns="0" rtlCol="0" anchor="ctr"/>
          <a:lstStyle/>
          <a:p>
            <a:pPr marL="0" indent="0">
              <a:buNone/>
            </a:pPr>
            <a:r>
              <a:rPr lang="en-US" sz="1600" dirty="0">
                <a:solidFill>
                  <a:srgbClr val="E4EEF1"/>
                </a:solidFill>
                <a:latin typeface="Geologica" pitchFamily="34" charset="0"/>
                <a:ea typeface="Geologica" pitchFamily="34" charset="-122"/>
                <a:cs typeface="Geologica" pitchFamily="34" charset="-120"/>
              </a:rPr>
              <a:t>Code you did not write, generated by an AI you did not prompt. This is the normal condition of team development. You do not need to understand the file; you need to find one line.</a:t>
            </a:r>
            <a:endParaRPr lang="en-US" sz="1600" dirty="0"/>
          </a:p>
        </p:txBody>
      </p:sp>
      <p:sp>
        <p:nvSpPr>
          <p:cNvPr id="8" name="Shape 5"/>
          <p:cNvSpPr/>
          <p:nvPr/>
        </p:nvSpPr>
        <p:spPr>
          <a:xfrm>
            <a:off x="594360" y="4160520"/>
            <a:ext cx="126644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9" name="Text 6"/>
          <p:cNvSpPr txBox="1"/>
          <p:nvPr/>
        </p:nvSpPr>
        <p:spPr>
          <a:xfrm>
            <a:off x="594360" y="4160520"/>
            <a:ext cx="126644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~22 MINUTES</a:t>
            </a:r>
            <a:endParaRPr lang="en-US" sz="850" dirty="0"/>
          </a:p>
        </p:txBody>
      </p:sp>
      <p:sp>
        <p:nvSpPr>
          <p:cNvPr id="10" name="Shape 7"/>
          <p:cNvSpPr/>
          <p:nvPr/>
        </p:nvSpPr>
        <p:spPr>
          <a:xfrm>
            <a:off x="594360" y="4892040"/>
            <a:ext cx="11002975" cy="640080"/>
          </a:xfrm>
          <a:prstGeom prst="roundRect">
            <a:avLst>
              <a:gd name="adj" fmla="val 14286"/>
            </a:avLst>
          </a:prstGeom>
          <a:solidFill>
            <a:srgbClr val="0B2A33">
              <a:alpha val="90000"/>
            </a:srgbClr>
          </a:solidFill>
          <a:ln w="9525">
            <a:solidFill>
              <a:srgbClr val="1E4A55"/>
            </a:solidFill>
            <a:prstDash val="solid"/>
          </a:ln>
        </p:spPr>
        <p:txBody>
          <a:bodyPr/>
          <a:lstStyle/>
          <a:p>
            <a:endParaRPr lang="en-US"/>
          </a:p>
        </p:txBody>
      </p:sp>
      <p:sp>
        <p:nvSpPr>
          <p:cNvPr id="11" name="Text 8"/>
          <p:cNvSpPr txBox="1"/>
          <p:nvPr/>
        </p:nvSpPr>
        <p:spPr>
          <a:xfrm>
            <a:off x="868680" y="4892040"/>
            <a:ext cx="10454335" cy="640080"/>
          </a:xfrm>
          <a:prstGeom prst="rect">
            <a:avLst/>
          </a:prstGeom>
          <a:noFill/>
          <a:ln/>
        </p:spPr>
        <p:txBody>
          <a:bodyPr wrap="square" lIns="0" tIns="0" rIns="0" bIns="0" rtlCol="0" anchor="ctr"/>
          <a:lstStyle/>
          <a:p>
            <a:pPr marL="0" indent="0">
              <a:buNone/>
            </a:pPr>
            <a:r>
              <a:rPr lang="en-US" sz="1250" dirty="0">
                <a:solidFill>
                  <a:srgbClr val="FFFFFF"/>
                </a:solidFill>
                <a:latin typeface="Geologica" pitchFamily="34" charset="0"/>
                <a:ea typeface="Geologica" pitchFamily="34" charset="-122"/>
                <a:cs typeface="Geologica" pitchFamily="34" charset="-120"/>
              </a:rPr>
              <a:t>Two lanes today. Lane A: GitHub Desktop + VS Code. Lane B: press the  .  key on the repo page and do the same steps in your browser.</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22</a:t>
            </a:r>
            <a:endParaRPr lang="en-US" sz="900" dirty="0"/>
          </a:p>
        </p:txBody>
      </p:sp>
      <p:sp>
        <p:nvSpPr>
          <p:cNvPr id="4" name="Shape 1"/>
          <p:cNvSpPr/>
          <p:nvPr/>
        </p:nvSpPr>
        <p:spPr>
          <a:xfrm>
            <a:off x="594360" y="502920"/>
            <a:ext cx="251002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251002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2 · STEPS 2.1 AND 2.2</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4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Confirm access, then clone</a:t>
            </a:r>
            <a:endParaRPr lang="en-US" sz="3000" dirty="0"/>
          </a:p>
        </p:txBody>
      </p:sp>
      <p:sp>
        <p:nvSpPr>
          <p:cNvPr id="9" name="Shape 6"/>
          <p:cNvSpPr/>
          <p:nvPr/>
        </p:nvSpPr>
        <p:spPr>
          <a:xfrm>
            <a:off x="594360" y="1874520"/>
            <a:ext cx="6583680" cy="3337560"/>
          </a:xfrm>
          <a:prstGeom prst="roundRect">
            <a:avLst>
              <a:gd name="adj" fmla="val 3288"/>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57400"/>
            <a:ext cx="612648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DO THIS</a:t>
            </a:r>
            <a:endParaRPr lang="en-US" sz="850" dirty="0"/>
          </a:p>
        </p:txBody>
      </p:sp>
      <p:sp>
        <p:nvSpPr>
          <p:cNvPr id="11" name="Shape 8"/>
          <p:cNvSpPr/>
          <p:nvPr/>
        </p:nvSpPr>
        <p:spPr>
          <a:xfrm>
            <a:off x="822960"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2" name="Text 9"/>
          <p:cNvSpPr txBox="1"/>
          <p:nvPr/>
        </p:nvSpPr>
        <p:spPr>
          <a:xfrm>
            <a:off x="822960"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3" name="Text 10"/>
          <p:cNvSpPr txBox="1"/>
          <p:nvPr/>
        </p:nvSpPr>
        <p:spPr>
          <a:xfrm>
            <a:off x="1216152" y="23682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GitHub Desktop → File → Clone repository → GitHub.com tab</a:t>
            </a:r>
            <a:endParaRPr lang="en-US" sz="1200" dirty="0"/>
          </a:p>
        </p:txBody>
      </p:sp>
      <p:sp>
        <p:nvSpPr>
          <p:cNvPr id="14" name="Shape 11"/>
          <p:cNvSpPr/>
          <p:nvPr/>
        </p:nvSpPr>
        <p:spPr>
          <a:xfrm>
            <a:off x="822960" y="28620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5" name="Text 12"/>
          <p:cNvSpPr txBox="1"/>
          <p:nvPr/>
        </p:nvSpPr>
        <p:spPr>
          <a:xfrm>
            <a:off x="822960" y="28620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6" name="Text 13"/>
          <p:cNvSpPr txBox="1"/>
          <p:nvPr/>
        </p:nvSpPr>
        <p:spPr>
          <a:xfrm>
            <a:off x="1216152" y="28254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Find your partner's repo in the list. Not there? Stop: you have not accepted the invite (1.6)</a:t>
            </a:r>
            <a:endParaRPr lang="en-US" sz="1200" dirty="0"/>
          </a:p>
        </p:txBody>
      </p:sp>
      <p:sp>
        <p:nvSpPr>
          <p:cNvPr id="17" name="Shape 14"/>
          <p:cNvSpPr/>
          <p:nvPr/>
        </p:nvSpPr>
        <p:spPr>
          <a:xfrm>
            <a:off x="822960" y="33192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8" name="Text 15"/>
          <p:cNvSpPr txBox="1"/>
          <p:nvPr/>
        </p:nvSpPr>
        <p:spPr>
          <a:xfrm>
            <a:off x="822960" y="33192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19" name="Text 16"/>
          <p:cNvSpPr txBox="1"/>
          <p:nvPr/>
        </p:nvSpPr>
        <p:spPr>
          <a:xfrm>
            <a:off x="1216152" y="32826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Pick a folder (Documents is fine) → Clone</a:t>
            </a:r>
            <a:endParaRPr lang="en-US" sz="1200" dirty="0"/>
          </a:p>
        </p:txBody>
      </p:sp>
      <p:sp>
        <p:nvSpPr>
          <p:cNvPr id="20" name="Shape 17"/>
          <p:cNvSpPr/>
          <p:nvPr/>
        </p:nvSpPr>
        <p:spPr>
          <a:xfrm>
            <a:off x="822960" y="37764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1" name="Text 18"/>
          <p:cNvSpPr txBox="1"/>
          <p:nvPr/>
        </p:nvSpPr>
        <p:spPr>
          <a:xfrm>
            <a:off x="822960" y="37764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22" name="Text 19"/>
          <p:cNvSpPr txBox="1"/>
          <p:nvPr/>
        </p:nvSpPr>
        <p:spPr>
          <a:xfrm>
            <a:off x="1216152" y="37398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Confirm the repo name is in Desktop's top-left</a:t>
            </a:r>
            <a:endParaRPr lang="en-US" sz="1200" dirty="0"/>
          </a:p>
        </p:txBody>
      </p:sp>
      <p:sp>
        <p:nvSpPr>
          <p:cNvPr id="23" name="Shape 20"/>
          <p:cNvSpPr/>
          <p:nvPr/>
        </p:nvSpPr>
        <p:spPr>
          <a:xfrm>
            <a:off x="7452360" y="1874520"/>
            <a:ext cx="4144975" cy="1243584"/>
          </a:xfrm>
          <a:prstGeom prst="roundRect">
            <a:avLst>
              <a:gd name="adj" fmla="val 8824"/>
            </a:avLst>
          </a:prstGeom>
          <a:solidFill>
            <a:srgbClr val="0F2831">
              <a:alpha val="88000"/>
            </a:srgbClr>
          </a:solidFill>
          <a:ln w="9525">
            <a:solidFill>
              <a:srgbClr val="1E4A55"/>
            </a:solidFill>
            <a:prstDash val="solid"/>
          </a:ln>
        </p:spPr>
        <p:txBody>
          <a:bodyPr/>
          <a:lstStyle/>
          <a:p>
            <a:endParaRPr lang="en-US"/>
          </a:p>
        </p:txBody>
      </p:sp>
      <p:sp>
        <p:nvSpPr>
          <p:cNvPr id="24" name="Text 21"/>
          <p:cNvSpPr txBox="1"/>
          <p:nvPr/>
        </p:nvSpPr>
        <p:spPr>
          <a:xfrm>
            <a:off x="7680960" y="2057400"/>
            <a:ext cx="3687775"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YOU'RE DONE WHEN</a:t>
            </a:r>
            <a:endParaRPr lang="en-US" sz="850" dirty="0"/>
          </a:p>
        </p:txBody>
      </p:sp>
      <p:sp>
        <p:nvSpPr>
          <p:cNvPr id="25" name="Text 22"/>
          <p:cNvSpPr txBox="1"/>
          <p:nvPr/>
        </p:nvSpPr>
        <p:spPr>
          <a:xfrm>
            <a:off x="7680960" y="2386584"/>
            <a:ext cx="3687775" cy="594360"/>
          </a:xfrm>
          <a:prstGeom prst="rect">
            <a:avLst/>
          </a:prstGeom>
          <a:noFill/>
          <a:ln/>
        </p:spPr>
        <p:txBody>
          <a:bodyPr wrap="square" lIns="0" tIns="0" rIns="0" bIns="0" rtlCol="0" anchor="t"/>
          <a:lstStyle/>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Desktop shows your partner's repo name in the top-left and the current branch reads main.</a:t>
            </a:r>
            <a:endParaRPr lang="en-US" sz="1100" dirty="0"/>
          </a:p>
          <a:p>
            <a:pPr marL="0" indent="0">
              <a:spcAft>
                <a:spcPts val="600"/>
              </a:spcAft>
              <a:buNone/>
            </a:pPr>
            <a:endParaRPr lang="en-US" sz="1100" dirty="0"/>
          </a:p>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You now have the whole project, history included, on your machine.</a:t>
            </a:r>
            <a:endParaRPr lang="en-US" sz="1100" dirty="0"/>
          </a:p>
        </p:txBody>
      </p:sp>
      <p:sp>
        <p:nvSpPr>
          <p:cNvPr id="26" name="Shape 23"/>
          <p:cNvSpPr/>
          <p:nvPr/>
        </p:nvSpPr>
        <p:spPr>
          <a:xfrm>
            <a:off x="7452360" y="3346704"/>
            <a:ext cx="4144975" cy="1865376"/>
          </a:xfrm>
          <a:prstGeom prst="roundRect">
            <a:avLst>
              <a:gd name="adj" fmla="val 5882"/>
            </a:avLst>
          </a:prstGeom>
          <a:solidFill>
            <a:srgbClr val="0F2831">
              <a:alpha val="88000"/>
            </a:srgbClr>
          </a:solidFill>
          <a:ln w="9525">
            <a:solidFill>
              <a:srgbClr val="1E4A55"/>
            </a:solidFill>
            <a:prstDash val="solid"/>
          </a:ln>
        </p:spPr>
        <p:txBody>
          <a:bodyPr/>
          <a:lstStyle/>
          <a:p>
            <a:endParaRPr lang="en-US"/>
          </a:p>
        </p:txBody>
      </p:sp>
      <p:sp>
        <p:nvSpPr>
          <p:cNvPr id="27" name="Text 24"/>
          <p:cNvSpPr txBox="1"/>
          <p:nvPr/>
        </p:nvSpPr>
        <p:spPr>
          <a:xfrm>
            <a:off x="7680960" y="3529584"/>
            <a:ext cx="3687775"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IF YOU'RE STUCK</a:t>
            </a:r>
            <a:endParaRPr lang="en-US" sz="850" dirty="0"/>
          </a:p>
        </p:txBody>
      </p:sp>
      <p:sp>
        <p:nvSpPr>
          <p:cNvPr id="28" name="Text 25"/>
          <p:cNvSpPr txBox="1"/>
          <p:nvPr/>
        </p:nvSpPr>
        <p:spPr>
          <a:xfrm>
            <a:off x="7680960" y="3858768"/>
            <a:ext cx="3687775" cy="1216152"/>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Repo not in the list after accepting: click the refresh icon, or sign out and in under Preferences → Accounts.</a:t>
            </a:r>
            <a:endParaRPr lang="en-US" sz="1050" dirty="0"/>
          </a:p>
          <a:p>
            <a:pPr marL="0" indent="0">
              <a:spcAft>
                <a:spcPts val="600"/>
              </a:spcAft>
              <a:buNone/>
            </a:pPr>
            <a:endParaRPr lang="en-US" sz="1050" dirty="0"/>
          </a:p>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Desktop asks "How are you planning to use this fork?": you cloned a fork. Remove it and clone the original from the GitHub.com tab.</a:t>
            </a:r>
            <a:endParaRPr lang="en-US" sz="1050" dirty="0"/>
          </a:p>
        </p:txBody>
      </p:sp>
      <p:sp>
        <p:nvSpPr>
          <p:cNvPr id="29" name="Shape 26"/>
          <p:cNvSpPr/>
          <p:nvPr/>
        </p:nvSpPr>
        <p:spPr>
          <a:xfrm>
            <a:off x="594360" y="5394960"/>
            <a:ext cx="11002975" cy="457200"/>
          </a:xfrm>
          <a:prstGeom prst="roundRect">
            <a:avLst>
              <a:gd name="adj" fmla="val 20000"/>
            </a:avLst>
          </a:prstGeom>
          <a:solidFill>
            <a:srgbClr val="00141B">
              <a:alpha val="80000"/>
            </a:srgbClr>
          </a:solidFill>
          <a:ln w="9525">
            <a:solidFill>
              <a:srgbClr val="2A5A66"/>
            </a:solidFill>
            <a:prstDash val="dash"/>
          </a:ln>
        </p:spPr>
        <p:txBody>
          <a:bodyPr/>
          <a:lstStyle/>
          <a:p>
            <a:endParaRPr lang="en-US"/>
          </a:p>
        </p:txBody>
      </p:sp>
      <p:sp>
        <p:nvSpPr>
          <p:cNvPr id="30" name="Text 27"/>
          <p:cNvSpPr txBox="1"/>
          <p:nvPr/>
        </p:nvSpPr>
        <p:spPr>
          <a:xfrm>
            <a:off x="868680" y="5394960"/>
            <a:ext cx="10454335"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LANE B · BROWSER  </a:t>
            </a:r>
            <a:r>
              <a:rPr lang="en-US" sz="1100" dirty="0">
                <a:solidFill>
                  <a:srgbClr val="E4EEF1"/>
                </a:solidFill>
                <a:latin typeface="Geologica" pitchFamily="34" charset="0"/>
                <a:ea typeface="Geologica" pitchFamily="34" charset="-122"/>
                <a:cs typeface="Geologica" pitchFamily="34" charset="-120"/>
              </a:rPr>
              <a:t>Open your partner's repo on GitHub.com and press the  .  key. github.dev opens with the project loaded. Nothing to clone.</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23</a:t>
            </a:r>
            <a:endParaRPr lang="en-US" sz="900" dirty="0"/>
          </a:p>
        </p:txBody>
      </p:sp>
      <p:sp>
        <p:nvSpPr>
          <p:cNvPr id="4" name="Shape 1"/>
          <p:cNvSpPr/>
          <p:nvPr/>
        </p:nvSpPr>
        <p:spPr>
          <a:xfrm>
            <a:off x="594360" y="502920"/>
            <a:ext cx="18105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8105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2 · STEP 2.3</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2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Branch before anything else</a:t>
            </a:r>
            <a:endParaRPr lang="en-US" sz="3000" dirty="0"/>
          </a:p>
        </p:txBody>
      </p:sp>
      <p:sp>
        <p:nvSpPr>
          <p:cNvPr id="9" name="Shape 6"/>
          <p:cNvSpPr/>
          <p:nvPr/>
        </p:nvSpPr>
        <p:spPr>
          <a:xfrm>
            <a:off x="594360" y="1874520"/>
            <a:ext cx="6583680" cy="2880360"/>
          </a:xfrm>
          <a:prstGeom prst="roundRect">
            <a:avLst>
              <a:gd name="adj" fmla="val 3810"/>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57400"/>
            <a:ext cx="612648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DO THIS</a:t>
            </a:r>
            <a:endParaRPr lang="en-US" sz="850" dirty="0"/>
          </a:p>
        </p:txBody>
      </p:sp>
      <p:sp>
        <p:nvSpPr>
          <p:cNvPr id="11" name="Shape 8"/>
          <p:cNvSpPr/>
          <p:nvPr/>
        </p:nvSpPr>
        <p:spPr>
          <a:xfrm>
            <a:off x="822960"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2" name="Text 9"/>
          <p:cNvSpPr txBox="1"/>
          <p:nvPr/>
        </p:nvSpPr>
        <p:spPr>
          <a:xfrm>
            <a:off x="822960"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3" name="Text 10"/>
          <p:cNvSpPr txBox="1"/>
          <p:nvPr/>
        </p:nvSpPr>
        <p:spPr>
          <a:xfrm>
            <a:off x="1216152" y="2368296"/>
            <a:ext cx="5715000" cy="50292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Current Branch (top bar) → New Branch</a:t>
            </a:r>
            <a:endParaRPr lang="en-US" sz="1200" dirty="0"/>
          </a:p>
        </p:txBody>
      </p:sp>
      <p:sp>
        <p:nvSpPr>
          <p:cNvPr id="14" name="Shape 11"/>
          <p:cNvSpPr/>
          <p:nvPr/>
        </p:nvSpPr>
        <p:spPr>
          <a:xfrm>
            <a:off x="822960" y="290779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5" name="Text 12"/>
          <p:cNvSpPr txBox="1"/>
          <p:nvPr/>
        </p:nvSpPr>
        <p:spPr>
          <a:xfrm>
            <a:off x="822960" y="290779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6" name="Text 13"/>
          <p:cNvSpPr txBox="1"/>
          <p:nvPr/>
        </p:nvSpPr>
        <p:spPr>
          <a:xfrm>
            <a:off x="1216152" y="2871216"/>
            <a:ext cx="5715000" cy="50292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Name it feature/&lt;yourname&gt;-edit</a:t>
            </a:r>
            <a:endParaRPr lang="en-US" sz="1200" dirty="0"/>
          </a:p>
        </p:txBody>
      </p:sp>
      <p:sp>
        <p:nvSpPr>
          <p:cNvPr id="17" name="Shape 14"/>
          <p:cNvSpPr/>
          <p:nvPr/>
        </p:nvSpPr>
        <p:spPr>
          <a:xfrm>
            <a:off x="822960" y="341071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8" name="Text 15"/>
          <p:cNvSpPr txBox="1"/>
          <p:nvPr/>
        </p:nvSpPr>
        <p:spPr>
          <a:xfrm>
            <a:off x="822960" y="341071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19" name="Text 16"/>
          <p:cNvSpPr txBox="1"/>
          <p:nvPr/>
        </p:nvSpPr>
        <p:spPr>
          <a:xfrm>
            <a:off x="1216152" y="3374136"/>
            <a:ext cx="5715000" cy="50292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Create Branch</a:t>
            </a:r>
            <a:endParaRPr lang="en-US" sz="1200" dirty="0"/>
          </a:p>
        </p:txBody>
      </p:sp>
      <p:sp>
        <p:nvSpPr>
          <p:cNvPr id="20" name="Shape 17"/>
          <p:cNvSpPr/>
          <p:nvPr/>
        </p:nvSpPr>
        <p:spPr>
          <a:xfrm>
            <a:off x="822960" y="391363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1" name="Text 18"/>
          <p:cNvSpPr txBox="1"/>
          <p:nvPr/>
        </p:nvSpPr>
        <p:spPr>
          <a:xfrm>
            <a:off x="822960" y="391363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22" name="Text 19"/>
          <p:cNvSpPr txBox="1"/>
          <p:nvPr/>
        </p:nvSpPr>
        <p:spPr>
          <a:xfrm>
            <a:off x="1216152" y="3877056"/>
            <a:ext cx="5715000" cy="50292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Read the top bar out loud to your partner: it must show your branch, not main</a:t>
            </a:r>
            <a:endParaRPr lang="en-US" sz="1200" dirty="0"/>
          </a:p>
        </p:txBody>
      </p:sp>
      <p:sp>
        <p:nvSpPr>
          <p:cNvPr id="23" name="Text 20"/>
          <p:cNvSpPr txBox="1"/>
          <p:nvPr/>
        </p:nvSpPr>
        <p:spPr>
          <a:xfrm>
            <a:off x="7452360" y="1874520"/>
            <a:ext cx="4142232" cy="274320"/>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WHAT THE TOP BAR SHOULD LOOK LIKE</a:t>
            </a:r>
            <a:endParaRPr lang="en-US" sz="850" dirty="0"/>
          </a:p>
        </p:txBody>
      </p:sp>
      <p:sp>
        <p:nvSpPr>
          <p:cNvPr id="24" name="Shape 21"/>
          <p:cNvSpPr/>
          <p:nvPr/>
        </p:nvSpPr>
        <p:spPr>
          <a:xfrm>
            <a:off x="7452360" y="2286000"/>
            <a:ext cx="4142232" cy="685800"/>
          </a:xfrm>
          <a:prstGeom prst="roundRect">
            <a:avLst>
              <a:gd name="adj" fmla="val 8000"/>
            </a:avLst>
          </a:prstGeom>
          <a:solidFill>
            <a:srgbClr val="1B1F23"/>
          </a:solidFill>
          <a:ln w="15875">
            <a:solidFill>
              <a:srgbClr val="3FC9D4"/>
            </a:solidFill>
            <a:prstDash val="solid"/>
          </a:ln>
        </p:spPr>
        <p:txBody>
          <a:bodyPr/>
          <a:lstStyle/>
          <a:p>
            <a:endParaRPr lang="en-US"/>
          </a:p>
        </p:txBody>
      </p:sp>
      <p:sp>
        <p:nvSpPr>
          <p:cNvPr id="25" name="Text 22"/>
          <p:cNvSpPr txBox="1"/>
          <p:nvPr/>
        </p:nvSpPr>
        <p:spPr>
          <a:xfrm>
            <a:off x="7680960" y="2286000"/>
            <a:ext cx="2862072" cy="685800"/>
          </a:xfrm>
          <a:prstGeom prst="rect">
            <a:avLst/>
          </a:prstGeom>
          <a:noFill/>
          <a:ln/>
        </p:spPr>
        <p:txBody>
          <a:bodyPr wrap="square" lIns="0" tIns="0" rIns="0" bIns="0" rtlCol="0" anchor="ctr"/>
          <a:lstStyle/>
          <a:p>
            <a:pPr marL="0" indent="0">
              <a:buNone/>
            </a:pPr>
            <a:r>
              <a:rPr lang="en-US" sz="850" dirty="0">
                <a:solidFill>
                  <a:srgbClr val="9AA5AD"/>
                </a:solidFill>
                <a:latin typeface="Geologica" pitchFamily="34" charset="0"/>
                <a:ea typeface="Geologica" pitchFamily="34" charset="-122"/>
                <a:cs typeface="Geologica" pitchFamily="34" charset="-120"/>
              </a:rPr>
              <a:t>Current Branch</a:t>
            </a:r>
            <a:endParaRPr lang="en-US" sz="850" dirty="0"/>
          </a:p>
          <a:p>
            <a:pPr marL="0" indent="0">
              <a:buNone/>
            </a:pPr>
            <a:r>
              <a:rPr lang="en-US" sz="1300" b="1" dirty="0">
                <a:solidFill>
                  <a:srgbClr val="3FC9D4"/>
                </a:solidFill>
                <a:latin typeface="Geologica" pitchFamily="34" charset="0"/>
                <a:ea typeface="Geologica" pitchFamily="34" charset="-122"/>
                <a:cs typeface="Geologica" pitchFamily="34" charset="-120"/>
              </a:rPr>
              <a:t>feature/maria-edit</a:t>
            </a:r>
            <a:endParaRPr lang="en-US" sz="850" dirty="0"/>
          </a:p>
        </p:txBody>
      </p:sp>
      <p:sp>
        <p:nvSpPr>
          <p:cNvPr id="26" name="Text 23"/>
          <p:cNvSpPr txBox="1"/>
          <p:nvPr/>
        </p:nvSpPr>
        <p:spPr>
          <a:xfrm>
            <a:off x="10543032" y="2450592"/>
            <a:ext cx="822960" cy="365760"/>
          </a:xfrm>
          <a:prstGeom prst="rect">
            <a:avLst/>
          </a:prstGeom>
          <a:solidFill>
            <a:srgbClr val="0094A0"/>
          </a:solidFill>
          <a:ln/>
        </p:spPr>
        <p:txBody>
          <a:bodyPr wrap="square" lIns="0" tIns="0" rIns="0" bIns="0" rtlCol="0" anchor="ctr"/>
          <a:lstStyle/>
          <a:p>
            <a:pPr marL="0" indent="0" algn="ctr">
              <a:buNone/>
            </a:pPr>
            <a:r>
              <a:rPr lang="en-US" sz="1100" b="1" dirty="0">
                <a:solidFill>
                  <a:srgbClr val="FFFFFF"/>
                </a:solidFill>
                <a:latin typeface="Geologica" pitchFamily="34" charset="0"/>
                <a:ea typeface="Geologica" pitchFamily="34" charset="-122"/>
                <a:cs typeface="Geologica" pitchFamily="34" charset="-120"/>
              </a:rPr>
              <a:t>GO</a:t>
            </a:r>
            <a:endParaRPr lang="en-US" sz="1100" dirty="0"/>
          </a:p>
        </p:txBody>
      </p:sp>
      <p:sp>
        <p:nvSpPr>
          <p:cNvPr id="27" name="Shape 24"/>
          <p:cNvSpPr/>
          <p:nvPr/>
        </p:nvSpPr>
        <p:spPr>
          <a:xfrm>
            <a:off x="7452360" y="3154680"/>
            <a:ext cx="4142232" cy="685800"/>
          </a:xfrm>
          <a:prstGeom prst="roundRect">
            <a:avLst>
              <a:gd name="adj" fmla="val 8000"/>
            </a:avLst>
          </a:prstGeom>
          <a:solidFill>
            <a:srgbClr val="1B1F23"/>
          </a:solidFill>
          <a:ln w="15875">
            <a:solidFill>
              <a:srgbClr val="E11D2A"/>
            </a:solidFill>
            <a:prstDash val="solid"/>
          </a:ln>
        </p:spPr>
        <p:txBody>
          <a:bodyPr/>
          <a:lstStyle/>
          <a:p>
            <a:endParaRPr lang="en-US"/>
          </a:p>
        </p:txBody>
      </p:sp>
      <p:sp>
        <p:nvSpPr>
          <p:cNvPr id="28" name="Text 25"/>
          <p:cNvSpPr txBox="1"/>
          <p:nvPr/>
        </p:nvSpPr>
        <p:spPr>
          <a:xfrm>
            <a:off x="7680960" y="3154680"/>
            <a:ext cx="2862072" cy="685800"/>
          </a:xfrm>
          <a:prstGeom prst="rect">
            <a:avLst/>
          </a:prstGeom>
          <a:noFill/>
          <a:ln/>
        </p:spPr>
        <p:txBody>
          <a:bodyPr wrap="square" lIns="0" tIns="0" rIns="0" bIns="0" rtlCol="0" anchor="ctr"/>
          <a:lstStyle/>
          <a:p>
            <a:pPr marL="0" indent="0">
              <a:buNone/>
            </a:pPr>
            <a:r>
              <a:rPr lang="en-US" sz="850" dirty="0">
                <a:solidFill>
                  <a:srgbClr val="9AA5AD"/>
                </a:solidFill>
                <a:latin typeface="Geologica" pitchFamily="34" charset="0"/>
                <a:ea typeface="Geologica" pitchFamily="34" charset="-122"/>
                <a:cs typeface="Geologica" pitchFamily="34" charset="-120"/>
              </a:rPr>
              <a:t>Current Branch</a:t>
            </a:r>
            <a:endParaRPr lang="en-US" sz="850" dirty="0"/>
          </a:p>
          <a:p>
            <a:pPr marL="0" indent="0">
              <a:buNone/>
            </a:pPr>
            <a:r>
              <a:rPr lang="en-US" sz="1300" b="1" dirty="0">
                <a:solidFill>
                  <a:srgbClr val="FF7B7B"/>
                </a:solidFill>
                <a:latin typeface="Geologica" pitchFamily="34" charset="0"/>
                <a:ea typeface="Geologica" pitchFamily="34" charset="-122"/>
                <a:cs typeface="Geologica" pitchFamily="34" charset="-120"/>
              </a:rPr>
              <a:t>main</a:t>
            </a:r>
            <a:endParaRPr lang="en-US" sz="850" dirty="0"/>
          </a:p>
        </p:txBody>
      </p:sp>
      <p:sp>
        <p:nvSpPr>
          <p:cNvPr id="29" name="Text 26"/>
          <p:cNvSpPr txBox="1"/>
          <p:nvPr/>
        </p:nvSpPr>
        <p:spPr>
          <a:xfrm>
            <a:off x="10543032" y="3319272"/>
            <a:ext cx="822960" cy="365760"/>
          </a:xfrm>
          <a:prstGeom prst="rect">
            <a:avLst/>
          </a:prstGeom>
          <a:solidFill>
            <a:srgbClr val="E11D2A"/>
          </a:solidFill>
          <a:ln/>
        </p:spPr>
        <p:txBody>
          <a:bodyPr wrap="square" lIns="0" tIns="0" rIns="0" bIns="0" rtlCol="0" anchor="ctr"/>
          <a:lstStyle/>
          <a:p>
            <a:pPr marL="0" indent="0" algn="ctr">
              <a:buNone/>
            </a:pPr>
            <a:r>
              <a:rPr lang="en-US" sz="1100" b="1" dirty="0">
                <a:solidFill>
                  <a:srgbClr val="FFFFFF"/>
                </a:solidFill>
                <a:latin typeface="Geologica" pitchFamily="34" charset="0"/>
                <a:ea typeface="Geologica" pitchFamily="34" charset="-122"/>
                <a:cs typeface="Geologica" pitchFamily="34" charset="-120"/>
              </a:rPr>
              <a:t>STOP</a:t>
            </a:r>
            <a:endParaRPr lang="en-US" sz="1100" dirty="0"/>
          </a:p>
        </p:txBody>
      </p:sp>
      <p:sp>
        <p:nvSpPr>
          <p:cNvPr id="30" name="Text 27"/>
          <p:cNvSpPr txBox="1"/>
          <p:nvPr/>
        </p:nvSpPr>
        <p:spPr>
          <a:xfrm>
            <a:off x="7452360" y="3977640"/>
            <a:ext cx="4142232" cy="731520"/>
          </a:xfrm>
          <a:prstGeom prst="rect">
            <a:avLst/>
          </a:prstGeom>
          <a:noFill/>
          <a:ln/>
        </p:spPr>
        <p:txBody>
          <a:bodyPr wrap="square" lIns="0" tIns="0" rIns="0" bIns="0" rtlCol="0" anchor="ctr"/>
          <a:lstStyle/>
          <a:p>
            <a:pPr marL="0" indent="0">
              <a:buNone/>
            </a:pPr>
            <a:r>
              <a:rPr lang="en-US" sz="1100" dirty="0">
                <a:solidFill>
                  <a:srgbClr val="E4EEF1"/>
                </a:solidFill>
                <a:latin typeface="Geologica" pitchFamily="34" charset="0"/>
                <a:ea typeface="Geologica" pitchFamily="34" charset="-122"/>
                <a:cs typeface="Geologica" pitchFamily="34" charset="-120"/>
              </a:rPr>
              <a:t>If it says main, nothing you type is safe yet. Make the branch first; it takes ten seconds.</a:t>
            </a:r>
            <a:endParaRPr lang="en-US" sz="1100" dirty="0"/>
          </a:p>
        </p:txBody>
      </p:sp>
      <p:sp>
        <p:nvSpPr>
          <p:cNvPr id="31" name="Shape 28"/>
          <p:cNvSpPr/>
          <p:nvPr/>
        </p:nvSpPr>
        <p:spPr>
          <a:xfrm>
            <a:off x="594360" y="4937760"/>
            <a:ext cx="11002975" cy="457200"/>
          </a:xfrm>
          <a:prstGeom prst="roundRect">
            <a:avLst>
              <a:gd name="adj" fmla="val 20000"/>
            </a:avLst>
          </a:prstGeom>
          <a:solidFill>
            <a:srgbClr val="00141B">
              <a:alpha val="80000"/>
            </a:srgbClr>
          </a:solidFill>
          <a:ln w="9525">
            <a:solidFill>
              <a:srgbClr val="2A5A66"/>
            </a:solidFill>
            <a:prstDash val="dash"/>
          </a:ln>
        </p:spPr>
        <p:txBody>
          <a:bodyPr/>
          <a:lstStyle/>
          <a:p>
            <a:endParaRPr lang="en-US"/>
          </a:p>
        </p:txBody>
      </p:sp>
      <p:sp>
        <p:nvSpPr>
          <p:cNvPr id="32" name="Text 29"/>
          <p:cNvSpPr txBox="1"/>
          <p:nvPr/>
        </p:nvSpPr>
        <p:spPr>
          <a:xfrm>
            <a:off x="868680" y="4937760"/>
            <a:ext cx="10454335"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LANE B · BROWSER  </a:t>
            </a:r>
            <a:r>
              <a:rPr lang="en-US" sz="1100" dirty="0">
                <a:solidFill>
                  <a:srgbClr val="E4EEF1"/>
                </a:solidFill>
                <a:latin typeface="Geologica" pitchFamily="34" charset="0"/>
                <a:ea typeface="Geologica" pitchFamily="34" charset="-122"/>
                <a:cs typeface="Geologica" pitchFamily="34" charset="-120"/>
              </a:rPr>
              <a:t>In github.dev: click the branch name in the bottom-left status bar → Create new branch → feature/&lt;yourname&gt;-edit.</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24</a:t>
            </a:r>
            <a:endParaRPr lang="en-US" sz="900" dirty="0"/>
          </a:p>
        </p:txBody>
      </p:sp>
      <p:sp>
        <p:nvSpPr>
          <p:cNvPr id="4" name="Shape 1"/>
          <p:cNvSpPr/>
          <p:nvPr/>
        </p:nvSpPr>
        <p:spPr>
          <a:xfrm>
            <a:off x="594360" y="502920"/>
            <a:ext cx="251002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251002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2 · STEPS 2.4 AND 2.5</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3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Read the map, then find your target</a:t>
            </a:r>
            <a:endParaRPr lang="en-US" sz="3000" dirty="0"/>
          </a:p>
        </p:txBody>
      </p:sp>
      <p:sp>
        <p:nvSpPr>
          <p:cNvPr id="9" name="Shape 6"/>
          <p:cNvSpPr/>
          <p:nvPr/>
        </p:nvSpPr>
        <p:spPr>
          <a:xfrm>
            <a:off x="594360" y="1874520"/>
            <a:ext cx="5394960" cy="2926080"/>
          </a:xfrm>
          <a:prstGeom prst="roundRect">
            <a:avLst>
              <a:gd name="adj" fmla="val 3750"/>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57400"/>
            <a:ext cx="493776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2.4 · READ THE MAP</a:t>
            </a:r>
            <a:endParaRPr lang="en-US" sz="850" dirty="0"/>
          </a:p>
        </p:txBody>
      </p:sp>
      <p:sp>
        <p:nvSpPr>
          <p:cNvPr id="11" name="Shape 8"/>
          <p:cNvSpPr/>
          <p:nvPr/>
        </p:nvSpPr>
        <p:spPr>
          <a:xfrm>
            <a:off x="822960"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2" name="Text 9"/>
          <p:cNvSpPr txBox="1"/>
          <p:nvPr/>
        </p:nvSpPr>
        <p:spPr>
          <a:xfrm>
            <a:off x="822960"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3" name="Text 10"/>
          <p:cNvSpPr txBox="1"/>
          <p:nvPr/>
        </p:nvSpPr>
        <p:spPr>
          <a:xfrm>
            <a:off x="1216152" y="2368296"/>
            <a:ext cx="4526280" cy="530352"/>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In Desktop: Open in Visual Studio Code</a:t>
            </a:r>
            <a:endParaRPr lang="en-US" sz="1150" dirty="0"/>
          </a:p>
        </p:txBody>
      </p:sp>
      <p:sp>
        <p:nvSpPr>
          <p:cNvPr id="14" name="Shape 11"/>
          <p:cNvSpPr/>
          <p:nvPr/>
        </p:nvSpPr>
        <p:spPr>
          <a:xfrm>
            <a:off x="822960" y="2935224"/>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5" name="Text 12"/>
          <p:cNvSpPr txBox="1"/>
          <p:nvPr/>
        </p:nvSpPr>
        <p:spPr>
          <a:xfrm>
            <a:off x="822960" y="2935224"/>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6" name="Text 13"/>
          <p:cNvSpPr txBox="1"/>
          <p:nvPr/>
        </p:nvSpPr>
        <p:spPr>
          <a:xfrm>
            <a:off x="1216152" y="2898648"/>
            <a:ext cx="4526280" cy="530352"/>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File explorer → prompts/scaffold-prompt.md</a:t>
            </a:r>
            <a:endParaRPr lang="en-US" sz="1150" dirty="0"/>
          </a:p>
        </p:txBody>
      </p:sp>
      <p:sp>
        <p:nvSpPr>
          <p:cNvPr id="17" name="Shape 14"/>
          <p:cNvSpPr/>
          <p:nvPr/>
        </p:nvSpPr>
        <p:spPr>
          <a:xfrm>
            <a:off x="822960" y="3465576"/>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8" name="Text 15"/>
          <p:cNvSpPr txBox="1"/>
          <p:nvPr/>
        </p:nvSpPr>
        <p:spPr>
          <a:xfrm>
            <a:off x="822960" y="3465576"/>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19" name="Text 16"/>
          <p:cNvSpPr txBox="1"/>
          <p:nvPr/>
        </p:nvSpPr>
        <p:spPr>
          <a:xfrm>
            <a:off x="1216152" y="3429000"/>
            <a:ext cx="4526280" cy="530352"/>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This is the exact tagline, three items and hex codes your partner used</a:t>
            </a:r>
            <a:endParaRPr lang="en-US" sz="1150" dirty="0"/>
          </a:p>
        </p:txBody>
      </p:sp>
      <p:sp>
        <p:nvSpPr>
          <p:cNvPr id="20" name="Shape 17"/>
          <p:cNvSpPr/>
          <p:nvPr/>
        </p:nvSpPr>
        <p:spPr>
          <a:xfrm>
            <a:off x="822960" y="3995928"/>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1" name="Text 18"/>
          <p:cNvSpPr txBox="1"/>
          <p:nvPr/>
        </p:nvSpPr>
        <p:spPr>
          <a:xfrm>
            <a:off x="822960" y="3995928"/>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22" name="Text 19"/>
          <p:cNvSpPr txBox="1"/>
          <p:nvPr/>
        </p:nvSpPr>
        <p:spPr>
          <a:xfrm>
            <a:off x="1216152" y="3959352"/>
            <a:ext cx="4526280" cy="530352"/>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Copy the tagline text</a:t>
            </a:r>
            <a:endParaRPr lang="en-US" sz="1150" dirty="0"/>
          </a:p>
        </p:txBody>
      </p:sp>
      <p:sp>
        <p:nvSpPr>
          <p:cNvPr id="23" name="Shape 20"/>
          <p:cNvSpPr/>
          <p:nvPr/>
        </p:nvSpPr>
        <p:spPr>
          <a:xfrm>
            <a:off x="6199632" y="1874520"/>
            <a:ext cx="5394960" cy="2926080"/>
          </a:xfrm>
          <a:prstGeom prst="roundRect">
            <a:avLst>
              <a:gd name="adj" fmla="val 3750"/>
            </a:avLst>
          </a:prstGeom>
          <a:solidFill>
            <a:srgbClr val="0F2831">
              <a:alpha val="88000"/>
            </a:srgbClr>
          </a:solidFill>
          <a:ln w="9525">
            <a:solidFill>
              <a:srgbClr val="1E4A55"/>
            </a:solidFill>
            <a:prstDash val="solid"/>
          </a:ln>
        </p:spPr>
        <p:txBody>
          <a:bodyPr/>
          <a:lstStyle/>
          <a:p>
            <a:endParaRPr lang="en-US"/>
          </a:p>
        </p:txBody>
      </p:sp>
      <p:sp>
        <p:nvSpPr>
          <p:cNvPr id="24" name="Text 21"/>
          <p:cNvSpPr txBox="1"/>
          <p:nvPr/>
        </p:nvSpPr>
        <p:spPr>
          <a:xfrm>
            <a:off x="6428232" y="2057400"/>
            <a:ext cx="493776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2.5 · FIND YOUR TARGET</a:t>
            </a:r>
            <a:endParaRPr lang="en-US" sz="850" dirty="0"/>
          </a:p>
        </p:txBody>
      </p:sp>
      <p:sp>
        <p:nvSpPr>
          <p:cNvPr id="25" name="Text 22"/>
          <p:cNvSpPr txBox="1"/>
          <p:nvPr/>
        </p:nvSpPr>
        <p:spPr>
          <a:xfrm>
            <a:off x="6428232" y="2331720"/>
            <a:ext cx="4937760" cy="548640"/>
          </a:xfrm>
          <a:prstGeom prst="rect">
            <a:avLst/>
          </a:prstGeom>
          <a:noFill/>
          <a:ln/>
        </p:spPr>
        <p:txBody>
          <a:bodyPr wrap="square" lIns="0" tIns="0" rIns="0" bIns="0" rtlCol="0" anchor="ctr"/>
          <a:lstStyle/>
          <a:p>
            <a:pPr marL="0" indent="0">
              <a:buNone/>
            </a:pPr>
            <a:r>
              <a:rPr lang="en-US" sz="2600" b="1" dirty="0">
                <a:solidFill>
                  <a:srgbClr val="3FC9D4"/>
                </a:solidFill>
                <a:latin typeface="Courier New" pitchFamily="34" charset="0"/>
                <a:ea typeface="Courier New" pitchFamily="34" charset="-122"/>
                <a:cs typeface="Courier New" pitchFamily="34" charset="-120"/>
              </a:rPr>
              <a:t>Ctrl+Shift+F</a:t>
            </a:r>
            <a:endParaRPr lang="en-US" sz="2600" dirty="0"/>
          </a:p>
        </p:txBody>
      </p:sp>
      <p:sp>
        <p:nvSpPr>
          <p:cNvPr id="26" name="Text 23"/>
          <p:cNvSpPr txBox="1"/>
          <p:nvPr/>
        </p:nvSpPr>
        <p:spPr>
          <a:xfrm>
            <a:off x="6428232" y="2852928"/>
            <a:ext cx="4937760" cy="274320"/>
          </a:xfrm>
          <a:prstGeom prst="rect">
            <a:avLst/>
          </a:prstGeom>
          <a:noFill/>
          <a:ln/>
        </p:spPr>
        <p:txBody>
          <a:bodyPr wrap="square" lIns="0" tIns="0" rIns="0" bIns="0" rtlCol="0" anchor="ctr"/>
          <a:lstStyle/>
          <a:p>
            <a:pPr marL="0" indent="0">
              <a:buNone/>
            </a:pPr>
            <a:r>
              <a:rPr lang="en-US" sz="1050" dirty="0">
                <a:solidFill>
                  <a:srgbClr val="9FB4BB"/>
                </a:solidFill>
                <a:latin typeface="Geologica" pitchFamily="34" charset="0"/>
                <a:ea typeface="Geologica" pitchFamily="34" charset="-122"/>
                <a:cs typeface="Geologica" pitchFamily="34" charset="-120"/>
              </a:rPr>
              <a:t>Cmd+Shift+F on a Mac</a:t>
            </a:r>
            <a:endParaRPr lang="en-US" sz="1050" dirty="0"/>
          </a:p>
        </p:txBody>
      </p:sp>
      <p:sp>
        <p:nvSpPr>
          <p:cNvPr id="27" name="Text 24"/>
          <p:cNvSpPr txBox="1"/>
          <p:nvPr/>
        </p:nvSpPr>
        <p:spPr>
          <a:xfrm>
            <a:off x="6428232" y="3200400"/>
            <a:ext cx="4937760" cy="1463040"/>
          </a:xfrm>
          <a:prstGeom prst="rect">
            <a:avLst/>
          </a:prstGeom>
          <a:noFill/>
          <a:ln/>
        </p:spPr>
        <p:txBody>
          <a:bodyPr wrap="square" lIns="0" tIns="0" rIns="0" bIns="0" rtlCol="0" anchor="ctr"/>
          <a:lstStyle/>
          <a:p>
            <a:pPr marL="0" indent="0">
              <a:buNone/>
            </a:pPr>
            <a:r>
              <a:rPr lang="en-US" sz="1150" dirty="0">
                <a:solidFill>
                  <a:srgbClr val="E4EEF1"/>
                </a:solidFill>
                <a:latin typeface="Geologica" pitchFamily="34" charset="0"/>
                <a:ea typeface="Geologica" pitchFamily="34" charset="-122"/>
                <a:cs typeface="Geologica" pitchFamily="34" charset="-120"/>
              </a:rPr>
              <a:t>Project-wide search. Paste the tagline. VS Code shows the file and the line; it should be in index.html. This is the single most useful skill for working in code you did not write. You do not need to understand the file, only to find the line.</a:t>
            </a:r>
            <a:endParaRPr lang="en-US" sz="1150" dirty="0"/>
          </a:p>
        </p:txBody>
      </p:sp>
      <p:sp>
        <p:nvSpPr>
          <p:cNvPr id="28" name="Shape 25"/>
          <p:cNvSpPr/>
          <p:nvPr/>
        </p:nvSpPr>
        <p:spPr>
          <a:xfrm>
            <a:off x="594360" y="4983480"/>
            <a:ext cx="11002975" cy="457200"/>
          </a:xfrm>
          <a:prstGeom prst="roundRect">
            <a:avLst>
              <a:gd name="adj" fmla="val 20000"/>
            </a:avLst>
          </a:prstGeom>
          <a:solidFill>
            <a:srgbClr val="00141B">
              <a:alpha val="80000"/>
            </a:srgbClr>
          </a:solidFill>
          <a:ln w="9525">
            <a:solidFill>
              <a:srgbClr val="2A5A66"/>
            </a:solidFill>
            <a:prstDash val="dash"/>
          </a:ln>
        </p:spPr>
        <p:txBody>
          <a:bodyPr/>
          <a:lstStyle/>
          <a:p>
            <a:endParaRPr lang="en-US"/>
          </a:p>
        </p:txBody>
      </p:sp>
      <p:sp>
        <p:nvSpPr>
          <p:cNvPr id="29" name="Text 26"/>
          <p:cNvSpPr txBox="1"/>
          <p:nvPr/>
        </p:nvSpPr>
        <p:spPr>
          <a:xfrm>
            <a:off x="868680" y="4983480"/>
            <a:ext cx="10454335"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LANE B · BROWSER  </a:t>
            </a:r>
            <a:r>
              <a:rPr lang="en-US" sz="1100" dirty="0">
                <a:solidFill>
                  <a:srgbClr val="E4EEF1"/>
                </a:solidFill>
                <a:latin typeface="Geologica" pitchFamily="34" charset="0"/>
                <a:ea typeface="Geologica" pitchFamily="34" charset="-122"/>
                <a:cs typeface="Geologica" pitchFamily="34" charset="-120"/>
              </a:rPr>
              <a:t>github.dev: the same shortcut, Ctrl/Cmd+Shift+F, searches the whole repo in the browser.</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25</a:t>
            </a:r>
            <a:endParaRPr lang="en-US" sz="900" dirty="0"/>
          </a:p>
        </p:txBody>
      </p:sp>
      <p:sp>
        <p:nvSpPr>
          <p:cNvPr id="4" name="Shape 1"/>
          <p:cNvSpPr/>
          <p:nvPr/>
        </p:nvSpPr>
        <p:spPr>
          <a:xfrm>
            <a:off x="594360" y="502920"/>
            <a:ext cx="18105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8105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2 · STEP 2.6</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5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The change menu. Pick one.</a:t>
            </a:r>
            <a:endParaRPr lang="en-US" sz="3000" dirty="0"/>
          </a:p>
        </p:txBody>
      </p:sp>
      <p:sp>
        <p:nvSpPr>
          <p:cNvPr id="9" name="Text 6"/>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Finishing one clean change beats attempting an ambitious one. Beginners start at the top; comfortable folks reach lower.</a:t>
            </a:r>
            <a:endParaRPr lang="en-US" sz="1300" dirty="0"/>
          </a:p>
        </p:txBody>
      </p:sp>
      <p:sp>
        <p:nvSpPr>
          <p:cNvPr id="10" name="Shape 7"/>
          <p:cNvSpPr/>
          <p:nvPr/>
        </p:nvSpPr>
        <p:spPr>
          <a:xfrm>
            <a:off x="594360" y="2194560"/>
            <a:ext cx="11000232" cy="914400"/>
          </a:xfrm>
          <a:prstGeom prst="roundRect">
            <a:avLst>
              <a:gd name="adj" fmla="val 10000"/>
            </a:avLst>
          </a:prstGeom>
          <a:solidFill>
            <a:srgbClr val="0F2831">
              <a:alpha val="88000"/>
            </a:srgbClr>
          </a:solidFill>
          <a:ln w="9525">
            <a:solidFill>
              <a:srgbClr val="1E4A55"/>
            </a:solidFill>
            <a:prstDash val="solid"/>
          </a:ln>
        </p:spPr>
        <p:txBody>
          <a:bodyPr/>
          <a:lstStyle/>
          <a:p>
            <a:endParaRPr lang="en-US"/>
          </a:p>
        </p:txBody>
      </p:sp>
      <p:sp>
        <p:nvSpPr>
          <p:cNvPr id="11" name="Text 8"/>
          <p:cNvSpPr txBox="1"/>
          <p:nvPr/>
        </p:nvSpPr>
        <p:spPr>
          <a:xfrm>
            <a:off x="822960" y="2194560"/>
            <a:ext cx="914400" cy="914400"/>
          </a:xfrm>
          <a:prstGeom prst="rect">
            <a:avLst/>
          </a:prstGeom>
          <a:noFill/>
          <a:ln/>
        </p:spPr>
        <p:txBody>
          <a:bodyPr wrap="square" lIns="0" tIns="0" rIns="0" bIns="0" rtlCol="0" anchor="ctr"/>
          <a:lstStyle/>
          <a:p>
            <a:pPr marL="0" indent="0">
              <a:buNone/>
            </a:pPr>
            <a:r>
              <a:rPr lang="en-US" sz="1600" dirty="0">
                <a:solidFill>
                  <a:srgbClr val="F2C14E"/>
                </a:solidFill>
                <a:latin typeface="Geologica" pitchFamily="34" charset="0"/>
                <a:ea typeface="Geologica" pitchFamily="34" charset="-122"/>
                <a:cs typeface="Geologica" pitchFamily="34" charset="-120"/>
              </a:rPr>
              <a:t>★</a:t>
            </a:r>
            <a:endParaRPr lang="en-US" sz="1600" dirty="0"/>
          </a:p>
        </p:txBody>
      </p:sp>
      <p:sp>
        <p:nvSpPr>
          <p:cNvPr id="12" name="Text 9"/>
          <p:cNvSpPr txBox="1"/>
          <p:nvPr/>
        </p:nvSpPr>
        <p:spPr>
          <a:xfrm>
            <a:off x="1783080" y="2194560"/>
            <a:ext cx="2743200" cy="91440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Text swap</a:t>
            </a:r>
            <a:endParaRPr lang="en-US" sz="1400" dirty="0"/>
          </a:p>
        </p:txBody>
      </p:sp>
      <p:sp>
        <p:nvSpPr>
          <p:cNvPr id="13" name="Text 10"/>
          <p:cNvSpPr txBox="1"/>
          <p:nvPr/>
        </p:nvSpPr>
        <p:spPr>
          <a:xfrm>
            <a:off x="4617720" y="2194560"/>
            <a:ext cx="6748272" cy="914400"/>
          </a:xfrm>
          <a:prstGeom prst="rect">
            <a:avLst/>
          </a:prstGeom>
          <a:noFill/>
          <a:ln/>
        </p:spPr>
        <p:txBody>
          <a:bodyPr wrap="square" lIns="0" tIns="0" rIns="0" bIns="0" rtlCol="0" anchor="ctr"/>
          <a:lstStyle/>
          <a:p>
            <a:pPr marL="0" indent="0">
              <a:buNone/>
            </a:pPr>
            <a:r>
              <a:rPr lang="en-US" sz="1150" dirty="0">
                <a:solidFill>
                  <a:srgbClr val="E4EEF1"/>
                </a:solidFill>
                <a:latin typeface="Geologica" pitchFamily="34" charset="0"/>
                <a:ea typeface="Geologica" pitchFamily="34" charset="-122"/>
                <a:cs typeface="Geologica" pitchFamily="34" charset="-120"/>
              </a:rPr>
              <a:t>Change the tagline (or the quote) to something new. Save.</a:t>
            </a:r>
            <a:endParaRPr lang="en-US" sz="1150" dirty="0"/>
          </a:p>
        </p:txBody>
      </p:sp>
      <p:sp>
        <p:nvSpPr>
          <p:cNvPr id="14" name="Shape 11"/>
          <p:cNvSpPr/>
          <p:nvPr/>
        </p:nvSpPr>
        <p:spPr>
          <a:xfrm>
            <a:off x="594360" y="3218688"/>
            <a:ext cx="11000232" cy="914400"/>
          </a:xfrm>
          <a:prstGeom prst="roundRect">
            <a:avLst>
              <a:gd name="adj" fmla="val 10000"/>
            </a:avLst>
          </a:prstGeom>
          <a:solidFill>
            <a:srgbClr val="0F2831">
              <a:alpha val="88000"/>
            </a:srgbClr>
          </a:solidFill>
          <a:ln w="9525">
            <a:solidFill>
              <a:srgbClr val="1E4A55"/>
            </a:solidFill>
            <a:prstDash val="solid"/>
          </a:ln>
        </p:spPr>
        <p:txBody>
          <a:bodyPr/>
          <a:lstStyle/>
          <a:p>
            <a:endParaRPr lang="en-US"/>
          </a:p>
        </p:txBody>
      </p:sp>
      <p:sp>
        <p:nvSpPr>
          <p:cNvPr id="15" name="Text 12"/>
          <p:cNvSpPr txBox="1"/>
          <p:nvPr/>
        </p:nvSpPr>
        <p:spPr>
          <a:xfrm>
            <a:off x="822960" y="3218688"/>
            <a:ext cx="914400" cy="914400"/>
          </a:xfrm>
          <a:prstGeom prst="rect">
            <a:avLst/>
          </a:prstGeom>
          <a:noFill/>
          <a:ln/>
        </p:spPr>
        <p:txBody>
          <a:bodyPr wrap="square" lIns="0" tIns="0" rIns="0" bIns="0" rtlCol="0" anchor="ctr"/>
          <a:lstStyle/>
          <a:p>
            <a:pPr marL="0" indent="0">
              <a:buNone/>
            </a:pPr>
            <a:r>
              <a:rPr lang="en-US" sz="1600" dirty="0">
                <a:solidFill>
                  <a:srgbClr val="F2C14E"/>
                </a:solidFill>
                <a:latin typeface="Geologica" pitchFamily="34" charset="0"/>
                <a:ea typeface="Geologica" pitchFamily="34" charset="-122"/>
                <a:cs typeface="Geologica" pitchFamily="34" charset="-120"/>
              </a:rPr>
              <a:t>★★</a:t>
            </a:r>
            <a:endParaRPr lang="en-US" sz="1600" dirty="0"/>
          </a:p>
        </p:txBody>
      </p:sp>
      <p:sp>
        <p:nvSpPr>
          <p:cNvPr id="16" name="Text 13"/>
          <p:cNvSpPr txBox="1"/>
          <p:nvPr/>
        </p:nvSpPr>
        <p:spPr>
          <a:xfrm>
            <a:off x="1783080" y="3218688"/>
            <a:ext cx="2743200" cy="91440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Add a fourth item</a:t>
            </a:r>
            <a:endParaRPr lang="en-US" sz="1400" dirty="0"/>
          </a:p>
        </p:txBody>
      </p:sp>
      <p:sp>
        <p:nvSpPr>
          <p:cNvPr id="17" name="Text 14"/>
          <p:cNvSpPr txBox="1"/>
          <p:nvPr/>
        </p:nvSpPr>
        <p:spPr>
          <a:xfrm>
            <a:off x="4617720" y="3218688"/>
            <a:ext cx="6748272" cy="914400"/>
          </a:xfrm>
          <a:prstGeom prst="rect">
            <a:avLst/>
          </a:prstGeom>
          <a:noFill/>
          <a:ln/>
        </p:spPr>
        <p:txBody>
          <a:bodyPr wrap="square" lIns="0" tIns="0" rIns="0" bIns="0" rtlCol="0" anchor="ctr"/>
          <a:lstStyle/>
          <a:p>
            <a:pPr marL="0" indent="0">
              <a:buNone/>
            </a:pPr>
            <a:r>
              <a:rPr lang="en-US" sz="1150" dirty="0">
                <a:solidFill>
                  <a:srgbClr val="E4EEF1"/>
                </a:solidFill>
                <a:latin typeface="Geologica" pitchFamily="34" charset="0"/>
                <a:ea typeface="Geologica" pitchFamily="34" charset="-122"/>
                <a:cs typeface="Geologica" pitchFamily="34" charset="-120"/>
              </a:rPr>
              <a:t>In "What I'm Into Right Now", copy one whole item block from its opening tag to its closing tag, paste it below the third, change the text.</a:t>
            </a:r>
            <a:endParaRPr lang="en-US" sz="1150" dirty="0"/>
          </a:p>
        </p:txBody>
      </p:sp>
      <p:sp>
        <p:nvSpPr>
          <p:cNvPr id="18" name="Shape 15"/>
          <p:cNvSpPr/>
          <p:nvPr/>
        </p:nvSpPr>
        <p:spPr>
          <a:xfrm>
            <a:off x="594360" y="4242816"/>
            <a:ext cx="11000232" cy="914400"/>
          </a:xfrm>
          <a:prstGeom prst="roundRect">
            <a:avLst>
              <a:gd name="adj" fmla="val 10000"/>
            </a:avLst>
          </a:prstGeom>
          <a:solidFill>
            <a:srgbClr val="0E5A66"/>
          </a:solidFill>
          <a:ln w="9525">
            <a:solidFill>
              <a:srgbClr val="3FC9D4"/>
            </a:solidFill>
            <a:prstDash val="solid"/>
          </a:ln>
        </p:spPr>
        <p:txBody>
          <a:bodyPr/>
          <a:lstStyle/>
          <a:p>
            <a:endParaRPr lang="en-US"/>
          </a:p>
        </p:txBody>
      </p:sp>
      <p:sp>
        <p:nvSpPr>
          <p:cNvPr id="19" name="Text 16"/>
          <p:cNvSpPr txBox="1"/>
          <p:nvPr/>
        </p:nvSpPr>
        <p:spPr>
          <a:xfrm>
            <a:off x="822960" y="4242816"/>
            <a:ext cx="914400" cy="914400"/>
          </a:xfrm>
          <a:prstGeom prst="rect">
            <a:avLst/>
          </a:prstGeom>
          <a:noFill/>
          <a:ln/>
        </p:spPr>
        <p:txBody>
          <a:bodyPr wrap="square" lIns="0" tIns="0" rIns="0" bIns="0" rtlCol="0" anchor="ctr"/>
          <a:lstStyle/>
          <a:p>
            <a:pPr marL="0" indent="0">
              <a:buNone/>
            </a:pPr>
            <a:r>
              <a:rPr lang="en-US" sz="1600" dirty="0">
                <a:solidFill>
                  <a:srgbClr val="F2C14E"/>
                </a:solidFill>
                <a:latin typeface="Geologica" pitchFamily="34" charset="0"/>
                <a:ea typeface="Geologica" pitchFamily="34" charset="-122"/>
                <a:cs typeface="Geologica" pitchFamily="34" charset="-120"/>
              </a:rPr>
              <a:t>★★★</a:t>
            </a:r>
            <a:endParaRPr lang="en-US" sz="1600" dirty="0"/>
          </a:p>
        </p:txBody>
      </p:sp>
      <p:sp>
        <p:nvSpPr>
          <p:cNvPr id="20" name="Text 17"/>
          <p:cNvSpPr txBox="1"/>
          <p:nvPr/>
        </p:nvSpPr>
        <p:spPr>
          <a:xfrm>
            <a:off x="1783080" y="4242816"/>
            <a:ext cx="2743200" cy="91440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AI-assisted palette change</a:t>
            </a:r>
            <a:endParaRPr lang="en-US" sz="1400" dirty="0"/>
          </a:p>
        </p:txBody>
      </p:sp>
      <p:sp>
        <p:nvSpPr>
          <p:cNvPr id="21" name="Text 18"/>
          <p:cNvSpPr txBox="1"/>
          <p:nvPr/>
        </p:nvSpPr>
        <p:spPr>
          <a:xfrm>
            <a:off x="4617720" y="4242816"/>
            <a:ext cx="6748272" cy="914400"/>
          </a:xfrm>
          <a:prstGeom prst="rect">
            <a:avLst/>
          </a:prstGeom>
          <a:noFill/>
          <a:ln/>
        </p:spPr>
        <p:txBody>
          <a:bodyPr wrap="square" lIns="0" tIns="0" rIns="0" bIns="0" rtlCol="0" anchor="ctr"/>
          <a:lstStyle/>
          <a:p>
            <a:pPr marL="0" indent="0">
              <a:buNone/>
            </a:pPr>
            <a:r>
              <a:rPr lang="en-US" sz="1150" dirty="0">
                <a:solidFill>
                  <a:srgbClr val="E4EEF1"/>
                </a:solidFill>
                <a:latin typeface="Geologica" pitchFamily="34" charset="0"/>
                <a:ea typeface="Geologica" pitchFamily="34" charset="-122"/>
                <a:cs typeface="Geologica" pitchFamily="34" charset="-120"/>
              </a:rPr>
              <a:t>Find the three hex codes in the &lt;style&gt; block. Paste those lines into your AI assistant: "What do I change to shift this palette toward [mood]?" Make the change, then save the exchange as prompts/edit-1.md.</a:t>
            </a:r>
            <a:endParaRPr lang="en-US" sz="1150" dirty="0"/>
          </a:p>
        </p:txBody>
      </p:sp>
      <p:sp>
        <p:nvSpPr>
          <p:cNvPr id="22" name="Shape 19"/>
          <p:cNvSpPr/>
          <p:nvPr/>
        </p:nvSpPr>
        <p:spPr>
          <a:xfrm>
            <a:off x="594360" y="5257800"/>
            <a:ext cx="11002975" cy="502920"/>
          </a:xfrm>
          <a:prstGeom prst="roundRect">
            <a:avLst>
              <a:gd name="adj" fmla="val 18182"/>
            </a:avLst>
          </a:prstGeom>
          <a:solidFill>
            <a:srgbClr val="0B2A33">
              <a:alpha val="90000"/>
            </a:srgbClr>
          </a:solidFill>
          <a:ln w="9525">
            <a:solidFill>
              <a:srgbClr val="1E4A55"/>
            </a:solidFill>
            <a:prstDash val="solid"/>
          </a:ln>
        </p:spPr>
        <p:txBody>
          <a:bodyPr/>
          <a:lstStyle/>
          <a:p>
            <a:endParaRPr lang="en-US"/>
          </a:p>
        </p:txBody>
      </p:sp>
      <p:sp>
        <p:nvSpPr>
          <p:cNvPr id="23" name="Text 20"/>
          <p:cNvSpPr txBox="1"/>
          <p:nvPr/>
        </p:nvSpPr>
        <p:spPr>
          <a:xfrm>
            <a:off x="868680" y="5257800"/>
            <a:ext cx="10454335" cy="502920"/>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Save with Ctrl/Cmd+S. </a:t>
            </a:r>
            <a:r>
              <a:rPr lang="en-US" sz="1150" dirty="0">
                <a:solidFill>
                  <a:srgbClr val="FFFFFF"/>
                </a:solidFill>
                <a:latin typeface="Geologica" pitchFamily="34" charset="0"/>
                <a:ea typeface="Geologica" pitchFamily="34" charset="-122"/>
                <a:cs typeface="Geologica" pitchFamily="34" charset="-120"/>
              </a:rPr>
              <a:t>You are done when GitHub Desktop lists the file you changed, with green and red lines in the diff.</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26</a:t>
            </a:r>
            <a:endParaRPr lang="en-US" sz="900" dirty="0"/>
          </a:p>
        </p:txBody>
      </p:sp>
      <p:sp>
        <p:nvSpPr>
          <p:cNvPr id="4" name="Shape 1"/>
          <p:cNvSpPr/>
          <p:nvPr/>
        </p:nvSpPr>
        <p:spPr>
          <a:xfrm>
            <a:off x="594360" y="502920"/>
            <a:ext cx="251002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251002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2 · STEPS 2.7 AND 2.8</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3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Commit with context, then publish the branch</a:t>
            </a:r>
            <a:endParaRPr lang="en-US" sz="3000" dirty="0"/>
          </a:p>
        </p:txBody>
      </p:sp>
      <p:sp>
        <p:nvSpPr>
          <p:cNvPr id="9" name="Shape 6"/>
          <p:cNvSpPr/>
          <p:nvPr/>
        </p:nvSpPr>
        <p:spPr>
          <a:xfrm>
            <a:off x="594360" y="1874520"/>
            <a:ext cx="6583680" cy="3337560"/>
          </a:xfrm>
          <a:prstGeom prst="roundRect">
            <a:avLst>
              <a:gd name="adj" fmla="val 3288"/>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57400"/>
            <a:ext cx="612648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DO THIS</a:t>
            </a:r>
            <a:endParaRPr lang="en-US" sz="850" dirty="0"/>
          </a:p>
        </p:txBody>
      </p:sp>
      <p:sp>
        <p:nvSpPr>
          <p:cNvPr id="11" name="Shape 8"/>
          <p:cNvSpPr/>
          <p:nvPr/>
        </p:nvSpPr>
        <p:spPr>
          <a:xfrm>
            <a:off x="822960"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2" name="Text 9"/>
          <p:cNvSpPr txBox="1"/>
          <p:nvPr/>
        </p:nvSpPr>
        <p:spPr>
          <a:xfrm>
            <a:off x="822960"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3" name="Text 10"/>
          <p:cNvSpPr txBox="1"/>
          <p:nvPr/>
        </p:nvSpPr>
        <p:spPr>
          <a:xfrm>
            <a:off x="1216152" y="23682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In Desktop, read the diff on the right: green added, red removed</a:t>
            </a:r>
            <a:endParaRPr lang="en-US" sz="1200" dirty="0"/>
          </a:p>
        </p:txBody>
      </p:sp>
      <p:sp>
        <p:nvSpPr>
          <p:cNvPr id="14" name="Shape 11"/>
          <p:cNvSpPr/>
          <p:nvPr/>
        </p:nvSpPr>
        <p:spPr>
          <a:xfrm>
            <a:off x="822960" y="28620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5" name="Text 12"/>
          <p:cNvSpPr txBox="1"/>
          <p:nvPr/>
        </p:nvSpPr>
        <p:spPr>
          <a:xfrm>
            <a:off x="822960" y="28620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6" name="Text 13"/>
          <p:cNvSpPr txBox="1"/>
          <p:nvPr/>
        </p:nvSpPr>
        <p:spPr>
          <a:xfrm>
            <a:off x="1216152" y="28254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Write a message that says what and how: "Change tagline — hand-edited" or "Shift palette via Claude — see prompts/edit-1.md"</a:t>
            </a:r>
            <a:endParaRPr lang="en-US" sz="1200" dirty="0"/>
          </a:p>
        </p:txBody>
      </p:sp>
      <p:sp>
        <p:nvSpPr>
          <p:cNvPr id="17" name="Shape 14"/>
          <p:cNvSpPr/>
          <p:nvPr/>
        </p:nvSpPr>
        <p:spPr>
          <a:xfrm>
            <a:off x="822960" y="33192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8" name="Text 15"/>
          <p:cNvSpPr txBox="1"/>
          <p:nvPr/>
        </p:nvSpPr>
        <p:spPr>
          <a:xfrm>
            <a:off x="822960" y="33192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19" name="Text 16"/>
          <p:cNvSpPr txBox="1"/>
          <p:nvPr/>
        </p:nvSpPr>
        <p:spPr>
          <a:xfrm>
            <a:off x="1216152" y="32826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Click Commit to feature/… (the button names your branch, not main)</a:t>
            </a:r>
            <a:endParaRPr lang="en-US" sz="1200" dirty="0"/>
          </a:p>
        </p:txBody>
      </p:sp>
      <p:sp>
        <p:nvSpPr>
          <p:cNvPr id="20" name="Shape 17"/>
          <p:cNvSpPr/>
          <p:nvPr/>
        </p:nvSpPr>
        <p:spPr>
          <a:xfrm>
            <a:off x="822960" y="37764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1" name="Text 18"/>
          <p:cNvSpPr txBox="1"/>
          <p:nvPr/>
        </p:nvSpPr>
        <p:spPr>
          <a:xfrm>
            <a:off x="822960" y="37764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22" name="Text 19"/>
          <p:cNvSpPr txBox="1"/>
          <p:nvPr/>
        </p:nvSpPr>
        <p:spPr>
          <a:xfrm>
            <a:off x="1216152" y="37398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Click Publish branch</a:t>
            </a:r>
            <a:endParaRPr lang="en-US" sz="1200" dirty="0"/>
          </a:p>
        </p:txBody>
      </p:sp>
      <p:sp>
        <p:nvSpPr>
          <p:cNvPr id="23" name="Shape 20"/>
          <p:cNvSpPr/>
          <p:nvPr/>
        </p:nvSpPr>
        <p:spPr>
          <a:xfrm>
            <a:off x="7452360" y="1874520"/>
            <a:ext cx="4144975" cy="1243584"/>
          </a:xfrm>
          <a:prstGeom prst="roundRect">
            <a:avLst>
              <a:gd name="adj" fmla="val 8824"/>
            </a:avLst>
          </a:prstGeom>
          <a:solidFill>
            <a:srgbClr val="0F2831">
              <a:alpha val="88000"/>
            </a:srgbClr>
          </a:solidFill>
          <a:ln w="9525">
            <a:solidFill>
              <a:srgbClr val="1E4A55"/>
            </a:solidFill>
            <a:prstDash val="solid"/>
          </a:ln>
        </p:spPr>
        <p:txBody>
          <a:bodyPr/>
          <a:lstStyle/>
          <a:p>
            <a:endParaRPr lang="en-US"/>
          </a:p>
        </p:txBody>
      </p:sp>
      <p:sp>
        <p:nvSpPr>
          <p:cNvPr id="24" name="Text 21"/>
          <p:cNvSpPr txBox="1"/>
          <p:nvPr/>
        </p:nvSpPr>
        <p:spPr>
          <a:xfrm>
            <a:off x="7680960" y="2057400"/>
            <a:ext cx="3687775"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YOU'RE DONE WHEN</a:t>
            </a:r>
            <a:endParaRPr lang="en-US" sz="850" dirty="0"/>
          </a:p>
        </p:txBody>
      </p:sp>
      <p:sp>
        <p:nvSpPr>
          <p:cNvPr id="25" name="Text 22"/>
          <p:cNvSpPr txBox="1"/>
          <p:nvPr/>
        </p:nvSpPr>
        <p:spPr>
          <a:xfrm>
            <a:off x="7680960" y="2386584"/>
            <a:ext cx="3687775" cy="594360"/>
          </a:xfrm>
          <a:prstGeom prst="rect">
            <a:avLst/>
          </a:prstGeom>
          <a:noFill/>
          <a:ln/>
        </p:spPr>
        <p:txBody>
          <a:bodyPr wrap="square" lIns="0" tIns="0" rIns="0" bIns="0" rtlCol="0" anchor="t"/>
          <a:lstStyle/>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The Publish branch button changes to Fetch origin.</a:t>
            </a:r>
            <a:endParaRPr lang="en-US" sz="1100" dirty="0"/>
          </a:p>
          <a:p>
            <a:pPr marL="0" indent="0">
              <a:spcAft>
                <a:spcPts val="600"/>
              </a:spcAft>
              <a:buNone/>
            </a:pPr>
            <a:endParaRPr lang="en-US" sz="1100" dirty="0"/>
          </a:p>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Your branch is now on GitHub.com. main is untouched.</a:t>
            </a:r>
            <a:endParaRPr lang="en-US" sz="1100" dirty="0"/>
          </a:p>
        </p:txBody>
      </p:sp>
      <p:sp>
        <p:nvSpPr>
          <p:cNvPr id="26" name="Shape 23"/>
          <p:cNvSpPr/>
          <p:nvPr/>
        </p:nvSpPr>
        <p:spPr>
          <a:xfrm>
            <a:off x="7452360" y="3346704"/>
            <a:ext cx="4144975" cy="1865376"/>
          </a:xfrm>
          <a:prstGeom prst="roundRect">
            <a:avLst>
              <a:gd name="adj" fmla="val 5882"/>
            </a:avLst>
          </a:prstGeom>
          <a:solidFill>
            <a:srgbClr val="0F2831">
              <a:alpha val="88000"/>
            </a:srgbClr>
          </a:solidFill>
          <a:ln w="9525">
            <a:solidFill>
              <a:srgbClr val="1E4A55"/>
            </a:solidFill>
            <a:prstDash val="solid"/>
          </a:ln>
        </p:spPr>
        <p:txBody>
          <a:bodyPr/>
          <a:lstStyle/>
          <a:p>
            <a:endParaRPr lang="en-US"/>
          </a:p>
        </p:txBody>
      </p:sp>
      <p:sp>
        <p:nvSpPr>
          <p:cNvPr id="27" name="Text 24"/>
          <p:cNvSpPr txBox="1"/>
          <p:nvPr/>
        </p:nvSpPr>
        <p:spPr>
          <a:xfrm>
            <a:off x="7680960" y="3529584"/>
            <a:ext cx="3687775"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IF DESKTOP OFFERS TO FORK</a:t>
            </a:r>
            <a:endParaRPr lang="en-US" sz="850" dirty="0"/>
          </a:p>
        </p:txBody>
      </p:sp>
      <p:sp>
        <p:nvSpPr>
          <p:cNvPr id="28" name="Text 25"/>
          <p:cNvSpPr txBox="1"/>
          <p:nvPr/>
        </p:nvSpPr>
        <p:spPr>
          <a:xfrm>
            <a:off x="7680960" y="3858768"/>
            <a:ext cx="3687775" cy="1216152"/>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It says you do not have write access and offers a fork. Click Cancel. Accept the invite at github.com/notifications (step 1.6). Publish branch again.</a:t>
            </a:r>
            <a:endParaRPr lang="en-US" sz="1050" dirty="0"/>
          </a:p>
          <a:p>
            <a:pPr marL="0" indent="0">
              <a:spcAft>
                <a:spcPts val="600"/>
              </a:spcAft>
              <a:buNone/>
            </a:pPr>
            <a:endParaRPr lang="en-US" sz="1050" dirty="0"/>
          </a:p>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Already forked? On your fork: Contribute → Open pull request. Check the base repository is your partner's.</a:t>
            </a:r>
            <a:endParaRPr lang="en-US" sz="1050" dirty="0"/>
          </a:p>
        </p:txBody>
      </p:sp>
      <p:sp>
        <p:nvSpPr>
          <p:cNvPr id="29" name="Shape 26"/>
          <p:cNvSpPr/>
          <p:nvPr/>
        </p:nvSpPr>
        <p:spPr>
          <a:xfrm>
            <a:off x="594360" y="5394960"/>
            <a:ext cx="11002975" cy="457200"/>
          </a:xfrm>
          <a:prstGeom prst="roundRect">
            <a:avLst>
              <a:gd name="adj" fmla="val 20000"/>
            </a:avLst>
          </a:prstGeom>
          <a:solidFill>
            <a:srgbClr val="00141B">
              <a:alpha val="80000"/>
            </a:srgbClr>
          </a:solidFill>
          <a:ln w="9525">
            <a:solidFill>
              <a:srgbClr val="2A5A66"/>
            </a:solidFill>
            <a:prstDash val="dash"/>
          </a:ln>
        </p:spPr>
        <p:txBody>
          <a:bodyPr/>
          <a:lstStyle/>
          <a:p>
            <a:endParaRPr lang="en-US"/>
          </a:p>
        </p:txBody>
      </p:sp>
      <p:sp>
        <p:nvSpPr>
          <p:cNvPr id="30" name="Text 27"/>
          <p:cNvSpPr txBox="1"/>
          <p:nvPr/>
        </p:nvSpPr>
        <p:spPr>
          <a:xfrm>
            <a:off x="868680" y="5394960"/>
            <a:ext cx="10454335" cy="457200"/>
          </a:xfrm>
          <a:prstGeom prst="rect">
            <a:avLst/>
          </a:prstGeom>
          <a:noFill/>
          <a:ln/>
        </p:spPr>
        <p:txBody>
          <a:bodyPr wrap="square" lIns="0" tIns="0" rIns="0" bIns="0" rtlCol="0" anchor="ctr"/>
          <a:lstStyle/>
          <a:p>
            <a:pPr marL="0" indent="0">
              <a:buNone/>
            </a:pPr>
            <a:r>
              <a:rPr lang="en-US" sz="900" b="1" kern="0" spc="200" dirty="0">
                <a:solidFill>
                  <a:srgbClr val="3FC9D4"/>
                </a:solidFill>
                <a:latin typeface="Geologica" pitchFamily="34" charset="0"/>
                <a:ea typeface="Geologica" pitchFamily="34" charset="-122"/>
                <a:cs typeface="Geologica" pitchFamily="34" charset="-120"/>
              </a:rPr>
              <a:t>LANE B · BROWSER  </a:t>
            </a:r>
            <a:r>
              <a:rPr lang="en-US" sz="1100" dirty="0">
                <a:solidFill>
                  <a:srgbClr val="E4EEF1"/>
                </a:solidFill>
                <a:latin typeface="Geologica" pitchFamily="34" charset="0"/>
                <a:ea typeface="Geologica" pitchFamily="34" charset="-122"/>
                <a:cs typeface="Geologica" pitchFamily="34" charset="-120"/>
              </a:rPr>
              <a:t>github.dev: Source Control icon on the left → type your message → Commit &amp; Push. Commits go straight to GitHub.</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27</a:t>
            </a:r>
            <a:endParaRPr lang="en-US" sz="900" dirty="0"/>
          </a:p>
        </p:txBody>
      </p:sp>
      <p:sp>
        <p:nvSpPr>
          <p:cNvPr id="4" name="Shape 1"/>
          <p:cNvSpPr/>
          <p:nvPr/>
        </p:nvSpPr>
        <p:spPr>
          <a:xfrm>
            <a:off x="594360" y="502920"/>
            <a:ext cx="18105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8105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2 · STEP 2.9</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5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Open the pull request</a:t>
            </a:r>
            <a:endParaRPr lang="en-US" sz="3000" dirty="0"/>
          </a:p>
        </p:txBody>
      </p:sp>
      <p:sp>
        <p:nvSpPr>
          <p:cNvPr id="9" name="Text 6"/>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The skill Workshop 1 described but never showed you.</a:t>
            </a:r>
            <a:endParaRPr lang="en-US" sz="1300" dirty="0"/>
          </a:p>
        </p:txBody>
      </p:sp>
      <p:sp>
        <p:nvSpPr>
          <p:cNvPr id="10" name="Shape 7"/>
          <p:cNvSpPr/>
          <p:nvPr/>
        </p:nvSpPr>
        <p:spPr>
          <a:xfrm>
            <a:off x="594360" y="2148840"/>
            <a:ext cx="5852160" cy="3017520"/>
          </a:xfrm>
          <a:prstGeom prst="roundRect">
            <a:avLst>
              <a:gd name="adj" fmla="val 3636"/>
            </a:avLst>
          </a:prstGeom>
          <a:solidFill>
            <a:srgbClr val="0F2831">
              <a:alpha val="88000"/>
            </a:srgbClr>
          </a:solidFill>
          <a:ln w="9525">
            <a:solidFill>
              <a:srgbClr val="1E4A55"/>
            </a:solidFill>
            <a:prstDash val="solid"/>
          </a:ln>
        </p:spPr>
        <p:txBody>
          <a:bodyPr/>
          <a:lstStyle/>
          <a:p>
            <a:endParaRPr lang="en-US"/>
          </a:p>
        </p:txBody>
      </p:sp>
      <p:sp>
        <p:nvSpPr>
          <p:cNvPr id="11" name="Text 8"/>
          <p:cNvSpPr txBox="1"/>
          <p:nvPr/>
        </p:nvSpPr>
        <p:spPr>
          <a:xfrm>
            <a:off x="822960" y="2331720"/>
            <a:ext cx="539496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DO THIS</a:t>
            </a:r>
            <a:endParaRPr lang="en-US" sz="850" dirty="0"/>
          </a:p>
        </p:txBody>
      </p:sp>
      <p:sp>
        <p:nvSpPr>
          <p:cNvPr id="12" name="Shape 9"/>
          <p:cNvSpPr/>
          <p:nvPr/>
        </p:nvSpPr>
        <p:spPr>
          <a:xfrm>
            <a:off x="822960" y="267919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3" name="Text 10"/>
          <p:cNvSpPr txBox="1"/>
          <p:nvPr/>
        </p:nvSpPr>
        <p:spPr>
          <a:xfrm>
            <a:off x="822960" y="267919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4" name="Text 11"/>
          <p:cNvSpPr txBox="1"/>
          <p:nvPr/>
        </p:nvSpPr>
        <p:spPr>
          <a:xfrm>
            <a:off x="1216152" y="2642616"/>
            <a:ext cx="4983480" cy="475488"/>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Open your partner's repo on GitHub.com</a:t>
            </a:r>
            <a:endParaRPr lang="en-US" sz="1150" dirty="0"/>
          </a:p>
        </p:txBody>
      </p:sp>
      <p:sp>
        <p:nvSpPr>
          <p:cNvPr id="15" name="Shape 12"/>
          <p:cNvSpPr/>
          <p:nvPr/>
        </p:nvSpPr>
        <p:spPr>
          <a:xfrm>
            <a:off x="822960" y="3154680"/>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6" name="Text 13"/>
          <p:cNvSpPr txBox="1"/>
          <p:nvPr/>
        </p:nvSpPr>
        <p:spPr>
          <a:xfrm>
            <a:off x="822960" y="3154680"/>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7" name="Text 14"/>
          <p:cNvSpPr txBox="1"/>
          <p:nvPr/>
        </p:nvSpPr>
        <p:spPr>
          <a:xfrm>
            <a:off x="1216152" y="3118104"/>
            <a:ext cx="4983480" cy="475488"/>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Click Compare &amp; pull request in the yellow banner</a:t>
            </a:r>
            <a:endParaRPr lang="en-US" sz="1150" dirty="0"/>
          </a:p>
        </p:txBody>
      </p:sp>
      <p:sp>
        <p:nvSpPr>
          <p:cNvPr id="18" name="Shape 15"/>
          <p:cNvSpPr/>
          <p:nvPr/>
        </p:nvSpPr>
        <p:spPr>
          <a:xfrm>
            <a:off x="822960" y="3630168"/>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9" name="Text 16"/>
          <p:cNvSpPr txBox="1"/>
          <p:nvPr/>
        </p:nvSpPr>
        <p:spPr>
          <a:xfrm>
            <a:off x="822960" y="3630168"/>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20" name="Text 17"/>
          <p:cNvSpPr txBox="1"/>
          <p:nvPr/>
        </p:nvSpPr>
        <p:spPr>
          <a:xfrm>
            <a:off x="1216152" y="3593592"/>
            <a:ext cx="4983480" cy="475488"/>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Check the arrow: feature/&lt;yourname&gt;-edit → main</a:t>
            </a:r>
            <a:endParaRPr lang="en-US" sz="1150" dirty="0"/>
          </a:p>
        </p:txBody>
      </p:sp>
      <p:sp>
        <p:nvSpPr>
          <p:cNvPr id="21" name="Shape 18"/>
          <p:cNvSpPr/>
          <p:nvPr/>
        </p:nvSpPr>
        <p:spPr>
          <a:xfrm>
            <a:off x="822960" y="4105656"/>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2" name="Text 19"/>
          <p:cNvSpPr txBox="1"/>
          <p:nvPr/>
        </p:nvSpPr>
        <p:spPr>
          <a:xfrm>
            <a:off x="822960" y="4105656"/>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23" name="Text 20"/>
          <p:cNvSpPr txBox="1"/>
          <p:nvPr/>
        </p:nvSpPr>
        <p:spPr>
          <a:xfrm>
            <a:off x="1216152" y="4069080"/>
            <a:ext cx="4983480" cy="475488"/>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Title: what you changed. Description: one sentence, and whether AI helped</a:t>
            </a:r>
            <a:endParaRPr lang="en-US" sz="1150" dirty="0"/>
          </a:p>
        </p:txBody>
      </p:sp>
      <p:sp>
        <p:nvSpPr>
          <p:cNvPr id="24" name="Shape 21"/>
          <p:cNvSpPr/>
          <p:nvPr/>
        </p:nvSpPr>
        <p:spPr>
          <a:xfrm>
            <a:off x="822960" y="4581144"/>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5" name="Text 22"/>
          <p:cNvSpPr txBox="1"/>
          <p:nvPr/>
        </p:nvSpPr>
        <p:spPr>
          <a:xfrm>
            <a:off x="822960" y="4581144"/>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5</a:t>
            </a:r>
            <a:endParaRPr lang="en-US" sz="900" dirty="0"/>
          </a:p>
        </p:txBody>
      </p:sp>
      <p:sp>
        <p:nvSpPr>
          <p:cNvPr id="26" name="Text 23"/>
          <p:cNvSpPr txBox="1"/>
          <p:nvPr/>
        </p:nvSpPr>
        <p:spPr>
          <a:xfrm>
            <a:off x="1216152" y="4544568"/>
            <a:ext cx="4983480" cy="475488"/>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Create pull request</a:t>
            </a:r>
            <a:endParaRPr lang="en-US" sz="1150" dirty="0"/>
          </a:p>
        </p:txBody>
      </p:sp>
      <p:sp>
        <p:nvSpPr>
          <p:cNvPr id="27" name="Text 24"/>
          <p:cNvSpPr txBox="1"/>
          <p:nvPr/>
        </p:nvSpPr>
        <p:spPr>
          <a:xfrm>
            <a:off x="6675120" y="2148840"/>
            <a:ext cx="4919472" cy="274320"/>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WHAT YOU ARE LOOKING FOR</a:t>
            </a:r>
            <a:endParaRPr lang="en-US" sz="850" dirty="0"/>
          </a:p>
        </p:txBody>
      </p:sp>
      <p:sp>
        <p:nvSpPr>
          <p:cNvPr id="28" name="Shape 25"/>
          <p:cNvSpPr/>
          <p:nvPr/>
        </p:nvSpPr>
        <p:spPr>
          <a:xfrm>
            <a:off x="6675120" y="2514600"/>
            <a:ext cx="4919472" cy="777240"/>
          </a:xfrm>
          <a:prstGeom prst="roundRect">
            <a:avLst>
              <a:gd name="adj" fmla="val 7059"/>
            </a:avLst>
          </a:prstGeom>
          <a:solidFill>
            <a:srgbClr val="FFF8C5"/>
          </a:solidFill>
          <a:ln w="12700">
            <a:solidFill>
              <a:srgbClr val="D4A72C"/>
            </a:solidFill>
            <a:prstDash val="solid"/>
          </a:ln>
        </p:spPr>
        <p:txBody>
          <a:bodyPr/>
          <a:lstStyle/>
          <a:p>
            <a:endParaRPr lang="en-US"/>
          </a:p>
        </p:txBody>
      </p:sp>
      <p:sp>
        <p:nvSpPr>
          <p:cNvPr id="29" name="Text 26"/>
          <p:cNvSpPr txBox="1"/>
          <p:nvPr/>
        </p:nvSpPr>
        <p:spPr>
          <a:xfrm>
            <a:off x="6858000" y="2514600"/>
            <a:ext cx="2633472" cy="777240"/>
          </a:xfrm>
          <a:prstGeom prst="rect">
            <a:avLst/>
          </a:prstGeom>
          <a:noFill/>
          <a:ln/>
        </p:spPr>
        <p:txBody>
          <a:bodyPr wrap="square" lIns="0" tIns="0" rIns="0" bIns="0" rtlCol="0" anchor="ctr"/>
          <a:lstStyle/>
          <a:p>
            <a:pPr marL="0" indent="0">
              <a:buNone/>
            </a:pPr>
            <a:r>
              <a:rPr lang="en-US" sz="1050" b="1" dirty="0">
                <a:solidFill>
                  <a:srgbClr val="1F2328"/>
                </a:solidFill>
                <a:latin typeface="Geologica" pitchFamily="34" charset="0"/>
                <a:ea typeface="Geologica" pitchFamily="34" charset="-122"/>
                <a:cs typeface="Geologica" pitchFamily="34" charset="-120"/>
              </a:rPr>
              <a:t>feature/maria-edit</a:t>
            </a:r>
            <a:r>
              <a:rPr lang="en-US" sz="1050" dirty="0">
                <a:solidFill>
                  <a:srgbClr val="1F2328"/>
                </a:solidFill>
                <a:latin typeface="Geologica" pitchFamily="34" charset="0"/>
                <a:ea typeface="Geologica" pitchFamily="34" charset="-122"/>
                <a:cs typeface="Geologica" pitchFamily="34" charset="-120"/>
              </a:rPr>
              <a:t> had recent pushes less than a minute ago</a:t>
            </a:r>
            <a:endParaRPr lang="en-US" sz="1050" dirty="0"/>
          </a:p>
        </p:txBody>
      </p:sp>
      <p:sp>
        <p:nvSpPr>
          <p:cNvPr id="30" name="Shape 27"/>
          <p:cNvSpPr/>
          <p:nvPr/>
        </p:nvSpPr>
        <p:spPr>
          <a:xfrm>
            <a:off x="9537192" y="2715768"/>
            <a:ext cx="1874520" cy="384048"/>
          </a:xfrm>
          <a:prstGeom prst="roundRect">
            <a:avLst>
              <a:gd name="adj" fmla="val 14286"/>
            </a:avLst>
          </a:prstGeom>
          <a:solidFill>
            <a:srgbClr val="1F883D"/>
          </a:solidFill>
          <a:ln w="6350">
            <a:solidFill>
              <a:srgbClr val="1A7F37"/>
            </a:solidFill>
            <a:prstDash val="solid"/>
          </a:ln>
        </p:spPr>
        <p:txBody>
          <a:bodyPr/>
          <a:lstStyle/>
          <a:p>
            <a:endParaRPr lang="en-US"/>
          </a:p>
        </p:txBody>
      </p:sp>
      <p:sp>
        <p:nvSpPr>
          <p:cNvPr id="31" name="Text 28"/>
          <p:cNvSpPr txBox="1"/>
          <p:nvPr/>
        </p:nvSpPr>
        <p:spPr>
          <a:xfrm>
            <a:off x="9537192" y="2715768"/>
            <a:ext cx="187452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Geologica" pitchFamily="34" charset="0"/>
                <a:ea typeface="Geologica" pitchFamily="34" charset="-122"/>
                <a:cs typeface="Geologica" pitchFamily="34" charset="-120"/>
              </a:rPr>
              <a:t>Compare &amp; pull request</a:t>
            </a:r>
            <a:endParaRPr lang="en-US" sz="950" dirty="0"/>
          </a:p>
        </p:txBody>
      </p:sp>
      <p:sp>
        <p:nvSpPr>
          <p:cNvPr id="32" name="Shape 29"/>
          <p:cNvSpPr/>
          <p:nvPr/>
        </p:nvSpPr>
        <p:spPr>
          <a:xfrm>
            <a:off x="6675120" y="3520440"/>
            <a:ext cx="4919472" cy="640080"/>
          </a:xfrm>
          <a:prstGeom prst="roundRect">
            <a:avLst>
              <a:gd name="adj" fmla="val 8571"/>
            </a:avLst>
          </a:prstGeom>
          <a:solidFill>
            <a:srgbClr val="F6F8FA"/>
          </a:solidFill>
          <a:ln w="12700">
            <a:solidFill>
              <a:srgbClr val="D0D7DE"/>
            </a:solidFill>
            <a:prstDash val="solid"/>
          </a:ln>
        </p:spPr>
        <p:txBody>
          <a:bodyPr/>
          <a:lstStyle/>
          <a:p>
            <a:endParaRPr lang="en-US"/>
          </a:p>
        </p:txBody>
      </p:sp>
      <p:sp>
        <p:nvSpPr>
          <p:cNvPr id="33" name="Text 30"/>
          <p:cNvSpPr txBox="1"/>
          <p:nvPr/>
        </p:nvSpPr>
        <p:spPr>
          <a:xfrm>
            <a:off x="6858000" y="3520440"/>
            <a:ext cx="4553712" cy="640080"/>
          </a:xfrm>
          <a:prstGeom prst="rect">
            <a:avLst/>
          </a:prstGeom>
          <a:noFill/>
          <a:ln/>
        </p:spPr>
        <p:txBody>
          <a:bodyPr wrap="square" lIns="0" tIns="0" rIns="0" bIns="0" rtlCol="0" anchor="ctr"/>
          <a:lstStyle/>
          <a:p>
            <a:pPr marL="0" indent="0">
              <a:buNone/>
            </a:pPr>
            <a:r>
              <a:rPr lang="en-US" sz="1000" dirty="0">
                <a:solidFill>
                  <a:srgbClr val="57606A"/>
                </a:solidFill>
                <a:latin typeface="Geologica" pitchFamily="34" charset="0"/>
                <a:ea typeface="Geologica" pitchFamily="34" charset="-122"/>
                <a:cs typeface="Geologica" pitchFamily="34" charset="-120"/>
              </a:rPr>
              <a:t>base: </a:t>
            </a:r>
            <a:r>
              <a:rPr lang="en-US" sz="1050" b="1" dirty="0">
                <a:solidFill>
                  <a:srgbClr val="0969DA"/>
                </a:solidFill>
                <a:latin typeface="Geologica" pitchFamily="34" charset="0"/>
                <a:ea typeface="Geologica" pitchFamily="34" charset="-122"/>
                <a:cs typeface="Geologica" pitchFamily="34" charset="-120"/>
              </a:rPr>
              <a:t>main</a:t>
            </a:r>
            <a:r>
              <a:rPr lang="en-US" sz="1000" dirty="0">
                <a:solidFill>
                  <a:srgbClr val="57606A"/>
                </a:solidFill>
                <a:latin typeface="Geologica" pitchFamily="34" charset="0"/>
                <a:ea typeface="Geologica" pitchFamily="34" charset="-122"/>
                <a:cs typeface="Geologica" pitchFamily="34" charset="-120"/>
              </a:rPr>
              <a:t>   ←   compare: </a:t>
            </a:r>
            <a:r>
              <a:rPr lang="en-US" sz="1050" b="1" dirty="0">
                <a:solidFill>
                  <a:srgbClr val="0969DA"/>
                </a:solidFill>
                <a:latin typeface="Geologica" pitchFamily="34" charset="0"/>
                <a:ea typeface="Geologica" pitchFamily="34" charset="-122"/>
                <a:cs typeface="Geologica" pitchFamily="34" charset="-120"/>
              </a:rPr>
              <a:t>feature/maria-edit</a:t>
            </a:r>
            <a:endParaRPr lang="en-US" sz="1000" dirty="0"/>
          </a:p>
        </p:txBody>
      </p:sp>
      <p:sp>
        <p:nvSpPr>
          <p:cNvPr id="34" name="Text 31"/>
          <p:cNvSpPr txBox="1"/>
          <p:nvPr/>
        </p:nvSpPr>
        <p:spPr>
          <a:xfrm>
            <a:off x="6675120" y="4251960"/>
            <a:ext cx="4919472" cy="822960"/>
          </a:xfrm>
          <a:prstGeom prst="rect">
            <a:avLst/>
          </a:prstGeom>
          <a:noFill/>
          <a:ln/>
        </p:spPr>
        <p:txBody>
          <a:bodyPr wrap="square" lIns="0" tIns="0" rIns="0" bIns="0" rtlCol="0" anchor="ctr"/>
          <a:lstStyle/>
          <a:p>
            <a:pPr marL="0" indent="0">
              <a:buNone/>
            </a:pPr>
            <a:r>
              <a:rPr lang="en-US" sz="1100" dirty="0">
                <a:solidFill>
                  <a:srgbClr val="E4EEF1"/>
                </a:solidFill>
                <a:latin typeface="Geologica" pitchFamily="34" charset="0"/>
                <a:ea typeface="Geologica" pitchFamily="34" charset="-122"/>
                <a:cs typeface="Geologica" pitchFamily="34" charset="-120"/>
              </a:rPr>
              <a:t>Your branch goes INTO main. If the base shows a different repository, you are on a fork; see the handout.</a:t>
            </a:r>
            <a:endParaRPr lang="en-US" sz="1100" dirty="0"/>
          </a:p>
        </p:txBody>
      </p:sp>
      <p:sp>
        <p:nvSpPr>
          <p:cNvPr id="35" name="Shape 32"/>
          <p:cNvSpPr/>
          <p:nvPr/>
        </p:nvSpPr>
        <p:spPr>
          <a:xfrm>
            <a:off x="594360" y="5349240"/>
            <a:ext cx="11002975" cy="566928"/>
          </a:xfrm>
          <a:prstGeom prst="roundRect">
            <a:avLst>
              <a:gd name="adj" fmla="val 16129"/>
            </a:avLst>
          </a:prstGeom>
          <a:solidFill>
            <a:srgbClr val="0E5A66"/>
          </a:solidFill>
          <a:ln w="9525">
            <a:solidFill>
              <a:srgbClr val="0094A0"/>
            </a:solidFill>
            <a:prstDash val="solid"/>
          </a:ln>
        </p:spPr>
        <p:txBody>
          <a:bodyPr/>
          <a:lstStyle/>
          <a:p>
            <a:endParaRPr lang="en-US"/>
          </a:p>
        </p:txBody>
      </p:sp>
      <p:sp>
        <p:nvSpPr>
          <p:cNvPr id="36" name="Text 33"/>
          <p:cNvSpPr txBox="1"/>
          <p:nvPr/>
        </p:nvSpPr>
        <p:spPr>
          <a:xfrm>
            <a:off x="868680" y="5349240"/>
            <a:ext cx="10454335" cy="566928"/>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A pull request is a proposal, not a command. </a:t>
            </a:r>
            <a:r>
              <a:rPr lang="en-US" sz="1150" dirty="0">
                <a:solidFill>
                  <a:srgbClr val="FFFFFF"/>
                </a:solidFill>
                <a:latin typeface="Geologica" pitchFamily="34" charset="0"/>
                <a:ea typeface="Geologica" pitchFamily="34" charset="-122"/>
                <a:cs typeface="Geologica" pitchFamily="34" charset="-120"/>
              </a:rPr>
              <a:t>"Here is what I would like to change. Look before it counts." Nobody on a professional team pushes straight into the official version.</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28</a:t>
            </a:r>
            <a:endParaRPr lang="en-US" sz="900" dirty="0"/>
          </a:p>
        </p:txBody>
      </p:sp>
      <p:sp>
        <p:nvSpPr>
          <p:cNvPr id="4" name="Shape 1"/>
          <p:cNvSpPr/>
          <p:nvPr/>
        </p:nvSpPr>
        <p:spPr>
          <a:xfrm>
            <a:off x="594360" y="1554480"/>
            <a:ext cx="1344168" cy="292608"/>
          </a:xfrm>
          <a:prstGeom prst="roundRect">
            <a:avLst>
              <a:gd name="adj" fmla="val 50000"/>
            </a:avLst>
          </a:prstGeom>
          <a:solidFill>
            <a:srgbClr val="0094A0"/>
          </a:solidFill>
          <a:ln w="9525">
            <a:solidFill>
              <a:srgbClr val="3FC9D4"/>
            </a:solidFill>
            <a:prstDash val="solid"/>
          </a:ln>
        </p:spPr>
        <p:txBody>
          <a:bodyPr/>
          <a:lstStyle/>
          <a:p>
            <a:endParaRPr lang="en-US"/>
          </a:p>
        </p:txBody>
      </p:sp>
      <p:sp>
        <p:nvSpPr>
          <p:cNvPr id="5" name="Text 2"/>
          <p:cNvSpPr txBox="1"/>
          <p:nvPr/>
        </p:nvSpPr>
        <p:spPr>
          <a:xfrm>
            <a:off x="594360" y="1554480"/>
            <a:ext cx="1344168" cy="292608"/>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Geologica" pitchFamily="34" charset="0"/>
                <a:ea typeface="Geologica" pitchFamily="34" charset="-122"/>
                <a:cs typeface="Geologica" pitchFamily="34" charset="-120"/>
              </a:rPr>
              <a:t>CHECKPOINT 2</a:t>
            </a:r>
            <a:endParaRPr lang="en-US" sz="850" dirty="0"/>
          </a:p>
        </p:txBody>
      </p:sp>
      <p:sp>
        <p:nvSpPr>
          <p:cNvPr id="6" name="Text 3"/>
          <p:cNvSpPr txBox="1"/>
          <p:nvPr/>
        </p:nvSpPr>
        <p:spPr>
          <a:xfrm>
            <a:off x="566928" y="1965960"/>
            <a:ext cx="10972800" cy="914400"/>
          </a:xfrm>
          <a:prstGeom prst="rect">
            <a:avLst/>
          </a:prstGeom>
          <a:noFill/>
          <a:ln/>
        </p:spPr>
        <p:txBody>
          <a:bodyPr wrap="square" lIns="0" tIns="0" rIns="0" bIns="0" rtlCol="0" anchor="ctr"/>
          <a:lstStyle/>
          <a:p>
            <a:pPr marL="0" indent="0">
              <a:buNone/>
            </a:pPr>
            <a:r>
              <a:rPr lang="en-US" sz="3400" b="1" dirty="0">
                <a:solidFill>
                  <a:srgbClr val="FFFFFF"/>
                </a:solidFill>
                <a:latin typeface="Geologica" pitchFamily="34" charset="0"/>
                <a:ea typeface="Geologica" pitchFamily="34" charset="-122"/>
                <a:cs typeface="Geologica" pitchFamily="34" charset="-120"/>
              </a:rPr>
              <a:t>A pull request on each repo</a:t>
            </a:r>
            <a:endParaRPr lang="en-US" sz="3400" dirty="0"/>
          </a:p>
        </p:txBody>
      </p:sp>
      <p:sp>
        <p:nvSpPr>
          <p:cNvPr id="7" name="Text 4"/>
          <p:cNvSpPr txBox="1"/>
          <p:nvPr/>
        </p:nvSpPr>
        <p:spPr>
          <a:xfrm>
            <a:off x="594360" y="2880360"/>
            <a:ext cx="10058400" cy="365760"/>
          </a:xfrm>
          <a:prstGeom prst="rect">
            <a:avLst/>
          </a:prstGeom>
          <a:noFill/>
          <a:ln/>
        </p:spPr>
        <p:txBody>
          <a:bodyPr wrap="square" lIns="0" tIns="0" rIns="0" bIns="0" rtlCol="0" anchor="ctr"/>
          <a:lstStyle/>
          <a:p>
            <a:pPr marL="0" indent="0">
              <a:buNone/>
            </a:pPr>
            <a:r>
              <a:rPr lang="en-US" sz="1400" dirty="0">
                <a:solidFill>
                  <a:srgbClr val="E4EEF1"/>
                </a:solidFill>
                <a:latin typeface="Geologica" pitchFamily="34" charset="0"/>
                <a:ea typeface="Geologica" pitchFamily="34" charset="-122"/>
                <a:cs typeface="Geologica" pitchFamily="34" charset="-120"/>
              </a:rPr>
              <a:t>Thumbs up when all of these are true for both of you. We wait for the room here.</a:t>
            </a:r>
            <a:endParaRPr lang="en-US" sz="1400" dirty="0"/>
          </a:p>
        </p:txBody>
      </p:sp>
      <p:sp>
        <p:nvSpPr>
          <p:cNvPr id="8" name="Shape 5"/>
          <p:cNvSpPr/>
          <p:nvPr/>
        </p:nvSpPr>
        <p:spPr>
          <a:xfrm>
            <a:off x="594360" y="3474720"/>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9" name="Text 6"/>
          <p:cNvSpPr txBox="1"/>
          <p:nvPr/>
        </p:nvSpPr>
        <p:spPr>
          <a:xfrm>
            <a:off x="594360" y="34747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0" name="Text 7"/>
          <p:cNvSpPr txBox="1"/>
          <p:nvPr/>
        </p:nvSpPr>
        <p:spPr>
          <a:xfrm>
            <a:off x="1143000" y="3474720"/>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You can see your pull request, numbered #1, on your partner's repo</a:t>
            </a:r>
            <a:endParaRPr lang="en-US" sz="1400" dirty="0"/>
          </a:p>
        </p:txBody>
      </p:sp>
      <p:sp>
        <p:nvSpPr>
          <p:cNvPr id="11" name="Shape 8"/>
          <p:cNvSpPr/>
          <p:nvPr/>
        </p:nvSpPr>
        <p:spPr>
          <a:xfrm>
            <a:off x="594360" y="4005072"/>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12" name="Text 9"/>
          <p:cNvSpPr txBox="1"/>
          <p:nvPr/>
        </p:nvSpPr>
        <p:spPr>
          <a:xfrm>
            <a:off x="594360" y="40050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3" name="Text 10"/>
          <p:cNvSpPr txBox="1"/>
          <p:nvPr/>
        </p:nvSpPr>
        <p:spPr>
          <a:xfrm>
            <a:off x="1143000" y="4005072"/>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Your partner can see theirs on yours</a:t>
            </a:r>
            <a:endParaRPr lang="en-US" sz="1400" dirty="0"/>
          </a:p>
        </p:txBody>
      </p:sp>
      <p:sp>
        <p:nvSpPr>
          <p:cNvPr id="14" name="Shape 11"/>
          <p:cNvSpPr/>
          <p:nvPr/>
        </p:nvSpPr>
        <p:spPr>
          <a:xfrm>
            <a:off x="594360" y="4535424"/>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15" name="Text 12"/>
          <p:cNvSpPr txBox="1"/>
          <p:nvPr/>
        </p:nvSpPr>
        <p:spPr>
          <a:xfrm>
            <a:off x="594360" y="45354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6" name="Text 13"/>
          <p:cNvSpPr txBox="1"/>
          <p:nvPr/>
        </p:nvSpPr>
        <p:spPr>
          <a:xfrm>
            <a:off x="1143000" y="4535424"/>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The arrow reads feature/&lt;yourname&gt;-edit → main</a:t>
            </a:r>
            <a:endParaRPr lang="en-US" sz="1400" dirty="0"/>
          </a:p>
        </p:txBody>
      </p:sp>
      <p:sp>
        <p:nvSpPr>
          <p:cNvPr id="17" name="Shape 14"/>
          <p:cNvSpPr/>
          <p:nvPr/>
        </p:nvSpPr>
        <p:spPr>
          <a:xfrm>
            <a:off x="594360" y="5065776"/>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18" name="Text 15"/>
          <p:cNvSpPr txBox="1"/>
          <p:nvPr/>
        </p:nvSpPr>
        <p:spPr>
          <a:xfrm>
            <a:off x="594360" y="50657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9" name="Text 16"/>
          <p:cNvSpPr txBox="1"/>
          <p:nvPr/>
        </p:nvSpPr>
        <p:spPr>
          <a:xfrm>
            <a:off x="1143000" y="5065776"/>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main on both repos is still exactly what Replit pushed</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29</a:t>
            </a:r>
            <a:endParaRPr lang="en-US" sz="900" dirty="0"/>
          </a:p>
        </p:txBody>
      </p:sp>
      <p:sp>
        <p:nvSpPr>
          <p:cNvPr id="4" name="Shape 1"/>
          <p:cNvSpPr/>
          <p:nvPr/>
        </p:nvSpPr>
        <p:spPr>
          <a:xfrm>
            <a:off x="594360" y="502920"/>
            <a:ext cx="134416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34416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TODAY'S LOOP</a:t>
            </a:r>
            <a:endParaRPr lang="en-US" sz="850" dirty="0"/>
          </a:p>
        </p:txBody>
      </p:sp>
      <p:sp>
        <p:nvSpPr>
          <p:cNvPr id="6" name="Shape 3"/>
          <p:cNvSpPr/>
          <p:nvPr/>
        </p:nvSpPr>
        <p:spPr>
          <a:xfrm>
            <a:off x="9329623" y="502920"/>
            <a:ext cx="22677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329623" y="502920"/>
            <a:ext cx="22677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YOU ARE HERE · ROUND 3</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You are here</a:t>
            </a:r>
            <a:endParaRPr lang="en-US" sz="3000" dirty="0"/>
          </a:p>
        </p:txBody>
      </p:sp>
      <p:sp>
        <p:nvSpPr>
          <p:cNvPr id="9" name="Text 6"/>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Both of you run this at the same time, each on the other's repo.</a:t>
            </a:r>
            <a:endParaRPr lang="en-US" sz="1300" dirty="0"/>
          </a:p>
        </p:txBody>
      </p:sp>
      <p:sp>
        <p:nvSpPr>
          <p:cNvPr id="10" name="Shape 7"/>
          <p:cNvSpPr/>
          <p:nvPr/>
        </p:nvSpPr>
        <p:spPr>
          <a:xfrm>
            <a:off x="594360" y="2148840"/>
            <a:ext cx="3520440" cy="2788920"/>
          </a:xfrm>
          <a:prstGeom prst="roundRect">
            <a:avLst>
              <a:gd name="adj" fmla="val 3934"/>
            </a:avLst>
          </a:prstGeom>
          <a:solidFill>
            <a:srgbClr val="0F2831">
              <a:alpha val="88000"/>
            </a:srgbClr>
          </a:solidFill>
          <a:ln w="9525">
            <a:solidFill>
              <a:srgbClr val="1E4A55"/>
            </a:solidFill>
            <a:prstDash val="solid"/>
          </a:ln>
        </p:spPr>
        <p:txBody>
          <a:bodyPr/>
          <a:lstStyle/>
          <a:p>
            <a:endParaRPr lang="en-US"/>
          </a:p>
        </p:txBody>
      </p:sp>
      <p:sp>
        <p:nvSpPr>
          <p:cNvPr id="11" name="Text 8"/>
          <p:cNvSpPr txBox="1"/>
          <p:nvPr/>
        </p:nvSpPr>
        <p:spPr>
          <a:xfrm>
            <a:off x="822960" y="2286000"/>
            <a:ext cx="548640" cy="502920"/>
          </a:xfrm>
          <a:prstGeom prst="rect">
            <a:avLst/>
          </a:prstGeom>
          <a:noFill/>
          <a:ln/>
        </p:spPr>
        <p:txBody>
          <a:bodyPr wrap="square" lIns="0" tIns="0" rIns="0" bIns="0" rtlCol="0" anchor="ctr"/>
          <a:lstStyle/>
          <a:p>
            <a:pPr marL="0" indent="0">
              <a:buNone/>
            </a:pPr>
            <a:r>
              <a:rPr lang="en-US" sz="2600" b="1" dirty="0">
                <a:solidFill>
                  <a:srgbClr val="3FC9D4"/>
                </a:solidFill>
                <a:latin typeface="Geologica" pitchFamily="34" charset="0"/>
                <a:ea typeface="Geologica" pitchFamily="34" charset="-122"/>
                <a:cs typeface="Geologica" pitchFamily="34" charset="-120"/>
              </a:rPr>
              <a:t>1</a:t>
            </a:r>
            <a:endParaRPr lang="en-US" sz="2600" dirty="0"/>
          </a:p>
        </p:txBody>
      </p:sp>
      <p:sp>
        <p:nvSpPr>
          <p:cNvPr id="12" name="Text 9"/>
          <p:cNvSpPr txBox="1"/>
          <p:nvPr/>
        </p:nvSpPr>
        <p:spPr>
          <a:xfrm>
            <a:off x="1371600"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Build and ship</a:t>
            </a:r>
            <a:endParaRPr lang="en-US" sz="1400" dirty="0"/>
          </a:p>
        </p:txBody>
      </p:sp>
      <p:sp>
        <p:nvSpPr>
          <p:cNvPr id="13" name="Text 10"/>
          <p:cNvSpPr txBox="1"/>
          <p:nvPr/>
        </p:nvSpPr>
        <p:spPr>
          <a:xfrm>
            <a:off x="822960"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Build a page in Replit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Push from Replit's Git pane</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Write the prompt doc</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Invite your partner; accept theirs</a:t>
            </a:r>
            <a:endParaRPr lang="en-US" sz="1150" dirty="0"/>
          </a:p>
        </p:txBody>
      </p:sp>
      <p:sp>
        <p:nvSpPr>
          <p:cNvPr id="14" name="Text 11"/>
          <p:cNvSpPr txBox="1"/>
          <p:nvPr/>
        </p:nvSpPr>
        <p:spPr>
          <a:xfrm>
            <a:off x="822960" y="4526280"/>
            <a:ext cx="3063240" cy="274320"/>
          </a:xfrm>
          <a:prstGeom prst="rect">
            <a:avLst/>
          </a:prstGeom>
          <a:noFill/>
          <a:ln/>
        </p:spPr>
        <p:txBody>
          <a:bodyPr wrap="square" lIns="0" tIns="0" rIns="0" bIns="0" rtlCol="0" anchor="ctr"/>
          <a:lstStyle/>
          <a:p>
            <a:pPr marL="0" indent="0">
              <a:buNone/>
            </a:pPr>
            <a:r>
              <a:rPr lang="en-US" sz="1000" dirty="0">
                <a:solidFill>
                  <a:srgbClr val="9FB4BB"/>
                </a:solidFill>
                <a:latin typeface="Geologica" pitchFamily="34" charset="0"/>
                <a:ea typeface="Geologica" pitchFamily="34" charset="-122"/>
                <a:cs typeface="Geologica" pitchFamily="34" charset="-120"/>
              </a:rPr>
              <a:t>15 min</a:t>
            </a:r>
            <a:endParaRPr lang="en-US" sz="1000" dirty="0"/>
          </a:p>
        </p:txBody>
      </p:sp>
      <p:sp>
        <p:nvSpPr>
          <p:cNvPr id="15" name="Text 12"/>
          <p:cNvSpPr txBox="1"/>
          <p:nvPr/>
        </p:nvSpPr>
        <p:spPr>
          <a:xfrm>
            <a:off x="4096512" y="3246120"/>
            <a:ext cx="256032" cy="457200"/>
          </a:xfrm>
          <a:prstGeom prst="rect">
            <a:avLst/>
          </a:prstGeom>
          <a:noFill/>
          <a:ln/>
        </p:spPr>
        <p:txBody>
          <a:bodyPr wrap="square" lIns="0" tIns="0" rIns="0" bIns="0" rtlCol="0" anchor="ctr"/>
          <a:lstStyle/>
          <a:p>
            <a:pPr marL="0" indent="0" algn="ctr">
              <a:buNone/>
            </a:pPr>
            <a:r>
              <a:rPr lang="en-US" sz="1800" dirty="0">
                <a:solidFill>
                  <a:srgbClr val="3FC9D4"/>
                </a:solidFill>
                <a:latin typeface="Geologica" pitchFamily="34" charset="0"/>
                <a:ea typeface="Geologica" pitchFamily="34" charset="-122"/>
                <a:cs typeface="Geologica" pitchFamily="34" charset="-120"/>
              </a:rPr>
              <a:t>→</a:t>
            </a:r>
            <a:endParaRPr lang="en-US" sz="1800" dirty="0"/>
          </a:p>
        </p:txBody>
      </p:sp>
      <p:sp>
        <p:nvSpPr>
          <p:cNvPr id="16" name="Shape 13"/>
          <p:cNvSpPr/>
          <p:nvPr/>
        </p:nvSpPr>
        <p:spPr>
          <a:xfrm>
            <a:off x="4334256" y="2148840"/>
            <a:ext cx="3520440" cy="2788920"/>
          </a:xfrm>
          <a:prstGeom prst="roundRect">
            <a:avLst>
              <a:gd name="adj" fmla="val 3934"/>
            </a:avLst>
          </a:prstGeom>
          <a:solidFill>
            <a:srgbClr val="0F2831">
              <a:alpha val="88000"/>
            </a:srgbClr>
          </a:solidFill>
          <a:ln w="9525">
            <a:solidFill>
              <a:srgbClr val="1E4A55"/>
            </a:solidFill>
            <a:prstDash val="solid"/>
          </a:ln>
        </p:spPr>
        <p:txBody>
          <a:bodyPr/>
          <a:lstStyle/>
          <a:p>
            <a:endParaRPr lang="en-US"/>
          </a:p>
        </p:txBody>
      </p:sp>
      <p:sp>
        <p:nvSpPr>
          <p:cNvPr id="17" name="Text 14"/>
          <p:cNvSpPr txBox="1"/>
          <p:nvPr/>
        </p:nvSpPr>
        <p:spPr>
          <a:xfrm>
            <a:off x="4562856" y="2286000"/>
            <a:ext cx="548640" cy="502920"/>
          </a:xfrm>
          <a:prstGeom prst="rect">
            <a:avLst/>
          </a:prstGeom>
          <a:noFill/>
          <a:ln/>
        </p:spPr>
        <p:txBody>
          <a:bodyPr wrap="square" lIns="0" tIns="0" rIns="0" bIns="0" rtlCol="0" anchor="ctr"/>
          <a:lstStyle/>
          <a:p>
            <a:pPr marL="0" indent="0">
              <a:buNone/>
            </a:pPr>
            <a:r>
              <a:rPr lang="en-US" sz="2600" b="1" dirty="0">
                <a:solidFill>
                  <a:srgbClr val="3FC9D4"/>
                </a:solidFill>
                <a:latin typeface="Geologica" pitchFamily="34" charset="0"/>
                <a:ea typeface="Geologica" pitchFamily="34" charset="-122"/>
                <a:cs typeface="Geologica" pitchFamily="34" charset="-120"/>
              </a:rPr>
              <a:t>2</a:t>
            </a:r>
            <a:endParaRPr lang="en-US" sz="2600" dirty="0"/>
          </a:p>
        </p:txBody>
      </p:sp>
      <p:sp>
        <p:nvSpPr>
          <p:cNvPr id="18" name="Text 15"/>
          <p:cNvSpPr txBox="1"/>
          <p:nvPr/>
        </p:nvSpPr>
        <p:spPr>
          <a:xfrm>
            <a:off x="5111496"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Clone, branch, change</a:t>
            </a:r>
            <a:endParaRPr lang="en-US" sz="1400" dirty="0"/>
          </a:p>
        </p:txBody>
      </p:sp>
      <p:sp>
        <p:nvSpPr>
          <p:cNvPr id="19" name="Text 16"/>
          <p:cNvSpPr txBox="1"/>
          <p:nvPr/>
        </p:nvSpPr>
        <p:spPr>
          <a:xfrm>
            <a:off x="4562856"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Accept, then clone your partner's repo</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Branch before you touch anything</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Find one thing and change it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Commit, publish, open a pull request</a:t>
            </a:r>
            <a:endParaRPr lang="en-US" sz="1150" dirty="0"/>
          </a:p>
        </p:txBody>
      </p:sp>
      <p:sp>
        <p:nvSpPr>
          <p:cNvPr id="20" name="Text 17"/>
          <p:cNvSpPr txBox="1"/>
          <p:nvPr/>
        </p:nvSpPr>
        <p:spPr>
          <a:xfrm>
            <a:off x="4562856" y="4526280"/>
            <a:ext cx="3063240" cy="274320"/>
          </a:xfrm>
          <a:prstGeom prst="rect">
            <a:avLst/>
          </a:prstGeom>
          <a:noFill/>
          <a:ln/>
        </p:spPr>
        <p:txBody>
          <a:bodyPr wrap="square" lIns="0" tIns="0" rIns="0" bIns="0" rtlCol="0" anchor="ctr"/>
          <a:lstStyle/>
          <a:p>
            <a:pPr marL="0" indent="0">
              <a:buNone/>
            </a:pPr>
            <a:r>
              <a:rPr lang="en-US" sz="1000" dirty="0">
                <a:solidFill>
                  <a:srgbClr val="9FB4BB"/>
                </a:solidFill>
                <a:latin typeface="Geologica" pitchFamily="34" charset="0"/>
                <a:ea typeface="Geologica" pitchFamily="34" charset="-122"/>
                <a:cs typeface="Geologica" pitchFamily="34" charset="-120"/>
              </a:rPr>
              <a:t>22 min</a:t>
            </a:r>
            <a:endParaRPr lang="en-US" sz="1000" dirty="0"/>
          </a:p>
        </p:txBody>
      </p:sp>
      <p:sp>
        <p:nvSpPr>
          <p:cNvPr id="21" name="Text 18"/>
          <p:cNvSpPr txBox="1"/>
          <p:nvPr/>
        </p:nvSpPr>
        <p:spPr>
          <a:xfrm>
            <a:off x="7836408" y="3246120"/>
            <a:ext cx="256032" cy="457200"/>
          </a:xfrm>
          <a:prstGeom prst="rect">
            <a:avLst/>
          </a:prstGeom>
          <a:noFill/>
          <a:ln/>
        </p:spPr>
        <p:txBody>
          <a:bodyPr wrap="square" lIns="0" tIns="0" rIns="0" bIns="0" rtlCol="0" anchor="ctr"/>
          <a:lstStyle/>
          <a:p>
            <a:pPr marL="0" indent="0" algn="ctr">
              <a:buNone/>
            </a:pPr>
            <a:r>
              <a:rPr lang="en-US" sz="1800" dirty="0">
                <a:solidFill>
                  <a:srgbClr val="3FC9D4"/>
                </a:solidFill>
                <a:latin typeface="Geologica" pitchFamily="34" charset="0"/>
                <a:ea typeface="Geologica" pitchFamily="34" charset="-122"/>
                <a:cs typeface="Geologica" pitchFamily="34" charset="-120"/>
              </a:rPr>
              <a:t>→</a:t>
            </a:r>
            <a:endParaRPr lang="en-US" sz="1800" dirty="0"/>
          </a:p>
        </p:txBody>
      </p:sp>
      <p:sp>
        <p:nvSpPr>
          <p:cNvPr id="22" name="Shape 19"/>
          <p:cNvSpPr/>
          <p:nvPr/>
        </p:nvSpPr>
        <p:spPr>
          <a:xfrm>
            <a:off x="8074152" y="2148840"/>
            <a:ext cx="3520440" cy="2788920"/>
          </a:xfrm>
          <a:prstGeom prst="roundRect">
            <a:avLst>
              <a:gd name="adj" fmla="val 3934"/>
            </a:avLst>
          </a:prstGeom>
          <a:solidFill>
            <a:srgbClr val="0E5A66"/>
          </a:solidFill>
          <a:ln w="19050">
            <a:solidFill>
              <a:srgbClr val="3FC9D4"/>
            </a:solidFill>
            <a:prstDash val="solid"/>
          </a:ln>
        </p:spPr>
        <p:txBody>
          <a:bodyPr/>
          <a:lstStyle/>
          <a:p>
            <a:endParaRPr lang="en-US"/>
          </a:p>
        </p:txBody>
      </p:sp>
      <p:sp>
        <p:nvSpPr>
          <p:cNvPr id="23" name="Text 20"/>
          <p:cNvSpPr txBox="1"/>
          <p:nvPr/>
        </p:nvSpPr>
        <p:spPr>
          <a:xfrm>
            <a:off x="8302752" y="2286000"/>
            <a:ext cx="548640" cy="502920"/>
          </a:xfrm>
          <a:prstGeom prst="rect">
            <a:avLst/>
          </a:prstGeom>
          <a:noFill/>
          <a:ln/>
        </p:spPr>
        <p:txBody>
          <a:bodyPr wrap="square" lIns="0" tIns="0" rIns="0" bIns="0" rtlCol="0" anchor="ctr"/>
          <a:lstStyle/>
          <a:p>
            <a:pPr marL="0" indent="0">
              <a:buNone/>
            </a:pPr>
            <a:r>
              <a:rPr lang="en-US" sz="2600" b="1" dirty="0">
                <a:solidFill>
                  <a:srgbClr val="FFFFFF"/>
                </a:solidFill>
                <a:latin typeface="Geologica" pitchFamily="34" charset="0"/>
                <a:ea typeface="Geologica" pitchFamily="34" charset="-122"/>
                <a:cs typeface="Geologica" pitchFamily="34" charset="-120"/>
              </a:rPr>
              <a:t>3</a:t>
            </a:r>
            <a:endParaRPr lang="en-US" sz="2600" dirty="0"/>
          </a:p>
        </p:txBody>
      </p:sp>
      <p:sp>
        <p:nvSpPr>
          <p:cNvPr id="24" name="Text 21"/>
          <p:cNvSpPr txBox="1"/>
          <p:nvPr/>
        </p:nvSpPr>
        <p:spPr>
          <a:xfrm>
            <a:off x="8851392" y="2368296"/>
            <a:ext cx="2514600" cy="365760"/>
          </a:xfrm>
          <a:prstGeom prst="rect">
            <a:avLst/>
          </a:prstGeom>
          <a:noFill/>
          <a:ln/>
        </p:spPr>
        <p:txBody>
          <a:bodyPr wrap="square" lIns="0" tIns="0" rIns="0" bIns="0" rtlCol="0" anchor="ctr"/>
          <a:lstStyle/>
          <a:p>
            <a:pPr marL="0" indent="0">
              <a:buNone/>
            </a:pPr>
            <a:r>
              <a:rPr lang="en-US" sz="1400" b="1" dirty="0">
                <a:solidFill>
                  <a:srgbClr val="FFFFFF"/>
                </a:solidFill>
                <a:latin typeface="Geologica" pitchFamily="34" charset="0"/>
                <a:ea typeface="Geologica" pitchFamily="34" charset="-122"/>
                <a:cs typeface="Geologica" pitchFamily="34" charset="-120"/>
              </a:rPr>
              <a:t>Review, merge, sync</a:t>
            </a:r>
            <a:endParaRPr lang="en-US" sz="1400" dirty="0"/>
          </a:p>
        </p:txBody>
      </p:sp>
      <p:sp>
        <p:nvSpPr>
          <p:cNvPr id="25" name="Text 22"/>
          <p:cNvSpPr txBox="1"/>
          <p:nvPr/>
        </p:nvSpPr>
        <p:spPr>
          <a:xfrm>
            <a:off x="8302752" y="2926080"/>
            <a:ext cx="3063240" cy="1600200"/>
          </a:xfrm>
          <a:prstGeom prst="rect">
            <a:avLst/>
          </a:prstGeom>
          <a:noFill/>
          <a:ln/>
        </p:spPr>
        <p:txBody>
          <a:bodyPr wrap="square" rtlCol="0" anchor="t"/>
          <a:lstStyle/>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Open the PR on your own repo</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Read the diff, leave a comment</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Merge and delete the branch</a:t>
            </a:r>
            <a:endParaRPr lang="en-US" sz="1150" dirty="0"/>
          </a:p>
          <a:p>
            <a:pPr marL="342900" indent="-342900">
              <a:spcAft>
                <a:spcPts val="500"/>
              </a:spcAft>
              <a:buSzPct val="100000"/>
              <a:buChar char="•"/>
            </a:pPr>
            <a:r>
              <a:rPr lang="en-US" sz="1150" dirty="0">
                <a:solidFill>
                  <a:srgbClr val="E4EEF1"/>
                </a:solidFill>
                <a:latin typeface="Geologica" pitchFamily="34" charset="0"/>
                <a:ea typeface="Geologica" pitchFamily="34" charset="-122"/>
                <a:cs typeface="Geologica" pitchFamily="34" charset="-120"/>
              </a:rPr>
              <a:t>Pull it back into Replit</a:t>
            </a:r>
            <a:endParaRPr lang="en-US" sz="1150" dirty="0"/>
          </a:p>
        </p:txBody>
      </p:sp>
      <p:sp>
        <p:nvSpPr>
          <p:cNvPr id="26" name="Text 23"/>
          <p:cNvSpPr txBox="1"/>
          <p:nvPr/>
        </p:nvSpPr>
        <p:spPr>
          <a:xfrm>
            <a:off x="8302752" y="4526280"/>
            <a:ext cx="3063240" cy="274320"/>
          </a:xfrm>
          <a:prstGeom prst="rect">
            <a:avLst/>
          </a:prstGeom>
          <a:noFill/>
          <a:ln/>
        </p:spPr>
        <p:txBody>
          <a:bodyPr wrap="square" lIns="0" tIns="0" rIns="0" bIns="0" rtlCol="0" anchor="ctr"/>
          <a:lstStyle/>
          <a:p>
            <a:pPr marL="0" indent="0">
              <a:buNone/>
            </a:pPr>
            <a:r>
              <a:rPr lang="en-US" sz="1000" dirty="0">
                <a:solidFill>
                  <a:srgbClr val="3FC9D4"/>
                </a:solidFill>
                <a:latin typeface="Geologica" pitchFamily="34" charset="0"/>
                <a:ea typeface="Geologica" pitchFamily="34" charset="-122"/>
                <a:cs typeface="Geologica" pitchFamily="34" charset="-120"/>
              </a:rPr>
              <a:t>10 min</a:t>
            </a:r>
            <a:endParaRPr lang="en-US" sz="1000" dirty="0"/>
          </a:p>
        </p:txBody>
      </p:sp>
      <p:sp>
        <p:nvSpPr>
          <p:cNvPr id="27" name="Text 24"/>
          <p:cNvSpPr txBox="1"/>
          <p:nvPr/>
        </p:nvSpPr>
        <p:spPr>
          <a:xfrm>
            <a:off x="594360" y="5120640"/>
            <a:ext cx="10972800" cy="457200"/>
          </a:xfrm>
          <a:prstGeom prst="rect">
            <a:avLst/>
          </a:prstGeom>
          <a:noFill/>
          <a:ln/>
        </p:spPr>
        <p:txBody>
          <a:bodyPr wrap="square" lIns="0" tIns="0" rIns="0" bIns="0" rtlCol="0" anchor="ctr"/>
          <a:lstStyle/>
          <a:p>
            <a:pPr marL="0" indent="0">
              <a:buNone/>
            </a:pPr>
            <a:r>
              <a:rPr lang="en-US" sz="1150" dirty="0">
                <a:solidFill>
                  <a:srgbClr val="9FB4BB"/>
                </a:solidFill>
                <a:latin typeface="Geologica" pitchFamily="34" charset="0"/>
                <a:ea typeface="Geologica" pitchFamily="34" charset="-122"/>
                <a:cs typeface="Geologica" pitchFamily="34" charset="-120"/>
              </a:rPr>
              <a:t>Round 3 closes the loop: the change you receive came from your partner's Round 2, and the change you made lands in their Round 3.</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30</a:t>
            </a:r>
            <a:endParaRPr lang="en-US" sz="900" dirty="0"/>
          </a:p>
        </p:txBody>
      </p:sp>
      <p:sp>
        <p:nvSpPr>
          <p:cNvPr id="4" name="Shape 1"/>
          <p:cNvSpPr/>
          <p:nvPr/>
        </p:nvSpPr>
        <p:spPr>
          <a:xfrm>
            <a:off x="594360" y="1965960"/>
            <a:ext cx="2665476"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1965960"/>
            <a:ext cx="2665476"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3 · REVIEW, MERGE, SYNC</a:t>
            </a:r>
            <a:endParaRPr lang="en-US" sz="850" dirty="0"/>
          </a:p>
        </p:txBody>
      </p:sp>
      <p:sp>
        <p:nvSpPr>
          <p:cNvPr id="6" name="Text 3"/>
          <p:cNvSpPr txBox="1"/>
          <p:nvPr/>
        </p:nvSpPr>
        <p:spPr>
          <a:xfrm>
            <a:off x="566928" y="237744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Geologica" pitchFamily="34" charset="0"/>
                <a:ea typeface="Geologica" pitchFamily="34" charset="-122"/>
                <a:cs typeface="Geologica" pitchFamily="34" charset="-120"/>
              </a:rPr>
              <a:t>Close the loop</a:t>
            </a:r>
            <a:endParaRPr lang="en-US" sz="4400" dirty="0"/>
          </a:p>
        </p:txBody>
      </p:sp>
      <p:sp>
        <p:nvSpPr>
          <p:cNvPr id="7" name="Text 4"/>
          <p:cNvSpPr txBox="1"/>
          <p:nvPr/>
        </p:nvSpPr>
        <p:spPr>
          <a:xfrm>
            <a:off x="594360" y="3429000"/>
            <a:ext cx="9601200" cy="640080"/>
          </a:xfrm>
          <a:prstGeom prst="rect">
            <a:avLst/>
          </a:prstGeom>
          <a:noFill/>
          <a:ln/>
        </p:spPr>
        <p:txBody>
          <a:bodyPr wrap="square" lIns="0" tIns="0" rIns="0" bIns="0" rtlCol="0" anchor="ctr"/>
          <a:lstStyle/>
          <a:p>
            <a:pPr marL="0" indent="0">
              <a:buNone/>
            </a:pPr>
            <a:r>
              <a:rPr lang="en-US" sz="1600" dirty="0">
                <a:solidFill>
                  <a:srgbClr val="E4EEF1"/>
                </a:solidFill>
                <a:latin typeface="Geologica" pitchFamily="34" charset="0"/>
                <a:ea typeface="Geologica" pitchFamily="34" charset="-122"/>
                <a:cs typeface="Geologica" pitchFamily="34" charset="-120"/>
              </a:rPr>
              <a:t>Switch back to your own repo. You are now the reviewer. Then pull the change home into Replit.</a:t>
            </a:r>
            <a:endParaRPr lang="en-US" sz="1600" dirty="0"/>
          </a:p>
        </p:txBody>
      </p:sp>
      <p:sp>
        <p:nvSpPr>
          <p:cNvPr id="8" name="Shape 5"/>
          <p:cNvSpPr/>
          <p:nvPr/>
        </p:nvSpPr>
        <p:spPr>
          <a:xfrm>
            <a:off x="594360" y="4160520"/>
            <a:ext cx="126644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9" name="Text 6"/>
          <p:cNvSpPr txBox="1"/>
          <p:nvPr/>
        </p:nvSpPr>
        <p:spPr>
          <a:xfrm>
            <a:off x="594360" y="4160520"/>
            <a:ext cx="126644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~10 MINUTES</a:t>
            </a:r>
            <a:endParaRPr lang="en-US" sz="850" dirty="0"/>
          </a:p>
        </p:txBody>
      </p:sp>
      <p:sp>
        <p:nvSpPr>
          <p:cNvPr id="10" name="Shape 7"/>
          <p:cNvSpPr/>
          <p:nvPr/>
        </p:nvSpPr>
        <p:spPr>
          <a:xfrm>
            <a:off x="594360" y="4892040"/>
            <a:ext cx="11002975" cy="640080"/>
          </a:xfrm>
          <a:prstGeom prst="roundRect">
            <a:avLst>
              <a:gd name="adj" fmla="val 14286"/>
            </a:avLst>
          </a:prstGeom>
          <a:solidFill>
            <a:srgbClr val="0B2A33">
              <a:alpha val="90000"/>
            </a:srgbClr>
          </a:solidFill>
          <a:ln w="9525">
            <a:solidFill>
              <a:srgbClr val="1E4A55"/>
            </a:solidFill>
            <a:prstDash val="solid"/>
          </a:ln>
        </p:spPr>
        <p:txBody>
          <a:bodyPr/>
          <a:lstStyle/>
          <a:p>
            <a:endParaRPr lang="en-US"/>
          </a:p>
        </p:txBody>
      </p:sp>
      <p:sp>
        <p:nvSpPr>
          <p:cNvPr id="11" name="Text 8"/>
          <p:cNvSpPr txBox="1"/>
          <p:nvPr/>
        </p:nvSpPr>
        <p:spPr>
          <a:xfrm>
            <a:off x="868680" y="4892040"/>
            <a:ext cx="10454335" cy="640080"/>
          </a:xfrm>
          <a:prstGeom prst="rect">
            <a:avLst/>
          </a:prstGeom>
          <a:noFill/>
          <a:ln/>
        </p:spPr>
        <p:txBody>
          <a:bodyPr wrap="square" lIns="0" tIns="0" rIns="0" bIns="0" rtlCol="0" anchor="ctr"/>
          <a:lstStyle/>
          <a:p>
            <a:pPr marL="0" indent="0">
              <a:buNone/>
            </a:pPr>
            <a:r>
              <a:rPr lang="en-US" sz="1250" dirty="0">
                <a:solidFill>
                  <a:srgbClr val="FFFFFF"/>
                </a:solidFill>
                <a:latin typeface="Geologica" pitchFamily="34" charset="0"/>
                <a:ea typeface="Geologica" pitchFamily="34" charset="-122"/>
                <a:cs typeface="Geologica" pitchFamily="34" charset="-120"/>
              </a:rPr>
              <a:t>The Files changed tab is the reason the whole system exists.</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31</a:t>
            </a:r>
            <a:endParaRPr lang="en-US" sz="900" dirty="0"/>
          </a:p>
        </p:txBody>
      </p:sp>
      <p:sp>
        <p:nvSpPr>
          <p:cNvPr id="4" name="Shape 1"/>
          <p:cNvSpPr/>
          <p:nvPr/>
        </p:nvSpPr>
        <p:spPr>
          <a:xfrm>
            <a:off x="594360"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3 · STEPS 3.1 TO 3.3</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4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Read the diff, leave a comment</a:t>
            </a:r>
            <a:endParaRPr lang="en-US" sz="3000" dirty="0"/>
          </a:p>
        </p:txBody>
      </p:sp>
      <p:sp>
        <p:nvSpPr>
          <p:cNvPr id="9" name="Shape 6"/>
          <p:cNvSpPr/>
          <p:nvPr/>
        </p:nvSpPr>
        <p:spPr>
          <a:xfrm>
            <a:off x="594360" y="1874520"/>
            <a:ext cx="5669280" cy="3246120"/>
          </a:xfrm>
          <a:prstGeom prst="roundRect">
            <a:avLst>
              <a:gd name="adj" fmla="val 3380"/>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57400"/>
            <a:ext cx="521208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DO THIS</a:t>
            </a:r>
            <a:endParaRPr lang="en-US" sz="850" dirty="0"/>
          </a:p>
        </p:txBody>
      </p:sp>
      <p:sp>
        <p:nvSpPr>
          <p:cNvPr id="11" name="Shape 8"/>
          <p:cNvSpPr/>
          <p:nvPr/>
        </p:nvSpPr>
        <p:spPr>
          <a:xfrm>
            <a:off x="822960"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2" name="Text 9"/>
          <p:cNvSpPr txBox="1"/>
          <p:nvPr/>
        </p:nvSpPr>
        <p:spPr>
          <a:xfrm>
            <a:off x="822960"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3" name="Text 10"/>
          <p:cNvSpPr txBox="1"/>
          <p:nvPr/>
        </p:nvSpPr>
        <p:spPr>
          <a:xfrm>
            <a:off x="1216152" y="2368296"/>
            <a:ext cx="4800600" cy="566928"/>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Your repo on GitHub.com → Pull requests tab → your partner's PR</a:t>
            </a:r>
            <a:endParaRPr lang="en-US" sz="1150" dirty="0"/>
          </a:p>
        </p:txBody>
      </p:sp>
      <p:sp>
        <p:nvSpPr>
          <p:cNvPr id="14" name="Shape 11"/>
          <p:cNvSpPr/>
          <p:nvPr/>
        </p:nvSpPr>
        <p:spPr>
          <a:xfrm>
            <a:off x="822960" y="2971800"/>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5" name="Text 12"/>
          <p:cNvSpPr txBox="1"/>
          <p:nvPr/>
        </p:nvSpPr>
        <p:spPr>
          <a:xfrm>
            <a:off x="822960" y="2971800"/>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6" name="Text 13"/>
          <p:cNvSpPr txBox="1"/>
          <p:nvPr/>
        </p:nvSpPr>
        <p:spPr>
          <a:xfrm>
            <a:off x="1216152" y="2935224"/>
            <a:ext cx="4800600" cy="566928"/>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Click Files changed</a:t>
            </a:r>
            <a:endParaRPr lang="en-US" sz="1150" dirty="0"/>
          </a:p>
        </p:txBody>
      </p:sp>
      <p:sp>
        <p:nvSpPr>
          <p:cNvPr id="17" name="Shape 14"/>
          <p:cNvSpPr/>
          <p:nvPr/>
        </p:nvSpPr>
        <p:spPr>
          <a:xfrm>
            <a:off x="822960" y="3538728"/>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8" name="Text 15"/>
          <p:cNvSpPr txBox="1"/>
          <p:nvPr/>
        </p:nvSpPr>
        <p:spPr>
          <a:xfrm>
            <a:off x="822960" y="3538728"/>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19" name="Text 16"/>
          <p:cNvSpPr txBox="1"/>
          <p:nvPr/>
        </p:nvSpPr>
        <p:spPr>
          <a:xfrm>
            <a:off x="1216152" y="3502152"/>
            <a:ext cx="4800600" cy="566928"/>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Green lines were added, red lines removed, gray lines are context</a:t>
            </a:r>
            <a:endParaRPr lang="en-US" sz="1150" dirty="0"/>
          </a:p>
        </p:txBody>
      </p:sp>
      <p:sp>
        <p:nvSpPr>
          <p:cNvPr id="20" name="Shape 17"/>
          <p:cNvSpPr/>
          <p:nvPr/>
        </p:nvSpPr>
        <p:spPr>
          <a:xfrm>
            <a:off x="822960" y="4105656"/>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1" name="Text 18"/>
          <p:cNvSpPr txBox="1"/>
          <p:nvPr/>
        </p:nvSpPr>
        <p:spPr>
          <a:xfrm>
            <a:off x="822960" y="4105656"/>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22" name="Text 19"/>
          <p:cNvSpPr txBox="1"/>
          <p:nvPr/>
        </p:nvSpPr>
        <p:spPr>
          <a:xfrm>
            <a:off x="1216152" y="4069080"/>
            <a:ext cx="4800600" cy="566928"/>
          </a:xfrm>
          <a:prstGeom prst="rect">
            <a:avLst/>
          </a:prstGeom>
          <a:noFill/>
          <a:ln/>
        </p:spPr>
        <p:txBody>
          <a:bodyPr wrap="square" lIns="0" tIns="0" rIns="0" bIns="0" rtlCol="0" anchor="t"/>
          <a:lstStyle/>
          <a:p>
            <a:pPr marL="0" indent="0">
              <a:buNone/>
            </a:pPr>
            <a:r>
              <a:rPr lang="en-US" sz="1150" dirty="0">
                <a:solidFill>
                  <a:srgbClr val="E4EEF1"/>
                </a:solidFill>
                <a:latin typeface="Geologica" pitchFamily="34" charset="0"/>
                <a:ea typeface="Geologica" pitchFamily="34" charset="-122"/>
                <a:cs typeface="Geologica" pitchFamily="34" charset="-120"/>
              </a:rPr>
              <a:t>Hover a line number → click the + → write a comment → Add single comment. "Looks good" is enough today</a:t>
            </a:r>
            <a:endParaRPr lang="en-US" sz="1150" dirty="0"/>
          </a:p>
        </p:txBody>
      </p:sp>
      <p:sp>
        <p:nvSpPr>
          <p:cNvPr id="23" name="Text 20"/>
          <p:cNvSpPr txBox="1"/>
          <p:nvPr/>
        </p:nvSpPr>
        <p:spPr>
          <a:xfrm>
            <a:off x="6492240" y="1874520"/>
            <a:ext cx="5102352" cy="274320"/>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A DIFF, READ LINE BY LINE</a:t>
            </a:r>
            <a:endParaRPr lang="en-US" sz="850" dirty="0"/>
          </a:p>
        </p:txBody>
      </p:sp>
      <p:sp>
        <p:nvSpPr>
          <p:cNvPr id="24" name="Shape 21"/>
          <p:cNvSpPr/>
          <p:nvPr/>
        </p:nvSpPr>
        <p:spPr>
          <a:xfrm>
            <a:off x="6492240" y="2258568"/>
            <a:ext cx="5102352" cy="457200"/>
          </a:xfrm>
          <a:prstGeom prst="rect">
            <a:avLst/>
          </a:prstGeom>
          <a:solidFill>
            <a:srgbClr val="F6F8FA"/>
          </a:solidFill>
          <a:ln w="6350">
            <a:solidFill>
              <a:srgbClr val="D0D7DE"/>
            </a:solidFill>
            <a:prstDash val="solid"/>
          </a:ln>
        </p:spPr>
        <p:txBody>
          <a:bodyPr/>
          <a:lstStyle/>
          <a:p>
            <a:endParaRPr lang="en-US"/>
          </a:p>
        </p:txBody>
      </p:sp>
      <p:sp>
        <p:nvSpPr>
          <p:cNvPr id="25" name="Text 22"/>
          <p:cNvSpPr txBox="1"/>
          <p:nvPr/>
        </p:nvSpPr>
        <p:spPr>
          <a:xfrm>
            <a:off x="6629400" y="2258568"/>
            <a:ext cx="4828032" cy="457200"/>
          </a:xfrm>
          <a:prstGeom prst="rect">
            <a:avLst/>
          </a:prstGeom>
          <a:noFill/>
          <a:ln/>
        </p:spPr>
        <p:txBody>
          <a:bodyPr wrap="square" lIns="0" tIns="0" rIns="0" bIns="0" rtlCol="0" anchor="ctr"/>
          <a:lstStyle/>
          <a:p>
            <a:pPr marL="0" indent="0">
              <a:buNone/>
            </a:pPr>
            <a:r>
              <a:rPr lang="en-US" sz="950" dirty="0">
                <a:solidFill>
                  <a:srgbClr val="1F2328"/>
                </a:solidFill>
                <a:latin typeface="Courier New" pitchFamily="34" charset="0"/>
                <a:ea typeface="Courier New" pitchFamily="34" charset="-122"/>
                <a:cs typeface="Courier New" pitchFamily="34" charset="-120"/>
              </a:rPr>
              <a:t>  &lt;h1&gt;Maria Lopez&lt;/h1&gt;</a:t>
            </a:r>
            <a:endParaRPr lang="en-US" sz="950" dirty="0"/>
          </a:p>
        </p:txBody>
      </p:sp>
      <p:sp>
        <p:nvSpPr>
          <p:cNvPr id="26" name="Shape 23"/>
          <p:cNvSpPr/>
          <p:nvPr/>
        </p:nvSpPr>
        <p:spPr>
          <a:xfrm>
            <a:off x="6492240" y="2715768"/>
            <a:ext cx="5102352" cy="457200"/>
          </a:xfrm>
          <a:prstGeom prst="rect">
            <a:avLst/>
          </a:prstGeom>
          <a:solidFill>
            <a:srgbClr val="FFEBE9"/>
          </a:solidFill>
          <a:ln w="6350">
            <a:solidFill>
              <a:srgbClr val="D0D7DE"/>
            </a:solidFill>
            <a:prstDash val="solid"/>
          </a:ln>
        </p:spPr>
        <p:txBody>
          <a:bodyPr/>
          <a:lstStyle/>
          <a:p>
            <a:endParaRPr lang="en-US"/>
          </a:p>
        </p:txBody>
      </p:sp>
      <p:sp>
        <p:nvSpPr>
          <p:cNvPr id="27" name="Text 24"/>
          <p:cNvSpPr txBox="1"/>
          <p:nvPr/>
        </p:nvSpPr>
        <p:spPr>
          <a:xfrm>
            <a:off x="6629400" y="2715768"/>
            <a:ext cx="4828032" cy="457200"/>
          </a:xfrm>
          <a:prstGeom prst="rect">
            <a:avLst/>
          </a:prstGeom>
          <a:noFill/>
          <a:ln/>
        </p:spPr>
        <p:txBody>
          <a:bodyPr wrap="square" lIns="0" tIns="0" rIns="0" bIns="0" rtlCol="0" anchor="ctr"/>
          <a:lstStyle/>
          <a:p>
            <a:pPr marL="0" indent="0">
              <a:buNone/>
            </a:pPr>
            <a:r>
              <a:rPr lang="en-US" sz="950" dirty="0">
                <a:solidFill>
                  <a:srgbClr val="82071E"/>
                </a:solidFill>
                <a:latin typeface="Courier New" pitchFamily="34" charset="0"/>
                <a:ea typeface="Courier New" pitchFamily="34" charset="-122"/>
                <a:cs typeface="Courier New" pitchFamily="34" charset="-120"/>
              </a:rPr>
              <a:t>- &lt;p class="tagline"&gt;Community organizer&lt;/p&gt;</a:t>
            </a:r>
            <a:endParaRPr lang="en-US" sz="950" dirty="0"/>
          </a:p>
        </p:txBody>
      </p:sp>
      <p:sp>
        <p:nvSpPr>
          <p:cNvPr id="28" name="Shape 25"/>
          <p:cNvSpPr/>
          <p:nvPr/>
        </p:nvSpPr>
        <p:spPr>
          <a:xfrm>
            <a:off x="6492240" y="3172968"/>
            <a:ext cx="5102352" cy="457200"/>
          </a:xfrm>
          <a:prstGeom prst="rect">
            <a:avLst/>
          </a:prstGeom>
          <a:solidFill>
            <a:srgbClr val="DAFBE1"/>
          </a:solidFill>
          <a:ln w="6350">
            <a:solidFill>
              <a:srgbClr val="D0D7DE"/>
            </a:solidFill>
            <a:prstDash val="solid"/>
          </a:ln>
        </p:spPr>
        <p:txBody>
          <a:bodyPr/>
          <a:lstStyle/>
          <a:p>
            <a:endParaRPr lang="en-US"/>
          </a:p>
        </p:txBody>
      </p:sp>
      <p:sp>
        <p:nvSpPr>
          <p:cNvPr id="29" name="Text 26"/>
          <p:cNvSpPr txBox="1"/>
          <p:nvPr/>
        </p:nvSpPr>
        <p:spPr>
          <a:xfrm>
            <a:off x="6629400" y="3172968"/>
            <a:ext cx="4828032" cy="457200"/>
          </a:xfrm>
          <a:prstGeom prst="rect">
            <a:avLst/>
          </a:prstGeom>
          <a:noFill/>
          <a:ln/>
        </p:spPr>
        <p:txBody>
          <a:bodyPr wrap="square" lIns="0" tIns="0" rIns="0" bIns="0" rtlCol="0" anchor="ctr"/>
          <a:lstStyle/>
          <a:p>
            <a:pPr marL="0" indent="0">
              <a:buNone/>
            </a:pPr>
            <a:r>
              <a:rPr lang="en-US" sz="950" dirty="0">
                <a:solidFill>
                  <a:srgbClr val="116329"/>
                </a:solidFill>
                <a:latin typeface="Courier New" pitchFamily="34" charset="0"/>
                <a:ea typeface="Courier New" pitchFamily="34" charset="-122"/>
                <a:cs typeface="Courier New" pitchFamily="34" charset="-120"/>
              </a:rPr>
              <a:t>+ &lt;p class="tagline"&gt;Community organizer and builder&lt;/p&gt;</a:t>
            </a:r>
            <a:endParaRPr lang="en-US" sz="950" dirty="0"/>
          </a:p>
        </p:txBody>
      </p:sp>
      <p:sp>
        <p:nvSpPr>
          <p:cNvPr id="30" name="Shape 27"/>
          <p:cNvSpPr/>
          <p:nvPr/>
        </p:nvSpPr>
        <p:spPr>
          <a:xfrm>
            <a:off x="6492240" y="3630168"/>
            <a:ext cx="5102352" cy="457200"/>
          </a:xfrm>
          <a:prstGeom prst="rect">
            <a:avLst/>
          </a:prstGeom>
          <a:solidFill>
            <a:srgbClr val="F6F8FA"/>
          </a:solidFill>
          <a:ln w="6350">
            <a:solidFill>
              <a:srgbClr val="D0D7DE"/>
            </a:solidFill>
            <a:prstDash val="solid"/>
          </a:ln>
        </p:spPr>
        <p:txBody>
          <a:bodyPr/>
          <a:lstStyle/>
          <a:p>
            <a:endParaRPr lang="en-US"/>
          </a:p>
        </p:txBody>
      </p:sp>
      <p:sp>
        <p:nvSpPr>
          <p:cNvPr id="31" name="Text 28"/>
          <p:cNvSpPr txBox="1"/>
          <p:nvPr/>
        </p:nvSpPr>
        <p:spPr>
          <a:xfrm>
            <a:off x="6629400" y="3630168"/>
            <a:ext cx="4828032" cy="457200"/>
          </a:xfrm>
          <a:prstGeom prst="rect">
            <a:avLst/>
          </a:prstGeom>
          <a:noFill/>
          <a:ln/>
        </p:spPr>
        <p:txBody>
          <a:bodyPr wrap="square" lIns="0" tIns="0" rIns="0" bIns="0" rtlCol="0" anchor="ctr"/>
          <a:lstStyle/>
          <a:p>
            <a:pPr marL="0" indent="0">
              <a:buNone/>
            </a:pPr>
            <a:r>
              <a:rPr lang="en-US" sz="950" dirty="0">
                <a:solidFill>
                  <a:srgbClr val="1F2328"/>
                </a:solidFill>
                <a:latin typeface="Courier New" pitchFamily="34" charset="0"/>
                <a:ea typeface="Courier New" pitchFamily="34" charset="-122"/>
                <a:cs typeface="Courier New" pitchFamily="34" charset="-120"/>
              </a:rPr>
              <a:t>  &lt;section id="about"&gt;</a:t>
            </a:r>
            <a:endParaRPr lang="en-US" sz="950" dirty="0"/>
          </a:p>
        </p:txBody>
      </p:sp>
      <p:sp>
        <p:nvSpPr>
          <p:cNvPr id="32" name="Text 29"/>
          <p:cNvSpPr txBox="1"/>
          <p:nvPr/>
        </p:nvSpPr>
        <p:spPr>
          <a:xfrm>
            <a:off x="6492240" y="4251960"/>
            <a:ext cx="5102352" cy="822960"/>
          </a:xfrm>
          <a:prstGeom prst="rect">
            <a:avLst/>
          </a:prstGeom>
          <a:noFill/>
          <a:ln/>
        </p:spPr>
        <p:txBody>
          <a:bodyPr wrap="square" lIns="0" tIns="0" rIns="0" bIns="0" rtlCol="0" anchor="ctr"/>
          <a:lstStyle/>
          <a:p>
            <a:pPr marL="0" indent="0">
              <a:buNone/>
            </a:pPr>
            <a:r>
              <a:rPr lang="en-US" sz="1100" dirty="0">
                <a:solidFill>
                  <a:srgbClr val="E4EEF1"/>
                </a:solidFill>
                <a:latin typeface="Geologica" pitchFamily="34" charset="0"/>
                <a:ea typeface="Geologica" pitchFamily="34" charset="-122"/>
                <a:cs typeface="Geologica" pitchFamily="34" charset="-120"/>
              </a:rPr>
              <a:t>One line out, one line in. That is the entire proposal, and you can see all of it before it becomes official.</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32</a:t>
            </a:r>
            <a:endParaRPr lang="en-US" sz="900" dirty="0"/>
          </a:p>
        </p:txBody>
      </p:sp>
      <p:sp>
        <p:nvSpPr>
          <p:cNvPr id="4" name="Shape 1"/>
          <p:cNvSpPr/>
          <p:nvPr/>
        </p:nvSpPr>
        <p:spPr>
          <a:xfrm>
            <a:off x="594360" y="502920"/>
            <a:ext cx="251002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251002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ROUND 3 · STEPS 3.4 AND 3.5</a:t>
            </a:r>
            <a:endParaRPr lang="en-US" sz="850" dirty="0"/>
          </a:p>
        </p:txBody>
      </p:sp>
      <p:sp>
        <p:nvSpPr>
          <p:cNvPr id="6" name="Shape 3"/>
          <p:cNvSpPr/>
          <p:nvPr/>
        </p:nvSpPr>
        <p:spPr>
          <a:xfrm>
            <a:off x="9165031" y="502920"/>
            <a:ext cx="2432304"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7" name="Text 4"/>
          <p:cNvSpPr txBox="1"/>
          <p:nvPr/>
        </p:nvSpPr>
        <p:spPr>
          <a:xfrm>
            <a:off x="9165031" y="502920"/>
            <a:ext cx="2432304"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PAUSE · HANDS-ON · 4 MIN</a:t>
            </a:r>
            <a:endParaRPr lang="en-US" sz="850" dirty="0"/>
          </a:p>
        </p:txBody>
      </p:sp>
      <p:sp>
        <p:nvSpPr>
          <p:cNvPr id="8" name="Text 5"/>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Merge, then pull it home</a:t>
            </a:r>
            <a:endParaRPr lang="en-US" sz="3000" dirty="0"/>
          </a:p>
        </p:txBody>
      </p:sp>
      <p:sp>
        <p:nvSpPr>
          <p:cNvPr id="9" name="Shape 6"/>
          <p:cNvSpPr/>
          <p:nvPr/>
        </p:nvSpPr>
        <p:spPr>
          <a:xfrm>
            <a:off x="594360" y="1874520"/>
            <a:ext cx="6583680" cy="3886200"/>
          </a:xfrm>
          <a:prstGeom prst="roundRect">
            <a:avLst>
              <a:gd name="adj" fmla="val 2824"/>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822960" y="2057400"/>
            <a:ext cx="6126480"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DO THIS</a:t>
            </a:r>
            <a:endParaRPr lang="en-US" sz="850" dirty="0"/>
          </a:p>
        </p:txBody>
      </p:sp>
      <p:sp>
        <p:nvSpPr>
          <p:cNvPr id="11" name="Shape 8"/>
          <p:cNvSpPr/>
          <p:nvPr/>
        </p:nvSpPr>
        <p:spPr>
          <a:xfrm>
            <a:off x="822960" y="24048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2" name="Text 9"/>
          <p:cNvSpPr txBox="1"/>
          <p:nvPr/>
        </p:nvSpPr>
        <p:spPr>
          <a:xfrm>
            <a:off x="822960" y="24048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1</a:t>
            </a:r>
            <a:endParaRPr lang="en-US" sz="900" dirty="0"/>
          </a:p>
        </p:txBody>
      </p:sp>
      <p:sp>
        <p:nvSpPr>
          <p:cNvPr id="13" name="Text 10"/>
          <p:cNvSpPr txBox="1"/>
          <p:nvPr/>
        </p:nvSpPr>
        <p:spPr>
          <a:xfrm>
            <a:off x="1216152" y="23682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Conversation tab → Merge pull request → Confirm merge</a:t>
            </a:r>
            <a:endParaRPr lang="en-US" sz="1200" dirty="0"/>
          </a:p>
        </p:txBody>
      </p:sp>
      <p:sp>
        <p:nvSpPr>
          <p:cNvPr id="14" name="Shape 11"/>
          <p:cNvSpPr/>
          <p:nvPr/>
        </p:nvSpPr>
        <p:spPr>
          <a:xfrm>
            <a:off x="822960" y="28620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5" name="Text 12"/>
          <p:cNvSpPr txBox="1"/>
          <p:nvPr/>
        </p:nvSpPr>
        <p:spPr>
          <a:xfrm>
            <a:off x="822960" y="28620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2</a:t>
            </a:r>
            <a:endParaRPr lang="en-US" sz="900" dirty="0"/>
          </a:p>
        </p:txBody>
      </p:sp>
      <p:sp>
        <p:nvSpPr>
          <p:cNvPr id="16" name="Text 13"/>
          <p:cNvSpPr txBox="1"/>
          <p:nvPr/>
        </p:nvSpPr>
        <p:spPr>
          <a:xfrm>
            <a:off x="1216152" y="28254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Delete branch (hygiene, not destruction; its history lives in main)</a:t>
            </a:r>
            <a:endParaRPr lang="en-US" sz="1200" dirty="0"/>
          </a:p>
        </p:txBody>
      </p:sp>
      <p:sp>
        <p:nvSpPr>
          <p:cNvPr id="17" name="Shape 14"/>
          <p:cNvSpPr/>
          <p:nvPr/>
        </p:nvSpPr>
        <p:spPr>
          <a:xfrm>
            <a:off x="822960" y="33192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18" name="Text 15"/>
          <p:cNvSpPr txBox="1"/>
          <p:nvPr/>
        </p:nvSpPr>
        <p:spPr>
          <a:xfrm>
            <a:off x="822960" y="33192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3</a:t>
            </a:r>
            <a:endParaRPr lang="en-US" sz="900" dirty="0"/>
          </a:p>
        </p:txBody>
      </p:sp>
      <p:sp>
        <p:nvSpPr>
          <p:cNvPr id="19" name="Text 16"/>
          <p:cNvSpPr txBox="1"/>
          <p:nvPr/>
        </p:nvSpPr>
        <p:spPr>
          <a:xfrm>
            <a:off x="1216152" y="32826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Open your project in Replit → Git pane → Pull</a:t>
            </a:r>
            <a:endParaRPr lang="en-US" sz="1200" dirty="0"/>
          </a:p>
        </p:txBody>
      </p:sp>
      <p:sp>
        <p:nvSpPr>
          <p:cNvPr id="20" name="Shape 17"/>
          <p:cNvSpPr/>
          <p:nvPr/>
        </p:nvSpPr>
        <p:spPr>
          <a:xfrm>
            <a:off x="822960" y="3776472"/>
            <a:ext cx="274320" cy="274320"/>
          </a:xfrm>
          <a:prstGeom prst="roundRect">
            <a:avLst>
              <a:gd name="adj" fmla="val 16667"/>
            </a:avLst>
          </a:prstGeom>
          <a:solidFill>
            <a:srgbClr val="143540"/>
          </a:solidFill>
          <a:ln w="6350">
            <a:solidFill>
              <a:srgbClr val="2A5A66"/>
            </a:solidFill>
            <a:prstDash val="solid"/>
          </a:ln>
        </p:spPr>
        <p:txBody>
          <a:bodyPr/>
          <a:lstStyle/>
          <a:p>
            <a:endParaRPr lang="en-US"/>
          </a:p>
        </p:txBody>
      </p:sp>
      <p:sp>
        <p:nvSpPr>
          <p:cNvPr id="21" name="Text 18"/>
          <p:cNvSpPr txBox="1"/>
          <p:nvPr/>
        </p:nvSpPr>
        <p:spPr>
          <a:xfrm>
            <a:off x="822960" y="3776472"/>
            <a:ext cx="274320" cy="274320"/>
          </a:xfrm>
          <a:prstGeom prst="rect">
            <a:avLst/>
          </a:prstGeom>
          <a:noFill/>
          <a:ln/>
        </p:spPr>
        <p:txBody>
          <a:bodyPr wrap="square" lIns="0" tIns="0" rIns="0" bIns="0" rtlCol="0" anchor="ctr"/>
          <a:lstStyle/>
          <a:p>
            <a:pPr marL="0" indent="0" algn="ctr">
              <a:buNone/>
            </a:pPr>
            <a:r>
              <a:rPr lang="en-US" sz="900" b="1" dirty="0">
                <a:solidFill>
                  <a:srgbClr val="3FC9D4"/>
                </a:solidFill>
                <a:latin typeface="Geologica" pitchFamily="34" charset="0"/>
                <a:ea typeface="Geologica" pitchFamily="34" charset="-122"/>
                <a:cs typeface="Geologica" pitchFamily="34" charset="-120"/>
              </a:rPr>
              <a:t>4</a:t>
            </a:r>
            <a:endParaRPr lang="en-US" sz="900" dirty="0"/>
          </a:p>
        </p:txBody>
      </p:sp>
      <p:sp>
        <p:nvSpPr>
          <p:cNvPr id="22" name="Text 19"/>
          <p:cNvSpPr txBox="1"/>
          <p:nvPr/>
        </p:nvSpPr>
        <p:spPr>
          <a:xfrm>
            <a:off x="1216152" y="3739896"/>
            <a:ext cx="5715000" cy="457200"/>
          </a:xfrm>
          <a:prstGeom prst="rect">
            <a:avLst/>
          </a:prstGeom>
          <a:noFill/>
          <a:ln/>
        </p:spPr>
        <p:txBody>
          <a:bodyPr wrap="square" lIns="0" tIns="0" rIns="0" bIns="0" rtlCol="0" anchor="t"/>
          <a:lstStyle/>
          <a:p>
            <a:pPr marL="0" indent="0">
              <a:buNone/>
            </a:pPr>
            <a:r>
              <a:rPr lang="en-US" sz="1200" dirty="0">
                <a:solidFill>
                  <a:srgbClr val="E4EEF1"/>
                </a:solidFill>
                <a:latin typeface="Geologica" pitchFamily="34" charset="0"/>
                <a:ea typeface="Geologica" pitchFamily="34" charset="-122"/>
                <a:cs typeface="Geologica" pitchFamily="34" charset="-120"/>
              </a:rPr>
              <a:t>Open the preview</a:t>
            </a:r>
            <a:endParaRPr lang="en-US" sz="1200" dirty="0"/>
          </a:p>
        </p:txBody>
      </p:sp>
      <p:sp>
        <p:nvSpPr>
          <p:cNvPr id="23" name="Shape 20"/>
          <p:cNvSpPr/>
          <p:nvPr/>
        </p:nvSpPr>
        <p:spPr>
          <a:xfrm>
            <a:off x="7452360" y="1874520"/>
            <a:ext cx="4144975" cy="1463040"/>
          </a:xfrm>
          <a:prstGeom prst="roundRect">
            <a:avLst>
              <a:gd name="adj" fmla="val 7500"/>
            </a:avLst>
          </a:prstGeom>
          <a:solidFill>
            <a:srgbClr val="0F2831">
              <a:alpha val="88000"/>
            </a:srgbClr>
          </a:solidFill>
          <a:ln w="9525">
            <a:solidFill>
              <a:srgbClr val="1E4A55"/>
            </a:solidFill>
            <a:prstDash val="solid"/>
          </a:ln>
        </p:spPr>
        <p:txBody>
          <a:bodyPr/>
          <a:lstStyle/>
          <a:p>
            <a:endParaRPr lang="en-US"/>
          </a:p>
        </p:txBody>
      </p:sp>
      <p:sp>
        <p:nvSpPr>
          <p:cNvPr id="24" name="Text 21"/>
          <p:cNvSpPr txBox="1"/>
          <p:nvPr/>
        </p:nvSpPr>
        <p:spPr>
          <a:xfrm>
            <a:off x="7680960" y="2057400"/>
            <a:ext cx="3687775"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YOU'RE DONE WHEN</a:t>
            </a:r>
            <a:endParaRPr lang="en-US" sz="850" dirty="0"/>
          </a:p>
        </p:txBody>
      </p:sp>
      <p:sp>
        <p:nvSpPr>
          <p:cNvPr id="25" name="Text 22"/>
          <p:cNvSpPr txBox="1"/>
          <p:nvPr/>
        </p:nvSpPr>
        <p:spPr>
          <a:xfrm>
            <a:off x="7680960" y="2386584"/>
            <a:ext cx="3687775" cy="813816"/>
          </a:xfrm>
          <a:prstGeom prst="rect">
            <a:avLst/>
          </a:prstGeom>
          <a:noFill/>
          <a:ln/>
        </p:spPr>
        <p:txBody>
          <a:bodyPr wrap="square" lIns="0" tIns="0" rIns="0" bIns="0" rtlCol="0" anchor="t"/>
          <a:lstStyle/>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Your partner's change is on your page, inside Replit, and you never touched the code.</a:t>
            </a:r>
            <a:endParaRPr lang="en-US" sz="1100" dirty="0"/>
          </a:p>
          <a:p>
            <a:pPr marL="0" indent="0">
              <a:spcAft>
                <a:spcPts val="600"/>
              </a:spcAft>
              <a:buNone/>
            </a:pPr>
            <a:endParaRPr lang="en-US" sz="1100" dirty="0"/>
          </a:p>
          <a:p>
            <a:pPr marL="0" indent="0">
              <a:spcAft>
                <a:spcPts val="600"/>
              </a:spcAft>
              <a:buNone/>
            </a:pPr>
            <a:r>
              <a:rPr lang="en-US" sz="1100" dirty="0">
                <a:solidFill>
                  <a:srgbClr val="E4EEF1"/>
                </a:solidFill>
                <a:latin typeface="Geologica" pitchFamily="34" charset="0"/>
                <a:ea typeface="Geologica" pitchFamily="34" charset="-122"/>
                <a:cs typeface="Geologica" pitchFamily="34" charset="-120"/>
              </a:rPr>
              <a:t>The merged main flowed back into your builder.</a:t>
            </a:r>
            <a:endParaRPr lang="en-US" sz="1100" dirty="0"/>
          </a:p>
        </p:txBody>
      </p:sp>
      <p:sp>
        <p:nvSpPr>
          <p:cNvPr id="26" name="Shape 23"/>
          <p:cNvSpPr/>
          <p:nvPr/>
        </p:nvSpPr>
        <p:spPr>
          <a:xfrm>
            <a:off x="7452360" y="3566160"/>
            <a:ext cx="4144975" cy="2194560"/>
          </a:xfrm>
          <a:prstGeom prst="roundRect">
            <a:avLst>
              <a:gd name="adj" fmla="val 5000"/>
            </a:avLst>
          </a:prstGeom>
          <a:solidFill>
            <a:srgbClr val="0F2831">
              <a:alpha val="88000"/>
            </a:srgbClr>
          </a:solidFill>
          <a:ln w="9525">
            <a:solidFill>
              <a:srgbClr val="1E4A55"/>
            </a:solidFill>
            <a:prstDash val="solid"/>
          </a:ln>
        </p:spPr>
        <p:txBody>
          <a:bodyPr/>
          <a:lstStyle/>
          <a:p>
            <a:endParaRPr lang="en-US"/>
          </a:p>
        </p:txBody>
      </p:sp>
      <p:sp>
        <p:nvSpPr>
          <p:cNvPr id="27" name="Text 24"/>
          <p:cNvSpPr txBox="1"/>
          <p:nvPr/>
        </p:nvSpPr>
        <p:spPr>
          <a:xfrm>
            <a:off x="7680960" y="3749040"/>
            <a:ext cx="3687775"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IF YOU'RE STUCK</a:t>
            </a:r>
            <a:endParaRPr lang="en-US" sz="850" dirty="0"/>
          </a:p>
        </p:txBody>
      </p:sp>
      <p:sp>
        <p:nvSpPr>
          <p:cNvPr id="28" name="Text 25"/>
          <p:cNvSpPr txBox="1"/>
          <p:nvPr/>
        </p:nvSpPr>
        <p:spPr>
          <a:xfrm>
            <a:off x="7680960" y="4078224"/>
            <a:ext cx="3687775" cy="1545336"/>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Replit still shows the old page: Git pane → Pull again. Still stale? Make any small commit on GitHub.com (edit the README) and pull once more.</a:t>
            </a:r>
            <a:endParaRPr lang="en-US" sz="1050" dirty="0"/>
          </a:p>
          <a:p>
            <a:pPr marL="0" indent="0">
              <a:spcAft>
                <a:spcPts val="600"/>
              </a:spcAft>
              <a:buNone/>
            </a:pPr>
            <a:endParaRPr lang="en-US" sz="1050" dirty="0"/>
          </a:p>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Merge button is gray: GitHub found a conflict. Wave a mentor; we will fix it together on screen.</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33</a:t>
            </a:r>
            <a:endParaRPr lang="en-US" sz="900" dirty="0"/>
          </a:p>
        </p:txBody>
      </p:sp>
      <p:sp>
        <p:nvSpPr>
          <p:cNvPr id="4" name="Shape 1"/>
          <p:cNvSpPr/>
          <p:nvPr/>
        </p:nvSpPr>
        <p:spPr>
          <a:xfrm>
            <a:off x="594360" y="1554480"/>
            <a:ext cx="1344168" cy="292608"/>
          </a:xfrm>
          <a:prstGeom prst="roundRect">
            <a:avLst>
              <a:gd name="adj" fmla="val 50000"/>
            </a:avLst>
          </a:prstGeom>
          <a:solidFill>
            <a:srgbClr val="0094A0"/>
          </a:solidFill>
          <a:ln w="9525">
            <a:solidFill>
              <a:srgbClr val="3FC9D4"/>
            </a:solidFill>
            <a:prstDash val="solid"/>
          </a:ln>
        </p:spPr>
        <p:txBody>
          <a:bodyPr/>
          <a:lstStyle/>
          <a:p>
            <a:endParaRPr lang="en-US"/>
          </a:p>
        </p:txBody>
      </p:sp>
      <p:sp>
        <p:nvSpPr>
          <p:cNvPr id="5" name="Text 2"/>
          <p:cNvSpPr txBox="1"/>
          <p:nvPr/>
        </p:nvSpPr>
        <p:spPr>
          <a:xfrm>
            <a:off x="594360" y="1554480"/>
            <a:ext cx="1344168" cy="292608"/>
          </a:xfrm>
          <a:prstGeom prst="rect">
            <a:avLst/>
          </a:prstGeom>
          <a:noFill/>
          <a:ln/>
        </p:spPr>
        <p:txBody>
          <a:bodyPr wrap="square" lIns="0" tIns="0" rIns="0" bIns="0" rtlCol="0" anchor="ctr"/>
          <a:lstStyle/>
          <a:p>
            <a:pPr marL="0" indent="0" algn="ctr">
              <a:buNone/>
            </a:pPr>
            <a:r>
              <a:rPr lang="en-US" sz="850" b="1" kern="0" spc="200" dirty="0">
                <a:solidFill>
                  <a:srgbClr val="FFFFFF"/>
                </a:solidFill>
                <a:latin typeface="Geologica" pitchFamily="34" charset="0"/>
                <a:ea typeface="Geologica" pitchFamily="34" charset="-122"/>
                <a:cs typeface="Geologica" pitchFamily="34" charset="-120"/>
              </a:rPr>
              <a:t>CHECKPOINT 3</a:t>
            </a:r>
            <a:endParaRPr lang="en-US" sz="850" dirty="0"/>
          </a:p>
        </p:txBody>
      </p:sp>
      <p:sp>
        <p:nvSpPr>
          <p:cNvPr id="6" name="Text 3"/>
          <p:cNvSpPr txBox="1"/>
          <p:nvPr/>
        </p:nvSpPr>
        <p:spPr>
          <a:xfrm>
            <a:off x="566928" y="1965960"/>
            <a:ext cx="10972800" cy="914400"/>
          </a:xfrm>
          <a:prstGeom prst="rect">
            <a:avLst/>
          </a:prstGeom>
          <a:noFill/>
          <a:ln/>
        </p:spPr>
        <p:txBody>
          <a:bodyPr wrap="square" lIns="0" tIns="0" rIns="0" bIns="0" rtlCol="0" anchor="ctr"/>
          <a:lstStyle/>
          <a:p>
            <a:pPr marL="0" indent="0">
              <a:buNone/>
            </a:pPr>
            <a:r>
              <a:rPr lang="en-US" sz="3400" b="1" dirty="0">
                <a:solidFill>
                  <a:srgbClr val="FFFFFF"/>
                </a:solidFill>
                <a:latin typeface="Geologica" pitchFamily="34" charset="0"/>
                <a:ea typeface="Geologica" pitchFamily="34" charset="-122"/>
                <a:cs typeface="Geologica" pitchFamily="34" charset="-120"/>
              </a:rPr>
              <a:t>The loop is closed</a:t>
            </a:r>
            <a:endParaRPr lang="en-US" sz="3400" dirty="0"/>
          </a:p>
        </p:txBody>
      </p:sp>
      <p:sp>
        <p:nvSpPr>
          <p:cNvPr id="7" name="Text 4"/>
          <p:cNvSpPr txBox="1"/>
          <p:nvPr/>
        </p:nvSpPr>
        <p:spPr>
          <a:xfrm>
            <a:off x="594360" y="2880360"/>
            <a:ext cx="10058400" cy="365760"/>
          </a:xfrm>
          <a:prstGeom prst="rect">
            <a:avLst/>
          </a:prstGeom>
          <a:noFill/>
          <a:ln/>
        </p:spPr>
        <p:txBody>
          <a:bodyPr wrap="square" lIns="0" tIns="0" rIns="0" bIns="0" rtlCol="0" anchor="ctr"/>
          <a:lstStyle/>
          <a:p>
            <a:pPr marL="0" indent="0">
              <a:buNone/>
            </a:pPr>
            <a:r>
              <a:rPr lang="en-US" sz="1400" dirty="0">
                <a:solidFill>
                  <a:srgbClr val="E4EEF1"/>
                </a:solidFill>
                <a:latin typeface="Geologica" pitchFamily="34" charset="0"/>
                <a:ea typeface="Geologica" pitchFamily="34" charset="-122"/>
                <a:cs typeface="Geologica" pitchFamily="34" charset="-120"/>
              </a:rPr>
              <a:t>Thumbs up when all of these are true for both of you. We wait for the room here.</a:t>
            </a:r>
            <a:endParaRPr lang="en-US" sz="1400" dirty="0"/>
          </a:p>
        </p:txBody>
      </p:sp>
      <p:sp>
        <p:nvSpPr>
          <p:cNvPr id="8" name="Shape 5"/>
          <p:cNvSpPr/>
          <p:nvPr/>
        </p:nvSpPr>
        <p:spPr>
          <a:xfrm>
            <a:off x="594360" y="3474720"/>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9" name="Text 6"/>
          <p:cNvSpPr txBox="1"/>
          <p:nvPr/>
        </p:nvSpPr>
        <p:spPr>
          <a:xfrm>
            <a:off x="594360" y="34747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0" name="Text 7"/>
          <p:cNvSpPr txBox="1"/>
          <p:nvPr/>
        </p:nvSpPr>
        <p:spPr>
          <a:xfrm>
            <a:off x="1143000" y="3474720"/>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Replit → GitHub → your partner's machine → a branch → a pull request → main → back into Replit</a:t>
            </a:r>
            <a:endParaRPr lang="en-US" sz="1400" dirty="0"/>
          </a:p>
        </p:txBody>
      </p:sp>
      <p:sp>
        <p:nvSpPr>
          <p:cNvPr id="11" name="Shape 8"/>
          <p:cNvSpPr/>
          <p:nvPr/>
        </p:nvSpPr>
        <p:spPr>
          <a:xfrm>
            <a:off x="594360" y="4005072"/>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12" name="Text 9"/>
          <p:cNvSpPr txBox="1"/>
          <p:nvPr/>
        </p:nvSpPr>
        <p:spPr>
          <a:xfrm>
            <a:off x="594360" y="400507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3" name="Text 10"/>
          <p:cNvSpPr txBox="1"/>
          <p:nvPr/>
        </p:nvSpPr>
        <p:spPr>
          <a:xfrm>
            <a:off x="1143000" y="4005072"/>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Nothing broke, because nobody worked on main directly</a:t>
            </a:r>
            <a:endParaRPr lang="en-US" sz="1400" dirty="0"/>
          </a:p>
        </p:txBody>
      </p:sp>
      <p:sp>
        <p:nvSpPr>
          <p:cNvPr id="14" name="Shape 11"/>
          <p:cNvSpPr/>
          <p:nvPr/>
        </p:nvSpPr>
        <p:spPr>
          <a:xfrm>
            <a:off x="594360" y="4535424"/>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15" name="Text 12"/>
          <p:cNvSpPr txBox="1"/>
          <p:nvPr/>
        </p:nvSpPr>
        <p:spPr>
          <a:xfrm>
            <a:off x="594360" y="45354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6" name="Text 13"/>
          <p:cNvSpPr txBox="1"/>
          <p:nvPr/>
        </p:nvSpPr>
        <p:spPr>
          <a:xfrm>
            <a:off x="1143000" y="4535424"/>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You did this twice: once as the author, once as the reviewer</a:t>
            </a:r>
            <a:endParaRPr lang="en-US" sz="1400" dirty="0"/>
          </a:p>
        </p:txBody>
      </p:sp>
      <p:sp>
        <p:nvSpPr>
          <p:cNvPr id="17" name="Shape 14"/>
          <p:cNvSpPr/>
          <p:nvPr/>
        </p:nvSpPr>
        <p:spPr>
          <a:xfrm>
            <a:off x="594360" y="5065776"/>
            <a:ext cx="384048" cy="384048"/>
          </a:xfrm>
          <a:prstGeom prst="roundRect">
            <a:avLst>
              <a:gd name="adj" fmla="val 14286"/>
            </a:avLst>
          </a:prstGeom>
          <a:solidFill>
            <a:srgbClr val="0E5A66"/>
          </a:solidFill>
          <a:ln w="12700">
            <a:solidFill>
              <a:srgbClr val="3FC9D4"/>
            </a:solidFill>
            <a:prstDash val="solid"/>
          </a:ln>
        </p:spPr>
        <p:txBody>
          <a:bodyPr/>
          <a:lstStyle/>
          <a:p>
            <a:endParaRPr lang="en-US"/>
          </a:p>
        </p:txBody>
      </p:sp>
      <p:sp>
        <p:nvSpPr>
          <p:cNvPr id="18" name="Text 15"/>
          <p:cNvSpPr txBox="1"/>
          <p:nvPr/>
        </p:nvSpPr>
        <p:spPr>
          <a:xfrm>
            <a:off x="594360" y="506577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logica" pitchFamily="34" charset="0"/>
                <a:ea typeface="Geologica" pitchFamily="34" charset="-122"/>
                <a:cs typeface="Geologica" pitchFamily="34" charset="-120"/>
              </a:rPr>
              <a:t>✓</a:t>
            </a:r>
            <a:endParaRPr lang="en-US" sz="1400" dirty="0"/>
          </a:p>
        </p:txBody>
      </p:sp>
      <p:sp>
        <p:nvSpPr>
          <p:cNvPr id="19" name="Text 16"/>
          <p:cNvSpPr txBox="1"/>
          <p:nvPr/>
        </p:nvSpPr>
        <p:spPr>
          <a:xfrm>
            <a:off x="1143000" y="5065776"/>
            <a:ext cx="10332720" cy="384048"/>
          </a:xfrm>
          <a:prstGeom prst="rect">
            <a:avLst/>
          </a:prstGeom>
          <a:noFill/>
          <a:ln/>
        </p:spPr>
        <p:txBody>
          <a:bodyPr wrap="square" lIns="0" tIns="0" rIns="0" bIns="0" rtlCol="0" anchor="ctr"/>
          <a:lstStyle/>
          <a:p>
            <a:pPr marL="0" indent="0">
              <a:buNone/>
            </a:pPr>
            <a:r>
              <a:rPr lang="en-US" sz="1400" dirty="0">
                <a:solidFill>
                  <a:srgbClr val="FFFFFF"/>
                </a:solidFill>
                <a:latin typeface="Geologica" pitchFamily="34" charset="0"/>
                <a:ea typeface="Geologica" pitchFamily="34" charset="-122"/>
                <a:cs typeface="Geologica" pitchFamily="34" charset="-120"/>
              </a:rPr>
              <a:t>Your build-cycle team will run this loop dozens of times. By the third time it is boring, and boring is the goal</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34</a:t>
            </a:r>
            <a:endParaRPr lang="en-US" sz="900" dirty="0"/>
          </a:p>
        </p:txBody>
      </p:sp>
      <p:sp>
        <p:nvSpPr>
          <p:cNvPr id="4" name="Shape 1"/>
          <p:cNvSpPr/>
          <p:nvPr/>
        </p:nvSpPr>
        <p:spPr>
          <a:xfrm>
            <a:off x="594360" y="1965960"/>
            <a:ext cx="289864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1965960"/>
            <a:ext cx="289864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PART 4 · FROM LAB TO BUILD CYCLE</a:t>
            </a:r>
            <a:endParaRPr lang="en-US" sz="850" dirty="0"/>
          </a:p>
        </p:txBody>
      </p:sp>
      <p:sp>
        <p:nvSpPr>
          <p:cNvPr id="6" name="Text 3"/>
          <p:cNvSpPr txBox="1"/>
          <p:nvPr/>
        </p:nvSpPr>
        <p:spPr>
          <a:xfrm>
            <a:off x="566928" y="237744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Geologica" pitchFamily="34" charset="0"/>
                <a:ea typeface="Geologica" pitchFamily="34" charset="-122"/>
                <a:cs typeface="Geologica" pitchFamily="34" charset="-120"/>
              </a:rPr>
              <a:t>Your team's working agreement</a:t>
            </a:r>
            <a:endParaRPr lang="en-US" sz="4400" dirty="0"/>
          </a:p>
        </p:txBody>
      </p:sp>
      <p:sp>
        <p:nvSpPr>
          <p:cNvPr id="7" name="Text 4"/>
          <p:cNvSpPr txBox="1"/>
          <p:nvPr/>
        </p:nvSpPr>
        <p:spPr>
          <a:xfrm>
            <a:off x="594360" y="3429000"/>
            <a:ext cx="9601200" cy="640080"/>
          </a:xfrm>
          <a:prstGeom prst="rect">
            <a:avLst/>
          </a:prstGeom>
          <a:noFill/>
          <a:ln/>
        </p:spPr>
        <p:txBody>
          <a:bodyPr wrap="square" lIns="0" tIns="0" rIns="0" bIns="0" rtlCol="0" anchor="ctr"/>
          <a:lstStyle/>
          <a:p>
            <a:pPr marL="0" indent="0">
              <a:buNone/>
            </a:pPr>
            <a:r>
              <a:rPr lang="en-US" sz="1600" dirty="0">
                <a:solidFill>
                  <a:srgbClr val="E4EEF1"/>
                </a:solidFill>
                <a:latin typeface="Geologica" pitchFamily="34" charset="0"/>
                <a:ea typeface="Geologica" pitchFamily="34" charset="-122"/>
                <a:cs typeface="Geologica" pitchFamily="34" charset="-120"/>
              </a:rPr>
              <a:t>What you just practiced, written down: eight rules, one habit, and the first thing your team should do together.</a:t>
            </a:r>
            <a:endParaRPr lang="en-US" sz="1600" dirty="0"/>
          </a:p>
        </p:txBody>
      </p:sp>
      <p:sp>
        <p:nvSpPr>
          <p:cNvPr id="8" name="Shape 5"/>
          <p:cNvSpPr/>
          <p:nvPr/>
        </p:nvSpPr>
        <p:spPr>
          <a:xfrm>
            <a:off x="594360" y="4160520"/>
            <a:ext cx="1188720"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9" name="Text 6"/>
          <p:cNvSpPr txBox="1"/>
          <p:nvPr/>
        </p:nvSpPr>
        <p:spPr>
          <a:xfrm>
            <a:off x="594360" y="4160520"/>
            <a:ext cx="1188720"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~8 MINUTES</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35</a:t>
            </a:r>
            <a:endParaRPr lang="en-US" sz="900" dirty="0"/>
          </a:p>
        </p:txBody>
      </p:sp>
      <p:sp>
        <p:nvSpPr>
          <p:cNvPr id="4" name="Shape 1"/>
          <p:cNvSpPr/>
          <p:nvPr/>
        </p:nvSpPr>
        <p:spPr>
          <a:xfrm>
            <a:off x="594360" y="502920"/>
            <a:ext cx="1965960"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965960"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THE HANDOFF PROTOCOL</a:t>
            </a:r>
            <a:endParaRPr lang="en-US" sz="850" dirty="0"/>
          </a:p>
        </p:txBody>
      </p:sp>
      <p:sp>
        <p:nvSpPr>
          <p:cNvPr id="6" name="Text 3"/>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The Handoff Protocol</a:t>
            </a:r>
            <a:endParaRPr lang="en-US" sz="3000" dirty="0"/>
          </a:p>
        </p:txBody>
      </p:sp>
      <p:sp>
        <p:nvSpPr>
          <p:cNvPr id="7" name="Text 4"/>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Pin it in your team's Slack channel. Someone who missed today should be able to follow it from the sheet alone.</a:t>
            </a:r>
            <a:endParaRPr lang="en-US" sz="1300" dirty="0"/>
          </a:p>
        </p:txBody>
      </p:sp>
      <p:sp>
        <p:nvSpPr>
          <p:cNvPr id="8" name="Shape 5"/>
          <p:cNvSpPr/>
          <p:nvPr/>
        </p:nvSpPr>
        <p:spPr>
          <a:xfrm>
            <a:off x="594360" y="2194560"/>
            <a:ext cx="5394960" cy="658368"/>
          </a:xfrm>
          <a:prstGeom prst="roundRect">
            <a:avLst>
              <a:gd name="adj" fmla="val 11111"/>
            </a:avLst>
          </a:prstGeom>
          <a:solidFill>
            <a:srgbClr val="0F2831">
              <a:alpha val="88000"/>
            </a:srgbClr>
          </a:solidFill>
          <a:ln w="9525">
            <a:solidFill>
              <a:srgbClr val="1E4A55"/>
            </a:solidFill>
            <a:prstDash val="solid"/>
          </a:ln>
        </p:spPr>
        <p:txBody>
          <a:bodyPr/>
          <a:lstStyle/>
          <a:p>
            <a:endParaRPr lang="en-US"/>
          </a:p>
        </p:txBody>
      </p:sp>
      <p:sp>
        <p:nvSpPr>
          <p:cNvPr id="9" name="Shape 6"/>
          <p:cNvSpPr/>
          <p:nvPr/>
        </p:nvSpPr>
        <p:spPr>
          <a:xfrm>
            <a:off x="731520" y="2340864"/>
            <a:ext cx="365760" cy="365760"/>
          </a:xfrm>
          <a:prstGeom prst="roundRect">
            <a:avLst>
              <a:gd name="adj" fmla="val 15000"/>
            </a:avLst>
          </a:prstGeom>
          <a:solidFill>
            <a:srgbClr val="0094A0"/>
          </a:solidFill>
          <a:ln w="6350">
            <a:solidFill>
              <a:srgbClr val="3FC9D4"/>
            </a:solidFill>
            <a:prstDash val="solid"/>
          </a:ln>
        </p:spPr>
        <p:txBody>
          <a:bodyPr/>
          <a:lstStyle/>
          <a:p>
            <a:endParaRPr lang="en-US"/>
          </a:p>
        </p:txBody>
      </p:sp>
      <p:sp>
        <p:nvSpPr>
          <p:cNvPr id="10" name="Text 7"/>
          <p:cNvSpPr txBox="1"/>
          <p:nvPr/>
        </p:nvSpPr>
        <p:spPr>
          <a:xfrm>
            <a:off x="731520" y="23408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Geologica" pitchFamily="34" charset="0"/>
                <a:ea typeface="Geologica" pitchFamily="34" charset="-122"/>
                <a:cs typeface="Geologica" pitchFamily="34" charset="-120"/>
              </a:rPr>
              <a:t>1</a:t>
            </a:r>
            <a:endParaRPr lang="en-US" sz="1200" dirty="0"/>
          </a:p>
        </p:txBody>
      </p:sp>
      <p:sp>
        <p:nvSpPr>
          <p:cNvPr id="11" name="Text 8"/>
          <p:cNvSpPr txBox="1"/>
          <p:nvPr/>
        </p:nvSpPr>
        <p:spPr>
          <a:xfrm>
            <a:off x="1234440" y="2194560"/>
            <a:ext cx="4617720" cy="658368"/>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main always works. </a:t>
            </a:r>
            <a:r>
              <a:rPr lang="en-US" sz="1050" dirty="0">
                <a:solidFill>
                  <a:srgbClr val="E4EEF1"/>
                </a:solidFill>
                <a:latin typeface="Geologica" pitchFamily="34" charset="0"/>
                <a:ea typeface="Geologica" pitchFamily="34" charset="-122"/>
                <a:cs typeface="Geologica" pitchFamily="34" charset="-120"/>
              </a:rPr>
              <a:t>No direct commits to main.</a:t>
            </a:r>
            <a:endParaRPr lang="en-US" sz="1150" dirty="0"/>
          </a:p>
        </p:txBody>
      </p:sp>
      <p:sp>
        <p:nvSpPr>
          <p:cNvPr id="12" name="Shape 9"/>
          <p:cNvSpPr/>
          <p:nvPr/>
        </p:nvSpPr>
        <p:spPr>
          <a:xfrm>
            <a:off x="594360" y="2962656"/>
            <a:ext cx="5394960" cy="658368"/>
          </a:xfrm>
          <a:prstGeom prst="roundRect">
            <a:avLst>
              <a:gd name="adj" fmla="val 11111"/>
            </a:avLst>
          </a:prstGeom>
          <a:solidFill>
            <a:srgbClr val="0F2831">
              <a:alpha val="88000"/>
            </a:srgbClr>
          </a:solidFill>
          <a:ln w="9525">
            <a:solidFill>
              <a:srgbClr val="1E4A55"/>
            </a:solidFill>
            <a:prstDash val="solid"/>
          </a:ln>
        </p:spPr>
        <p:txBody>
          <a:bodyPr/>
          <a:lstStyle/>
          <a:p>
            <a:endParaRPr lang="en-US"/>
          </a:p>
        </p:txBody>
      </p:sp>
      <p:sp>
        <p:nvSpPr>
          <p:cNvPr id="13" name="Shape 10"/>
          <p:cNvSpPr/>
          <p:nvPr/>
        </p:nvSpPr>
        <p:spPr>
          <a:xfrm>
            <a:off x="731520" y="3108960"/>
            <a:ext cx="365760" cy="365760"/>
          </a:xfrm>
          <a:prstGeom prst="roundRect">
            <a:avLst>
              <a:gd name="adj" fmla="val 15000"/>
            </a:avLst>
          </a:prstGeom>
          <a:solidFill>
            <a:srgbClr val="0094A0"/>
          </a:solidFill>
          <a:ln w="6350">
            <a:solidFill>
              <a:srgbClr val="3FC9D4"/>
            </a:solidFill>
            <a:prstDash val="solid"/>
          </a:ln>
        </p:spPr>
        <p:txBody>
          <a:bodyPr/>
          <a:lstStyle/>
          <a:p>
            <a:endParaRPr lang="en-US"/>
          </a:p>
        </p:txBody>
      </p:sp>
      <p:sp>
        <p:nvSpPr>
          <p:cNvPr id="14" name="Text 11"/>
          <p:cNvSpPr txBox="1"/>
          <p:nvPr/>
        </p:nvSpPr>
        <p:spPr>
          <a:xfrm>
            <a:off x="731520" y="31089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Geologica" pitchFamily="34" charset="0"/>
                <a:ea typeface="Geologica" pitchFamily="34" charset="-122"/>
                <a:cs typeface="Geologica" pitchFamily="34" charset="-120"/>
              </a:rPr>
              <a:t>2</a:t>
            </a:r>
            <a:endParaRPr lang="en-US" sz="1200" dirty="0"/>
          </a:p>
        </p:txBody>
      </p:sp>
      <p:sp>
        <p:nvSpPr>
          <p:cNvPr id="15" name="Text 12"/>
          <p:cNvSpPr txBox="1"/>
          <p:nvPr/>
        </p:nvSpPr>
        <p:spPr>
          <a:xfrm>
            <a:off x="1234440" y="2962656"/>
            <a:ext cx="4617720" cy="658368"/>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Branch first, then edit. </a:t>
            </a:r>
            <a:r>
              <a:rPr lang="en-US" sz="1050" dirty="0">
                <a:solidFill>
                  <a:srgbClr val="E4EEF1"/>
                </a:solidFill>
                <a:latin typeface="Geologica" pitchFamily="34" charset="0"/>
                <a:ea typeface="Geologica" pitchFamily="34" charset="-122"/>
                <a:cs typeface="Geologica" pitchFamily="34" charset="-120"/>
              </a:rPr>
              <a:t>Check the branch indicator before you type.</a:t>
            </a:r>
            <a:endParaRPr lang="en-US" sz="1150" dirty="0"/>
          </a:p>
        </p:txBody>
      </p:sp>
      <p:sp>
        <p:nvSpPr>
          <p:cNvPr id="16" name="Shape 13"/>
          <p:cNvSpPr/>
          <p:nvPr/>
        </p:nvSpPr>
        <p:spPr>
          <a:xfrm>
            <a:off x="594360" y="3730752"/>
            <a:ext cx="5394960" cy="658368"/>
          </a:xfrm>
          <a:prstGeom prst="roundRect">
            <a:avLst>
              <a:gd name="adj" fmla="val 11111"/>
            </a:avLst>
          </a:prstGeom>
          <a:solidFill>
            <a:srgbClr val="0F2831">
              <a:alpha val="88000"/>
            </a:srgbClr>
          </a:solidFill>
          <a:ln w="9525">
            <a:solidFill>
              <a:srgbClr val="1E4A55"/>
            </a:solidFill>
            <a:prstDash val="solid"/>
          </a:ln>
        </p:spPr>
        <p:txBody>
          <a:bodyPr/>
          <a:lstStyle/>
          <a:p>
            <a:endParaRPr lang="en-US"/>
          </a:p>
        </p:txBody>
      </p:sp>
      <p:sp>
        <p:nvSpPr>
          <p:cNvPr id="17" name="Shape 14"/>
          <p:cNvSpPr/>
          <p:nvPr/>
        </p:nvSpPr>
        <p:spPr>
          <a:xfrm>
            <a:off x="731520" y="3877056"/>
            <a:ext cx="365760" cy="365760"/>
          </a:xfrm>
          <a:prstGeom prst="roundRect">
            <a:avLst>
              <a:gd name="adj" fmla="val 15000"/>
            </a:avLst>
          </a:prstGeom>
          <a:solidFill>
            <a:srgbClr val="0094A0"/>
          </a:solidFill>
          <a:ln w="6350">
            <a:solidFill>
              <a:srgbClr val="3FC9D4"/>
            </a:solidFill>
            <a:prstDash val="solid"/>
          </a:ln>
        </p:spPr>
        <p:txBody>
          <a:bodyPr/>
          <a:lstStyle/>
          <a:p>
            <a:endParaRPr lang="en-US"/>
          </a:p>
        </p:txBody>
      </p:sp>
      <p:sp>
        <p:nvSpPr>
          <p:cNvPr id="18" name="Text 15"/>
          <p:cNvSpPr txBox="1"/>
          <p:nvPr/>
        </p:nvSpPr>
        <p:spPr>
          <a:xfrm>
            <a:off x="731520" y="387705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Geologica" pitchFamily="34" charset="0"/>
                <a:ea typeface="Geologica" pitchFamily="34" charset="-122"/>
                <a:cs typeface="Geologica" pitchFamily="34" charset="-120"/>
              </a:rPr>
              <a:t>3</a:t>
            </a:r>
            <a:endParaRPr lang="en-US" sz="1200" dirty="0"/>
          </a:p>
        </p:txBody>
      </p:sp>
      <p:sp>
        <p:nvSpPr>
          <p:cNvPr id="19" name="Text 16"/>
          <p:cNvSpPr txBox="1"/>
          <p:nvPr/>
        </p:nvSpPr>
        <p:spPr>
          <a:xfrm>
            <a:off x="1234440" y="3730752"/>
            <a:ext cx="4617720" cy="658368"/>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One branch = one person = one task. </a:t>
            </a:r>
            <a:r>
              <a:rPr lang="en-US" sz="1050" dirty="0">
                <a:solidFill>
                  <a:srgbClr val="E4EEF1"/>
                </a:solidFill>
                <a:latin typeface="Geologica" pitchFamily="34" charset="0"/>
                <a:ea typeface="Geologica" pitchFamily="34" charset="-122"/>
                <a:cs typeface="Geologica" pitchFamily="34" charset="-120"/>
              </a:rPr>
              <a:t>feature/… or fix/…, named so a teammate can guess what is on it.</a:t>
            </a:r>
            <a:endParaRPr lang="en-US" sz="1150" dirty="0"/>
          </a:p>
        </p:txBody>
      </p:sp>
      <p:sp>
        <p:nvSpPr>
          <p:cNvPr id="20" name="Shape 17"/>
          <p:cNvSpPr/>
          <p:nvPr/>
        </p:nvSpPr>
        <p:spPr>
          <a:xfrm>
            <a:off x="594360" y="4498848"/>
            <a:ext cx="5394960" cy="658368"/>
          </a:xfrm>
          <a:prstGeom prst="roundRect">
            <a:avLst>
              <a:gd name="adj" fmla="val 11111"/>
            </a:avLst>
          </a:prstGeom>
          <a:solidFill>
            <a:srgbClr val="0F2831">
              <a:alpha val="88000"/>
            </a:srgbClr>
          </a:solidFill>
          <a:ln w="9525">
            <a:solidFill>
              <a:srgbClr val="1E4A55"/>
            </a:solidFill>
            <a:prstDash val="solid"/>
          </a:ln>
        </p:spPr>
        <p:txBody>
          <a:bodyPr/>
          <a:lstStyle/>
          <a:p>
            <a:endParaRPr lang="en-US"/>
          </a:p>
        </p:txBody>
      </p:sp>
      <p:sp>
        <p:nvSpPr>
          <p:cNvPr id="21" name="Shape 18"/>
          <p:cNvSpPr/>
          <p:nvPr/>
        </p:nvSpPr>
        <p:spPr>
          <a:xfrm>
            <a:off x="731520" y="4645152"/>
            <a:ext cx="365760" cy="365760"/>
          </a:xfrm>
          <a:prstGeom prst="roundRect">
            <a:avLst>
              <a:gd name="adj" fmla="val 15000"/>
            </a:avLst>
          </a:prstGeom>
          <a:solidFill>
            <a:srgbClr val="0E5A66"/>
          </a:solidFill>
          <a:ln w="6350">
            <a:solidFill>
              <a:srgbClr val="3FC9D4"/>
            </a:solidFill>
            <a:prstDash val="solid"/>
          </a:ln>
        </p:spPr>
        <p:txBody>
          <a:bodyPr/>
          <a:lstStyle/>
          <a:p>
            <a:endParaRPr lang="en-US"/>
          </a:p>
        </p:txBody>
      </p:sp>
      <p:sp>
        <p:nvSpPr>
          <p:cNvPr id="22" name="Text 19"/>
          <p:cNvSpPr txBox="1"/>
          <p:nvPr/>
        </p:nvSpPr>
        <p:spPr>
          <a:xfrm>
            <a:off x="731520" y="464515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Geologica" pitchFamily="34" charset="0"/>
                <a:ea typeface="Geologica" pitchFamily="34" charset="-122"/>
                <a:cs typeface="Geologica" pitchFamily="34" charset="-120"/>
              </a:rPr>
              <a:t>4</a:t>
            </a:r>
            <a:endParaRPr lang="en-US" sz="1200" dirty="0"/>
          </a:p>
        </p:txBody>
      </p:sp>
      <p:sp>
        <p:nvSpPr>
          <p:cNvPr id="23" name="Text 20"/>
          <p:cNvSpPr txBox="1"/>
          <p:nvPr/>
        </p:nvSpPr>
        <p:spPr>
          <a:xfrm>
            <a:off x="1234440" y="4498848"/>
            <a:ext cx="4617720" cy="658368"/>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Every AI generation gets a prompt doc </a:t>
            </a:r>
            <a:r>
              <a:rPr lang="en-US" sz="1050" dirty="0">
                <a:solidFill>
                  <a:srgbClr val="E4EEF1"/>
                </a:solidFill>
                <a:latin typeface="Geologica" pitchFamily="34" charset="0"/>
                <a:ea typeface="Geologica" pitchFamily="34" charset="-122"/>
                <a:cs typeface="Geologica" pitchFamily="34" charset="-120"/>
              </a:rPr>
              <a:t>in /prompts, committed with the code it produced.</a:t>
            </a:r>
            <a:endParaRPr lang="en-US" sz="1150" dirty="0"/>
          </a:p>
        </p:txBody>
      </p:sp>
      <p:sp>
        <p:nvSpPr>
          <p:cNvPr id="24" name="Shape 21"/>
          <p:cNvSpPr/>
          <p:nvPr/>
        </p:nvSpPr>
        <p:spPr>
          <a:xfrm>
            <a:off x="6199632" y="2194560"/>
            <a:ext cx="5394960" cy="658368"/>
          </a:xfrm>
          <a:prstGeom prst="roundRect">
            <a:avLst>
              <a:gd name="adj" fmla="val 11111"/>
            </a:avLst>
          </a:prstGeom>
          <a:solidFill>
            <a:srgbClr val="0F2831">
              <a:alpha val="88000"/>
            </a:srgbClr>
          </a:solidFill>
          <a:ln w="9525">
            <a:solidFill>
              <a:srgbClr val="1E4A55"/>
            </a:solidFill>
            <a:prstDash val="solid"/>
          </a:ln>
        </p:spPr>
        <p:txBody>
          <a:bodyPr/>
          <a:lstStyle/>
          <a:p>
            <a:endParaRPr lang="en-US"/>
          </a:p>
        </p:txBody>
      </p:sp>
      <p:sp>
        <p:nvSpPr>
          <p:cNvPr id="25" name="Shape 22"/>
          <p:cNvSpPr/>
          <p:nvPr/>
        </p:nvSpPr>
        <p:spPr>
          <a:xfrm>
            <a:off x="6336792" y="2340864"/>
            <a:ext cx="365760" cy="365760"/>
          </a:xfrm>
          <a:prstGeom prst="roundRect">
            <a:avLst>
              <a:gd name="adj" fmla="val 15000"/>
            </a:avLst>
          </a:prstGeom>
          <a:solidFill>
            <a:srgbClr val="0E5A66"/>
          </a:solidFill>
          <a:ln w="6350">
            <a:solidFill>
              <a:srgbClr val="3FC9D4"/>
            </a:solidFill>
            <a:prstDash val="solid"/>
          </a:ln>
        </p:spPr>
        <p:txBody>
          <a:bodyPr/>
          <a:lstStyle/>
          <a:p>
            <a:endParaRPr lang="en-US"/>
          </a:p>
        </p:txBody>
      </p:sp>
      <p:sp>
        <p:nvSpPr>
          <p:cNvPr id="26" name="Text 23"/>
          <p:cNvSpPr txBox="1"/>
          <p:nvPr/>
        </p:nvSpPr>
        <p:spPr>
          <a:xfrm>
            <a:off x="6336792" y="234086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Geologica" pitchFamily="34" charset="0"/>
                <a:ea typeface="Geologica" pitchFamily="34" charset="-122"/>
                <a:cs typeface="Geologica" pitchFamily="34" charset="-120"/>
              </a:rPr>
              <a:t>5</a:t>
            </a:r>
            <a:endParaRPr lang="en-US" sz="1200" dirty="0"/>
          </a:p>
        </p:txBody>
      </p:sp>
      <p:sp>
        <p:nvSpPr>
          <p:cNvPr id="27" name="Text 24"/>
          <p:cNvSpPr txBox="1"/>
          <p:nvPr/>
        </p:nvSpPr>
        <p:spPr>
          <a:xfrm>
            <a:off x="6839712" y="2194560"/>
            <a:ext cx="4617720" cy="658368"/>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Commits say who and how. </a:t>
            </a:r>
            <a:r>
              <a:rPr lang="en-US" sz="1050" dirty="0">
                <a:solidFill>
                  <a:srgbClr val="E4EEF1"/>
                </a:solidFill>
                <a:latin typeface="Geologica" pitchFamily="34" charset="0"/>
                <a:ea typeface="Geologica" pitchFamily="34" charset="-122"/>
                <a:cs typeface="Geologica" pitchFamily="34" charset="-120"/>
              </a:rPr>
              <a:t>Hand-edited or AI-generated, and which prompt doc to read.</a:t>
            </a:r>
            <a:endParaRPr lang="en-US" sz="1150" dirty="0"/>
          </a:p>
        </p:txBody>
      </p:sp>
      <p:sp>
        <p:nvSpPr>
          <p:cNvPr id="28" name="Shape 25"/>
          <p:cNvSpPr/>
          <p:nvPr/>
        </p:nvSpPr>
        <p:spPr>
          <a:xfrm>
            <a:off x="6199632" y="2962656"/>
            <a:ext cx="5394960" cy="658368"/>
          </a:xfrm>
          <a:prstGeom prst="roundRect">
            <a:avLst>
              <a:gd name="adj" fmla="val 11111"/>
            </a:avLst>
          </a:prstGeom>
          <a:solidFill>
            <a:srgbClr val="0F2831">
              <a:alpha val="88000"/>
            </a:srgbClr>
          </a:solidFill>
          <a:ln w="9525">
            <a:solidFill>
              <a:srgbClr val="1E4A55"/>
            </a:solidFill>
            <a:prstDash val="solid"/>
          </a:ln>
        </p:spPr>
        <p:txBody>
          <a:bodyPr/>
          <a:lstStyle/>
          <a:p>
            <a:endParaRPr lang="en-US"/>
          </a:p>
        </p:txBody>
      </p:sp>
      <p:sp>
        <p:nvSpPr>
          <p:cNvPr id="29" name="Shape 26"/>
          <p:cNvSpPr/>
          <p:nvPr/>
        </p:nvSpPr>
        <p:spPr>
          <a:xfrm>
            <a:off x="6336792" y="3108960"/>
            <a:ext cx="365760" cy="365760"/>
          </a:xfrm>
          <a:prstGeom prst="roundRect">
            <a:avLst>
              <a:gd name="adj" fmla="val 15000"/>
            </a:avLst>
          </a:prstGeom>
          <a:solidFill>
            <a:srgbClr val="0E5A66"/>
          </a:solidFill>
          <a:ln w="6350">
            <a:solidFill>
              <a:srgbClr val="3FC9D4"/>
            </a:solidFill>
            <a:prstDash val="solid"/>
          </a:ln>
        </p:spPr>
        <p:txBody>
          <a:bodyPr/>
          <a:lstStyle/>
          <a:p>
            <a:endParaRPr lang="en-US"/>
          </a:p>
        </p:txBody>
      </p:sp>
      <p:sp>
        <p:nvSpPr>
          <p:cNvPr id="30" name="Text 27"/>
          <p:cNvSpPr txBox="1"/>
          <p:nvPr/>
        </p:nvSpPr>
        <p:spPr>
          <a:xfrm>
            <a:off x="6336792" y="310896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Geologica" pitchFamily="34" charset="0"/>
                <a:ea typeface="Geologica" pitchFamily="34" charset="-122"/>
                <a:cs typeface="Geologica" pitchFamily="34" charset="-120"/>
              </a:rPr>
              <a:t>6</a:t>
            </a:r>
            <a:endParaRPr lang="en-US" sz="1200" dirty="0"/>
          </a:p>
        </p:txBody>
      </p:sp>
      <p:sp>
        <p:nvSpPr>
          <p:cNvPr id="31" name="Text 28"/>
          <p:cNvSpPr txBox="1"/>
          <p:nvPr/>
        </p:nvSpPr>
        <p:spPr>
          <a:xfrm>
            <a:off x="6839712" y="2962656"/>
            <a:ext cx="4617720" cy="658368"/>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All changes enter main through a pull request. </a:t>
            </a:r>
            <a:r>
              <a:rPr lang="en-US" sz="1050" dirty="0">
                <a:solidFill>
                  <a:srgbClr val="E4EEF1"/>
                </a:solidFill>
                <a:latin typeface="Geologica" pitchFamily="34" charset="0"/>
                <a:ea typeface="Geologica" pitchFamily="34" charset="-122"/>
                <a:cs typeface="Geologica" pitchFamily="34" charset="-120"/>
              </a:rPr>
              <a:t>At least one teammate looks before merging.</a:t>
            </a:r>
            <a:endParaRPr lang="en-US" sz="1150" dirty="0"/>
          </a:p>
        </p:txBody>
      </p:sp>
      <p:sp>
        <p:nvSpPr>
          <p:cNvPr id="32" name="Shape 29"/>
          <p:cNvSpPr/>
          <p:nvPr/>
        </p:nvSpPr>
        <p:spPr>
          <a:xfrm>
            <a:off x="6199632" y="3730752"/>
            <a:ext cx="5394960" cy="658368"/>
          </a:xfrm>
          <a:prstGeom prst="roundRect">
            <a:avLst>
              <a:gd name="adj" fmla="val 11111"/>
            </a:avLst>
          </a:prstGeom>
          <a:solidFill>
            <a:srgbClr val="0F2831">
              <a:alpha val="88000"/>
            </a:srgbClr>
          </a:solidFill>
          <a:ln w="9525">
            <a:solidFill>
              <a:srgbClr val="1E4A55"/>
            </a:solidFill>
            <a:prstDash val="solid"/>
          </a:ln>
        </p:spPr>
        <p:txBody>
          <a:bodyPr/>
          <a:lstStyle/>
          <a:p>
            <a:endParaRPr lang="en-US"/>
          </a:p>
        </p:txBody>
      </p:sp>
      <p:sp>
        <p:nvSpPr>
          <p:cNvPr id="33" name="Shape 30"/>
          <p:cNvSpPr/>
          <p:nvPr/>
        </p:nvSpPr>
        <p:spPr>
          <a:xfrm>
            <a:off x="6336792" y="3877056"/>
            <a:ext cx="365760" cy="365760"/>
          </a:xfrm>
          <a:prstGeom prst="roundRect">
            <a:avLst>
              <a:gd name="adj" fmla="val 15000"/>
            </a:avLst>
          </a:prstGeom>
          <a:solidFill>
            <a:srgbClr val="2A5A66"/>
          </a:solidFill>
          <a:ln w="6350">
            <a:solidFill>
              <a:srgbClr val="3FC9D4"/>
            </a:solidFill>
            <a:prstDash val="solid"/>
          </a:ln>
        </p:spPr>
        <p:txBody>
          <a:bodyPr/>
          <a:lstStyle/>
          <a:p>
            <a:endParaRPr lang="en-US"/>
          </a:p>
        </p:txBody>
      </p:sp>
      <p:sp>
        <p:nvSpPr>
          <p:cNvPr id="34" name="Text 31"/>
          <p:cNvSpPr txBox="1"/>
          <p:nvPr/>
        </p:nvSpPr>
        <p:spPr>
          <a:xfrm>
            <a:off x="6336792" y="387705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Geologica" pitchFamily="34" charset="0"/>
                <a:ea typeface="Geologica" pitchFamily="34" charset="-122"/>
                <a:cs typeface="Geologica" pitchFamily="34" charset="-120"/>
              </a:rPr>
              <a:t>7</a:t>
            </a:r>
            <a:endParaRPr lang="en-US" sz="1200" dirty="0"/>
          </a:p>
        </p:txBody>
      </p:sp>
      <p:sp>
        <p:nvSpPr>
          <p:cNvPr id="35" name="Text 32"/>
          <p:cNvSpPr txBox="1"/>
          <p:nvPr/>
        </p:nvSpPr>
        <p:spPr>
          <a:xfrm>
            <a:off x="6839712" y="3730752"/>
            <a:ext cx="4617720" cy="658368"/>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Pull before you start; push before you stop. </a:t>
            </a:r>
            <a:endParaRPr lang="en-US" sz="1150" dirty="0"/>
          </a:p>
        </p:txBody>
      </p:sp>
      <p:sp>
        <p:nvSpPr>
          <p:cNvPr id="36" name="Shape 33"/>
          <p:cNvSpPr/>
          <p:nvPr/>
        </p:nvSpPr>
        <p:spPr>
          <a:xfrm>
            <a:off x="6199632" y="4498848"/>
            <a:ext cx="5394960" cy="658368"/>
          </a:xfrm>
          <a:prstGeom prst="roundRect">
            <a:avLst>
              <a:gd name="adj" fmla="val 11111"/>
            </a:avLst>
          </a:prstGeom>
          <a:solidFill>
            <a:srgbClr val="0F2831">
              <a:alpha val="88000"/>
            </a:srgbClr>
          </a:solidFill>
          <a:ln w="9525">
            <a:solidFill>
              <a:srgbClr val="1E4A55"/>
            </a:solidFill>
            <a:prstDash val="solid"/>
          </a:ln>
        </p:spPr>
        <p:txBody>
          <a:bodyPr/>
          <a:lstStyle/>
          <a:p>
            <a:endParaRPr lang="en-US"/>
          </a:p>
        </p:txBody>
      </p:sp>
      <p:sp>
        <p:nvSpPr>
          <p:cNvPr id="37" name="Shape 34"/>
          <p:cNvSpPr/>
          <p:nvPr/>
        </p:nvSpPr>
        <p:spPr>
          <a:xfrm>
            <a:off x="6336792" y="4645152"/>
            <a:ext cx="365760" cy="365760"/>
          </a:xfrm>
          <a:prstGeom prst="roundRect">
            <a:avLst>
              <a:gd name="adj" fmla="val 15000"/>
            </a:avLst>
          </a:prstGeom>
          <a:solidFill>
            <a:srgbClr val="2A5A66"/>
          </a:solidFill>
          <a:ln w="6350">
            <a:solidFill>
              <a:srgbClr val="3FC9D4"/>
            </a:solidFill>
            <a:prstDash val="solid"/>
          </a:ln>
        </p:spPr>
        <p:txBody>
          <a:bodyPr/>
          <a:lstStyle/>
          <a:p>
            <a:endParaRPr lang="en-US"/>
          </a:p>
        </p:txBody>
      </p:sp>
      <p:sp>
        <p:nvSpPr>
          <p:cNvPr id="38" name="Text 35"/>
          <p:cNvSpPr txBox="1"/>
          <p:nvPr/>
        </p:nvSpPr>
        <p:spPr>
          <a:xfrm>
            <a:off x="6336792" y="464515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Geologica" pitchFamily="34" charset="0"/>
                <a:ea typeface="Geologica" pitchFamily="34" charset="-122"/>
                <a:cs typeface="Geologica" pitchFamily="34" charset="-120"/>
              </a:rPr>
              <a:t>8</a:t>
            </a:r>
            <a:endParaRPr lang="en-US" sz="1200" dirty="0"/>
          </a:p>
        </p:txBody>
      </p:sp>
      <p:sp>
        <p:nvSpPr>
          <p:cNvPr id="39" name="Text 36"/>
          <p:cNvSpPr txBox="1"/>
          <p:nvPr/>
        </p:nvSpPr>
        <p:spPr>
          <a:xfrm>
            <a:off x="6839712" y="4498848"/>
            <a:ext cx="4617720" cy="658368"/>
          </a:xfrm>
          <a:prstGeom prst="rect">
            <a:avLst/>
          </a:prstGeom>
          <a:noFill/>
          <a:ln/>
        </p:spPr>
        <p:txBody>
          <a:bodyPr wrap="square" lIns="0" tIns="0" rIns="0" bIns="0" rtlCol="0" anchor="ctr"/>
          <a:lstStyle/>
          <a:p>
            <a:pPr marL="0" indent="0">
              <a:buNone/>
            </a:pPr>
            <a:r>
              <a:rPr lang="en-US" sz="1150" b="1" dirty="0">
                <a:solidFill>
                  <a:srgbClr val="FFFFFF"/>
                </a:solidFill>
                <a:latin typeface="Geologica" pitchFamily="34" charset="0"/>
                <a:ea typeface="Geologica" pitchFamily="34" charset="-122"/>
                <a:cs typeface="Geologica" pitchFamily="34" charset="-120"/>
              </a:rPr>
              <a:t>The builder tool is personal; the repo is shared. </a:t>
            </a:r>
            <a:r>
              <a:rPr lang="en-US" sz="1050" dirty="0">
                <a:solidFill>
                  <a:srgbClr val="E4EEF1"/>
                </a:solidFill>
                <a:latin typeface="Geologica" pitchFamily="34" charset="0"/>
                <a:ea typeface="Geologica" pitchFamily="34" charset="-122"/>
                <a:cs typeface="Geologica" pitchFamily="34" charset="-120"/>
              </a:rPr>
              <a:t>Replit, VS Code, Lovable, anything. GitHub is where the team meets.</a:t>
            </a:r>
            <a:endParaRPr lang="en-US" sz="11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36</a:t>
            </a:r>
            <a:endParaRPr lang="en-US" sz="900" dirty="0"/>
          </a:p>
        </p:txBody>
      </p:sp>
      <p:sp>
        <p:nvSpPr>
          <p:cNvPr id="4" name="Shape 1"/>
          <p:cNvSpPr/>
          <p:nvPr/>
        </p:nvSpPr>
        <p:spPr>
          <a:xfrm>
            <a:off x="594360" y="502920"/>
            <a:ext cx="1888236"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888236"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PART 4 · NEXT STEPS</a:t>
            </a:r>
            <a:endParaRPr lang="en-US" sz="850" dirty="0"/>
          </a:p>
        </p:txBody>
      </p:sp>
      <p:sp>
        <p:nvSpPr>
          <p:cNvPr id="6" name="Text 3"/>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Before your first build-cycle team session</a:t>
            </a:r>
            <a:endParaRPr lang="en-US" sz="3000" dirty="0"/>
          </a:p>
        </p:txBody>
      </p:sp>
      <p:sp>
        <p:nvSpPr>
          <p:cNvPr id="7" name="Shape 4"/>
          <p:cNvSpPr/>
          <p:nvPr/>
        </p:nvSpPr>
        <p:spPr>
          <a:xfrm>
            <a:off x="594360" y="1874520"/>
            <a:ext cx="2633472" cy="2743200"/>
          </a:xfrm>
          <a:prstGeom prst="roundRect">
            <a:avLst>
              <a:gd name="adj" fmla="val 4167"/>
            </a:avLst>
          </a:prstGeom>
          <a:solidFill>
            <a:srgbClr val="0F2831">
              <a:alpha val="88000"/>
            </a:srgbClr>
          </a:solidFill>
          <a:ln w="9525">
            <a:solidFill>
              <a:srgbClr val="1E4A55"/>
            </a:solidFill>
            <a:prstDash val="solid"/>
          </a:ln>
        </p:spPr>
        <p:txBody>
          <a:bodyPr/>
          <a:lstStyle/>
          <a:p>
            <a:endParaRPr lang="en-US"/>
          </a:p>
        </p:txBody>
      </p:sp>
      <p:sp>
        <p:nvSpPr>
          <p:cNvPr id="8" name="Text 5"/>
          <p:cNvSpPr txBox="1"/>
          <p:nvPr/>
        </p:nvSpPr>
        <p:spPr>
          <a:xfrm>
            <a:off x="822960"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1</a:t>
            </a:r>
            <a:endParaRPr lang="en-US" sz="2400" dirty="0"/>
          </a:p>
        </p:txBody>
      </p:sp>
      <p:sp>
        <p:nvSpPr>
          <p:cNvPr id="9" name="Text 6"/>
          <p:cNvSpPr txBox="1"/>
          <p:nvPr/>
        </p:nvSpPr>
        <p:spPr>
          <a:xfrm>
            <a:off x="822960" y="2560320"/>
            <a:ext cx="2176272" cy="64008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Set up the team repo</a:t>
            </a:r>
            <a:endParaRPr lang="en-US" sz="1300" dirty="0"/>
          </a:p>
        </p:txBody>
      </p:sp>
      <p:sp>
        <p:nvSpPr>
          <p:cNvPr id="10" name="Text 7"/>
          <p:cNvSpPr txBox="1"/>
          <p:nvPr/>
        </p:nvSpPr>
        <p:spPr>
          <a:xfrm>
            <a:off x="822960" y="3200400"/>
            <a:ext cx="2176272" cy="1280160"/>
          </a:xfrm>
          <a:prstGeom prst="rect">
            <a:avLst/>
          </a:prstGeom>
          <a:noFill/>
          <a:ln/>
        </p:spPr>
        <p:txBody>
          <a:bodyPr wrap="square" lIns="0" tIns="0" rIns="0" bIns="0" rtlCol="0" anchor="ctr"/>
          <a:lstStyle/>
          <a:p>
            <a:pPr marL="0" indent="0">
              <a:buNone/>
            </a:pPr>
            <a:r>
              <a:rPr lang="en-US" sz="1100" dirty="0">
                <a:solidFill>
                  <a:srgbClr val="E4EEF1"/>
                </a:solidFill>
                <a:latin typeface="Geologica" pitchFamily="34" charset="0"/>
                <a:ea typeface="Geologica" pitchFamily="34" charset="-122"/>
                <a:cs typeface="Geologica" pitchFamily="34" charset="-120"/>
              </a:rPr>
              <a:t>One teammate creates it and invites everyone. Everyone accepts before anyone clones.</a:t>
            </a:r>
            <a:endParaRPr lang="en-US" sz="1100" dirty="0"/>
          </a:p>
        </p:txBody>
      </p:sp>
      <p:sp>
        <p:nvSpPr>
          <p:cNvPr id="11" name="Shape 8"/>
          <p:cNvSpPr/>
          <p:nvPr/>
        </p:nvSpPr>
        <p:spPr>
          <a:xfrm>
            <a:off x="3383280" y="1874520"/>
            <a:ext cx="2633472" cy="2743200"/>
          </a:xfrm>
          <a:prstGeom prst="roundRect">
            <a:avLst>
              <a:gd name="adj" fmla="val 4167"/>
            </a:avLst>
          </a:prstGeom>
          <a:solidFill>
            <a:srgbClr val="0F2831">
              <a:alpha val="88000"/>
            </a:srgbClr>
          </a:solidFill>
          <a:ln w="9525">
            <a:solidFill>
              <a:srgbClr val="1E4A55"/>
            </a:solidFill>
            <a:prstDash val="solid"/>
          </a:ln>
        </p:spPr>
        <p:txBody>
          <a:bodyPr/>
          <a:lstStyle/>
          <a:p>
            <a:endParaRPr lang="en-US"/>
          </a:p>
        </p:txBody>
      </p:sp>
      <p:sp>
        <p:nvSpPr>
          <p:cNvPr id="12" name="Text 9"/>
          <p:cNvSpPr txBox="1"/>
          <p:nvPr/>
        </p:nvSpPr>
        <p:spPr>
          <a:xfrm>
            <a:off x="3611880"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2</a:t>
            </a:r>
            <a:endParaRPr lang="en-US" sz="2400" dirty="0"/>
          </a:p>
        </p:txBody>
      </p:sp>
      <p:sp>
        <p:nvSpPr>
          <p:cNvPr id="13" name="Text 10"/>
          <p:cNvSpPr txBox="1"/>
          <p:nvPr/>
        </p:nvSpPr>
        <p:spPr>
          <a:xfrm>
            <a:off x="3611880" y="2560320"/>
            <a:ext cx="2176272" cy="64008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Test the loop once</a:t>
            </a:r>
            <a:endParaRPr lang="en-US" sz="1300" dirty="0"/>
          </a:p>
        </p:txBody>
      </p:sp>
      <p:sp>
        <p:nvSpPr>
          <p:cNvPr id="14" name="Text 11"/>
          <p:cNvSpPr txBox="1"/>
          <p:nvPr/>
        </p:nvSpPr>
        <p:spPr>
          <a:xfrm>
            <a:off x="3611880" y="3200400"/>
            <a:ext cx="2176272" cy="1280160"/>
          </a:xfrm>
          <a:prstGeom prst="rect">
            <a:avLst/>
          </a:prstGeom>
          <a:noFill/>
          <a:ln/>
        </p:spPr>
        <p:txBody>
          <a:bodyPr wrap="square" lIns="0" tIns="0" rIns="0" bIns="0" rtlCol="0" anchor="ctr"/>
          <a:lstStyle/>
          <a:p>
            <a:pPr marL="0" indent="0">
              <a:buNone/>
            </a:pPr>
            <a:r>
              <a:rPr lang="en-US" sz="1100" dirty="0">
                <a:solidFill>
                  <a:srgbClr val="E4EEF1"/>
                </a:solidFill>
                <a:latin typeface="Geologica" pitchFamily="34" charset="0"/>
                <a:ea typeface="Geologica" pitchFamily="34" charset="-122"/>
                <a:cs typeface="Geologica" pitchFamily="34" charset="-120"/>
              </a:rPr>
              <a:t>Each person: one branch, one small commit, one pull request, merged by someone else. Your team's hello-world handoff.</a:t>
            </a:r>
            <a:endParaRPr lang="en-US" sz="1100" dirty="0"/>
          </a:p>
        </p:txBody>
      </p:sp>
      <p:sp>
        <p:nvSpPr>
          <p:cNvPr id="15" name="Shape 12"/>
          <p:cNvSpPr/>
          <p:nvPr/>
        </p:nvSpPr>
        <p:spPr>
          <a:xfrm>
            <a:off x="6172200" y="1874520"/>
            <a:ext cx="2633472" cy="2743200"/>
          </a:xfrm>
          <a:prstGeom prst="roundRect">
            <a:avLst>
              <a:gd name="adj" fmla="val 4167"/>
            </a:avLst>
          </a:prstGeom>
          <a:solidFill>
            <a:srgbClr val="0F2831">
              <a:alpha val="88000"/>
            </a:srgbClr>
          </a:solidFill>
          <a:ln w="9525">
            <a:solidFill>
              <a:srgbClr val="1E4A55"/>
            </a:solidFill>
            <a:prstDash val="solid"/>
          </a:ln>
        </p:spPr>
        <p:txBody>
          <a:bodyPr/>
          <a:lstStyle/>
          <a:p>
            <a:endParaRPr lang="en-US"/>
          </a:p>
        </p:txBody>
      </p:sp>
      <p:sp>
        <p:nvSpPr>
          <p:cNvPr id="16" name="Text 13"/>
          <p:cNvSpPr txBox="1"/>
          <p:nvPr/>
        </p:nvSpPr>
        <p:spPr>
          <a:xfrm>
            <a:off x="6400800"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3</a:t>
            </a:r>
            <a:endParaRPr lang="en-US" sz="2400" dirty="0"/>
          </a:p>
        </p:txBody>
      </p:sp>
      <p:sp>
        <p:nvSpPr>
          <p:cNvPr id="17" name="Text 14"/>
          <p:cNvSpPr txBox="1"/>
          <p:nvPr/>
        </p:nvSpPr>
        <p:spPr>
          <a:xfrm>
            <a:off x="6400800" y="2560320"/>
            <a:ext cx="2176272" cy="64008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Plan together</a:t>
            </a:r>
            <a:endParaRPr lang="en-US" sz="1300" dirty="0"/>
          </a:p>
        </p:txBody>
      </p:sp>
      <p:sp>
        <p:nvSpPr>
          <p:cNvPr id="18" name="Text 15"/>
          <p:cNvSpPr txBox="1"/>
          <p:nvPr/>
        </p:nvSpPr>
        <p:spPr>
          <a:xfrm>
            <a:off x="6400800" y="3200400"/>
            <a:ext cx="2176272" cy="1280160"/>
          </a:xfrm>
          <a:prstGeom prst="rect">
            <a:avLst/>
          </a:prstGeom>
          <a:noFill/>
          <a:ln/>
        </p:spPr>
        <p:txBody>
          <a:bodyPr wrap="square" lIns="0" tIns="0" rIns="0" bIns="0" rtlCol="0" anchor="ctr"/>
          <a:lstStyle/>
          <a:p>
            <a:pPr marL="0" indent="0">
              <a:buNone/>
            </a:pPr>
            <a:r>
              <a:rPr lang="en-US" sz="1100" dirty="0">
                <a:solidFill>
                  <a:srgbClr val="E4EEF1"/>
                </a:solidFill>
                <a:latin typeface="Geologica" pitchFamily="34" charset="0"/>
                <a:ea typeface="Geologica" pitchFamily="34" charset="-122"/>
                <a:cs typeface="Geologica" pitchFamily="34" charset="-120"/>
              </a:rPr>
              <a:t>Write your scaffold prompt as a team. Commit it to /prompts before anyone builds.</a:t>
            </a:r>
            <a:endParaRPr lang="en-US" sz="1100" dirty="0"/>
          </a:p>
        </p:txBody>
      </p:sp>
      <p:sp>
        <p:nvSpPr>
          <p:cNvPr id="19" name="Shape 16"/>
          <p:cNvSpPr/>
          <p:nvPr/>
        </p:nvSpPr>
        <p:spPr>
          <a:xfrm>
            <a:off x="8961120" y="1874520"/>
            <a:ext cx="2633472" cy="2743200"/>
          </a:xfrm>
          <a:prstGeom prst="roundRect">
            <a:avLst>
              <a:gd name="adj" fmla="val 4167"/>
            </a:avLst>
          </a:prstGeom>
          <a:solidFill>
            <a:srgbClr val="0F2831">
              <a:alpha val="88000"/>
            </a:srgbClr>
          </a:solidFill>
          <a:ln w="9525">
            <a:solidFill>
              <a:srgbClr val="1E4A55"/>
            </a:solidFill>
            <a:prstDash val="solid"/>
          </a:ln>
        </p:spPr>
        <p:txBody>
          <a:bodyPr/>
          <a:lstStyle/>
          <a:p>
            <a:endParaRPr lang="en-US"/>
          </a:p>
        </p:txBody>
      </p:sp>
      <p:sp>
        <p:nvSpPr>
          <p:cNvPr id="20" name="Text 17"/>
          <p:cNvSpPr txBox="1"/>
          <p:nvPr/>
        </p:nvSpPr>
        <p:spPr>
          <a:xfrm>
            <a:off x="9189720" y="2011680"/>
            <a:ext cx="548640" cy="457200"/>
          </a:xfrm>
          <a:prstGeom prst="rect">
            <a:avLst/>
          </a:prstGeom>
          <a:noFill/>
          <a:ln/>
        </p:spPr>
        <p:txBody>
          <a:bodyPr wrap="square" lIns="0" tIns="0" rIns="0" bIns="0" rtlCol="0" anchor="ctr"/>
          <a:lstStyle/>
          <a:p>
            <a:pPr marL="0" indent="0">
              <a:buNone/>
            </a:pPr>
            <a:r>
              <a:rPr lang="en-US" sz="2400" b="1" dirty="0">
                <a:solidFill>
                  <a:srgbClr val="3FC9D4"/>
                </a:solidFill>
                <a:latin typeface="Geologica" pitchFamily="34" charset="0"/>
                <a:ea typeface="Geologica" pitchFamily="34" charset="-122"/>
                <a:cs typeface="Geologica" pitchFamily="34" charset="-120"/>
              </a:rPr>
              <a:t>4</a:t>
            </a:r>
            <a:endParaRPr lang="en-US" sz="2400" dirty="0"/>
          </a:p>
        </p:txBody>
      </p:sp>
      <p:sp>
        <p:nvSpPr>
          <p:cNvPr id="21" name="Text 18"/>
          <p:cNvSpPr txBox="1"/>
          <p:nvPr/>
        </p:nvSpPr>
        <p:spPr>
          <a:xfrm>
            <a:off x="9189720" y="2560320"/>
            <a:ext cx="2176272" cy="64008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Adopt the protocol</a:t>
            </a:r>
            <a:endParaRPr lang="en-US" sz="1300" dirty="0"/>
          </a:p>
        </p:txBody>
      </p:sp>
      <p:sp>
        <p:nvSpPr>
          <p:cNvPr id="22" name="Text 19"/>
          <p:cNvSpPr txBox="1"/>
          <p:nvPr/>
        </p:nvSpPr>
        <p:spPr>
          <a:xfrm>
            <a:off x="9189720" y="3200400"/>
            <a:ext cx="2176272" cy="1280160"/>
          </a:xfrm>
          <a:prstGeom prst="rect">
            <a:avLst/>
          </a:prstGeom>
          <a:noFill/>
          <a:ln/>
        </p:spPr>
        <p:txBody>
          <a:bodyPr wrap="square" lIns="0" tIns="0" rIns="0" bIns="0" rtlCol="0" anchor="ctr"/>
          <a:lstStyle/>
          <a:p>
            <a:pPr marL="0" indent="0">
              <a:buNone/>
            </a:pPr>
            <a:r>
              <a:rPr lang="en-US" sz="1100" dirty="0">
                <a:solidFill>
                  <a:srgbClr val="E4EEF1"/>
                </a:solidFill>
                <a:latin typeface="Geologica" pitchFamily="34" charset="0"/>
                <a:ea typeface="Geologica" pitchFamily="34" charset="-122"/>
                <a:cs typeface="Geologica" pitchFamily="34" charset="-120"/>
              </a:rPr>
              <a:t>Read the eight rules out loud together. Agree that these are the house rules.</a:t>
            </a:r>
            <a:endParaRPr lang="en-US" sz="1100" dirty="0"/>
          </a:p>
        </p:txBody>
      </p:sp>
      <p:sp>
        <p:nvSpPr>
          <p:cNvPr id="23" name="Shape 20"/>
          <p:cNvSpPr/>
          <p:nvPr/>
        </p:nvSpPr>
        <p:spPr>
          <a:xfrm>
            <a:off x="594360" y="4937760"/>
            <a:ext cx="11002975" cy="594360"/>
          </a:xfrm>
          <a:prstGeom prst="roundRect">
            <a:avLst>
              <a:gd name="adj" fmla="val 15385"/>
            </a:avLst>
          </a:prstGeom>
          <a:solidFill>
            <a:srgbClr val="0E5A66"/>
          </a:solidFill>
          <a:ln w="9525">
            <a:solidFill>
              <a:srgbClr val="0094A0"/>
            </a:solidFill>
            <a:prstDash val="solid"/>
          </a:ln>
        </p:spPr>
        <p:txBody>
          <a:bodyPr/>
          <a:lstStyle/>
          <a:p>
            <a:endParaRPr lang="en-US"/>
          </a:p>
        </p:txBody>
      </p:sp>
      <p:sp>
        <p:nvSpPr>
          <p:cNvPr id="24" name="Text 21"/>
          <p:cNvSpPr txBox="1"/>
          <p:nvPr/>
        </p:nvSpPr>
        <p:spPr>
          <a:xfrm>
            <a:off x="868680" y="4937760"/>
            <a:ext cx="10454335" cy="594360"/>
          </a:xfrm>
          <a:prstGeom prst="rect">
            <a:avLst/>
          </a:prstGeom>
          <a:noFill/>
          <a:ln/>
        </p:spPr>
        <p:txBody>
          <a:bodyPr wrap="square" lIns="0" tIns="0" rIns="0" bIns="0" rtlCol="0" anchor="ctr"/>
          <a:lstStyle/>
          <a:p>
            <a:pPr marL="0" indent="0">
              <a:buNone/>
            </a:pPr>
            <a:r>
              <a:rPr lang="en-US" sz="1200" b="1" dirty="0">
                <a:solidFill>
                  <a:srgbClr val="FFFFFF"/>
                </a:solidFill>
                <a:latin typeface="Geologica" pitchFamily="34" charset="0"/>
                <a:ea typeface="Geologica" pitchFamily="34" charset="-122"/>
                <a:cs typeface="Geologica" pitchFamily="34" charset="-120"/>
              </a:rPr>
              <a:t>Item 2 matters most. </a:t>
            </a:r>
            <a:r>
              <a:rPr lang="en-US" sz="1200" dirty="0">
                <a:solidFill>
                  <a:srgbClr val="FFFFFF"/>
                </a:solidFill>
                <a:latin typeface="Geologica" pitchFamily="34" charset="0"/>
                <a:ea typeface="Geologica" pitchFamily="34" charset="-122"/>
                <a:cs typeface="Geologica" pitchFamily="34" charset="-120"/>
              </a:rPr>
              <a:t>Surface the setup problems while the stakes are low. Every team that skips the test handoff rediscovers the fork prompt in week three.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11002975" y="6126480"/>
            <a:ext cx="685800" cy="274320"/>
          </a:xfrm>
          <a:prstGeom prst="rect">
            <a:avLst/>
          </a:prstGeom>
          <a:noFill/>
          <a:ln/>
        </p:spPr>
        <p:txBody>
          <a:bodyPr wrap="square" lIns="0" tIns="0" rIns="0" bIns="0" rtlCol="0" anchor="ctr"/>
          <a:lstStyle/>
          <a:p>
            <a:pPr marL="0" indent="0" algn="r">
              <a:buNone/>
            </a:pPr>
            <a:r>
              <a:rPr lang="en-US" sz="900" dirty="0">
                <a:solidFill>
                  <a:srgbClr val="7FA3AD"/>
                </a:solidFill>
                <a:latin typeface="Geologica" pitchFamily="34" charset="0"/>
                <a:ea typeface="Geologica" pitchFamily="34" charset="-122"/>
                <a:cs typeface="Geologica" pitchFamily="34" charset="-120"/>
              </a:rPr>
              <a:t>37</a:t>
            </a:r>
            <a:endParaRPr lang="en-US" sz="900" dirty="0"/>
          </a:p>
        </p:txBody>
      </p:sp>
      <p:sp>
        <p:nvSpPr>
          <p:cNvPr id="4" name="Shape 1"/>
          <p:cNvSpPr/>
          <p:nvPr/>
        </p:nvSpPr>
        <p:spPr>
          <a:xfrm>
            <a:off x="594360" y="502920"/>
            <a:ext cx="1110996"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502920"/>
            <a:ext cx="1110996"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REFERENCE</a:t>
            </a:r>
            <a:endParaRPr lang="en-US" sz="850" dirty="0"/>
          </a:p>
        </p:txBody>
      </p:sp>
      <p:sp>
        <p:nvSpPr>
          <p:cNvPr id="6" name="Text 3"/>
          <p:cNvSpPr txBox="1"/>
          <p:nvPr/>
        </p:nvSpPr>
        <p:spPr>
          <a:xfrm>
            <a:off x="566928" y="868680"/>
            <a:ext cx="10515600" cy="731520"/>
          </a:xfrm>
          <a:prstGeom prst="rect">
            <a:avLst/>
          </a:prstGeom>
          <a:noFill/>
          <a:ln/>
        </p:spPr>
        <p:txBody>
          <a:bodyPr wrap="square" lIns="0" tIns="0" rIns="0" bIns="0" rtlCol="0" anchor="t"/>
          <a:lstStyle/>
          <a:p>
            <a:pPr marL="0" indent="0">
              <a:buNone/>
            </a:pPr>
            <a:r>
              <a:rPr lang="en-US" sz="3000" b="1" dirty="0">
                <a:solidFill>
                  <a:srgbClr val="FFFFFF"/>
                </a:solidFill>
                <a:latin typeface="Geologica" pitchFamily="34" charset="0"/>
                <a:ea typeface="Geologica" pitchFamily="34" charset="-122"/>
                <a:cs typeface="Geologica" pitchFamily="34" charset="-120"/>
              </a:rPr>
              <a:t>When things go wrong, and they will</a:t>
            </a:r>
            <a:endParaRPr lang="en-US" sz="3000" dirty="0"/>
          </a:p>
        </p:txBody>
      </p:sp>
      <p:sp>
        <p:nvSpPr>
          <p:cNvPr id="7" name="Text 4"/>
          <p:cNvSpPr txBox="1"/>
          <p:nvPr/>
        </p:nvSpPr>
        <p:spPr>
          <a:xfrm>
            <a:off x="594360" y="1554480"/>
            <a:ext cx="10515600" cy="411480"/>
          </a:xfrm>
          <a:prstGeom prst="rect">
            <a:avLst/>
          </a:prstGeom>
          <a:noFill/>
          <a:ln/>
        </p:spPr>
        <p:txBody>
          <a:bodyPr wrap="square" lIns="0" tIns="0" rIns="0" bIns="0" rtlCol="0" anchor="ctr"/>
          <a:lstStyle/>
          <a:p>
            <a:pPr marL="0" indent="0">
              <a:buNone/>
            </a:pPr>
            <a:r>
              <a:rPr lang="en-US" sz="1300" dirty="0">
                <a:solidFill>
                  <a:srgbClr val="9FB4BB"/>
                </a:solidFill>
                <a:latin typeface="Geologica" pitchFamily="34" charset="0"/>
                <a:ea typeface="Geologica" pitchFamily="34" charset="-122"/>
                <a:cs typeface="Geologica" pitchFamily="34" charset="-120"/>
              </a:rPr>
              <a:t>The full list is on the back of the handout. These are the six you will actually hit.</a:t>
            </a:r>
            <a:endParaRPr lang="en-US" sz="1300" dirty="0"/>
          </a:p>
        </p:txBody>
      </p:sp>
      <p:sp>
        <p:nvSpPr>
          <p:cNvPr id="8" name="Shape 5"/>
          <p:cNvSpPr/>
          <p:nvPr/>
        </p:nvSpPr>
        <p:spPr>
          <a:xfrm>
            <a:off x="594360" y="2148840"/>
            <a:ext cx="3547872" cy="1325880"/>
          </a:xfrm>
          <a:prstGeom prst="roundRect">
            <a:avLst>
              <a:gd name="adj" fmla="val 8276"/>
            </a:avLst>
          </a:prstGeom>
          <a:solidFill>
            <a:srgbClr val="0F2831">
              <a:alpha val="88000"/>
            </a:srgbClr>
          </a:solidFill>
          <a:ln w="9525">
            <a:solidFill>
              <a:srgbClr val="1E4A55"/>
            </a:solidFill>
            <a:prstDash val="solid"/>
          </a:ln>
        </p:spPr>
        <p:txBody>
          <a:bodyPr/>
          <a:lstStyle/>
          <a:p>
            <a:endParaRPr lang="en-US"/>
          </a:p>
        </p:txBody>
      </p:sp>
      <p:sp>
        <p:nvSpPr>
          <p:cNvPr id="9" name="Text 6"/>
          <p:cNvSpPr txBox="1"/>
          <p:nvPr/>
        </p:nvSpPr>
        <p:spPr>
          <a:xfrm>
            <a:off x="822960" y="2331720"/>
            <a:ext cx="3090672" cy="329184"/>
          </a:xfrm>
          <a:prstGeom prst="rect">
            <a:avLst/>
          </a:prstGeom>
          <a:noFill/>
          <a:ln/>
        </p:spPr>
        <p:txBody>
          <a:bodyPr wrap="square" lIns="0" tIns="0" rIns="0" bIns="0" rtlCol="0" anchor="ctr"/>
          <a:lstStyle/>
          <a:p>
            <a:pPr marL="0" indent="0">
              <a:buNone/>
            </a:pPr>
            <a:r>
              <a:rPr lang="en-US" sz="1250" b="1" dirty="0">
                <a:solidFill>
                  <a:srgbClr val="FFFFFF"/>
                </a:solidFill>
                <a:latin typeface="Geologica" pitchFamily="34" charset="0"/>
                <a:ea typeface="Geologica" pitchFamily="34" charset="-122"/>
                <a:cs typeface="Geologica" pitchFamily="34" charset="-120"/>
              </a:rPr>
              <a:t>Desktop offers to fork</a:t>
            </a:r>
            <a:endParaRPr lang="en-US" sz="1250" dirty="0"/>
          </a:p>
        </p:txBody>
      </p:sp>
      <p:sp>
        <p:nvSpPr>
          <p:cNvPr id="10" name="Text 7"/>
          <p:cNvSpPr txBox="1"/>
          <p:nvPr/>
        </p:nvSpPr>
        <p:spPr>
          <a:xfrm>
            <a:off x="822960" y="2715768"/>
            <a:ext cx="3090672" cy="621792"/>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Cancel. Accept the invite at github.com/notifications. Publish branch again.</a:t>
            </a:r>
            <a:endParaRPr lang="en-US" sz="1050" dirty="0"/>
          </a:p>
        </p:txBody>
      </p:sp>
      <p:sp>
        <p:nvSpPr>
          <p:cNvPr id="11" name="Shape 8"/>
          <p:cNvSpPr/>
          <p:nvPr/>
        </p:nvSpPr>
        <p:spPr>
          <a:xfrm>
            <a:off x="4325112" y="2148840"/>
            <a:ext cx="3547872" cy="1325880"/>
          </a:xfrm>
          <a:prstGeom prst="roundRect">
            <a:avLst>
              <a:gd name="adj" fmla="val 8276"/>
            </a:avLst>
          </a:prstGeom>
          <a:solidFill>
            <a:srgbClr val="0F2831">
              <a:alpha val="88000"/>
            </a:srgbClr>
          </a:solidFill>
          <a:ln w="9525">
            <a:solidFill>
              <a:srgbClr val="1E4A55"/>
            </a:solidFill>
            <a:prstDash val="solid"/>
          </a:ln>
        </p:spPr>
        <p:txBody>
          <a:bodyPr/>
          <a:lstStyle/>
          <a:p>
            <a:endParaRPr lang="en-US"/>
          </a:p>
        </p:txBody>
      </p:sp>
      <p:sp>
        <p:nvSpPr>
          <p:cNvPr id="12" name="Text 9"/>
          <p:cNvSpPr txBox="1"/>
          <p:nvPr/>
        </p:nvSpPr>
        <p:spPr>
          <a:xfrm>
            <a:off x="4553712" y="2331720"/>
            <a:ext cx="3090672" cy="329184"/>
          </a:xfrm>
          <a:prstGeom prst="rect">
            <a:avLst/>
          </a:prstGeom>
          <a:noFill/>
          <a:ln/>
        </p:spPr>
        <p:txBody>
          <a:bodyPr wrap="square" lIns="0" tIns="0" rIns="0" bIns="0" rtlCol="0" anchor="ctr"/>
          <a:lstStyle/>
          <a:p>
            <a:pPr marL="0" indent="0">
              <a:buNone/>
            </a:pPr>
            <a:r>
              <a:rPr lang="en-US" sz="1250" b="1" dirty="0">
                <a:solidFill>
                  <a:srgbClr val="FFFFFF"/>
                </a:solidFill>
                <a:latin typeface="Geologica" pitchFamily="34" charset="0"/>
                <a:ea typeface="Geologica" pitchFamily="34" charset="-122"/>
                <a:cs typeface="Geologica" pitchFamily="34" charset="-120"/>
              </a:rPr>
              <a:t>2 branches, or code on master</a:t>
            </a:r>
            <a:endParaRPr lang="en-US" sz="1250" dirty="0"/>
          </a:p>
        </p:txBody>
      </p:sp>
      <p:sp>
        <p:nvSpPr>
          <p:cNvPr id="13" name="Text 10"/>
          <p:cNvSpPr txBox="1"/>
          <p:nvPr/>
        </p:nvSpPr>
        <p:spPr>
          <a:xfrm>
            <a:off x="4553712" y="2715768"/>
            <a:ext cx="3090672" cy="621792"/>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Settings → General → Default branch → master for today, or rename to main in Replit and push again.</a:t>
            </a:r>
            <a:endParaRPr lang="en-US" sz="1050" dirty="0"/>
          </a:p>
        </p:txBody>
      </p:sp>
      <p:sp>
        <p:nvSpPr>
          <p:cNvPr id="14" name="Shape 11"/>
          <p:cNvSpPr/>
          <p:nvPr/>
        </p:nvSpPr>
        <p:spPr>
          <a:xfrm>
            <a:off x="8055864" y="2148840"/>
            <a:ext cx="3547872" cy="1325880"/>
          </a:xfrm>
          <a:prstGeom prst="roundRect">
            <a:avLst>
              <a:gd name="adj" fmla="val 8276"/>
            </a:avLst>
          </a:prstGeom>
          <a:solidFill>
            <a:srgbClr val="0F2831">
              <a:alpha val="88000"/>
            </a:srgbClr>
          </a:solidFill>
          <a:ln w="9525">
            <a:solidFill>
              <a:srgbClr val="1E4A55"/>
            </a:solidFill>
            <a:prstDash val="solid"/>
          </a:ln>
        </p:spPr>
        <p:txBody>
          <a:bodyPr/>
          <a:lstStyle/>
          <a:p>
            <a:endParaRPr lang="en-US"/>
          </a:p>
        </p:txBody>
      </p:sp>
      <p:sp>
        <p:nvSpPr>
          <p:cNvPr id="15" name="Text 12"/>
          <p:cNvSpPr txBox="1"/>
          <p:nvPr/>
        </p:nvSpPr>
        <p:spPr>
          <a:xfrm>
            <a:off x="8284464" y="2331720"/>
            <a:ext cx="3090672" cy="329184"/>
          </a:xfrm>
          <a:prstGeom prst="rect">
            <a:avLst/>
          </a:prstGeom>
          <a:noFill/>
          <a:ln/>
        </p:spPr>
        <p:txBody>
          <a:bodyPr wrap="square" lIns="0" tIns="0" rIns="0" bIns="0" rtlCol="0" anchor="ctr"/>
          <a:lstStyle/>
          <a:p>
            <a:pPr marL="0" indent="0">
              <a:buNone/>
            </a:pPr>
            <a:r>
              <a:rPr lang="en-US" sz="1250" b="1" dirty="0">
                <a:solidFill>
                  <a:srgbClr val="FFFFFF"/>
                </a:solidFill>
                <a:latin typeface="Geologica" pitchFamily="34" charset="0"/>
                <a:ea typeface="Geologica" pitchFamily="34" charset="-122"/>
                <a:cs typeface="Geologica" pitchFamily="34" charset="-120"/>
              </a:rPr>
              <a:t>"I can't push"</a:t>
            </a:r>
            <a:endParaRPr lang="en-US" sz="1250" dirty="0"/>
          </a:p>
        </p:txBody>
      </p:sp>
      <p:sp>
        <p:nvSpPr>
          <p:cNvPr id="16" name="Text 13"/>
          <p:cNvSpPr txBox="1"/>
          <p:nvPr/>
        </p:nvSpPr>
        <p:spPr>
          <a:xfrm>
            <a:off x="8284464" y="2715768"/>
            <a:ext cx="3090672" cy="621792"/>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Someone pushed before you. Pull, then push again. Stops feeling scary by week two.</a:t>
            </a:r>
            <a:endParaRPr lang="en-US" sz="1050" dirty="0"/>
          </a:p>
        </p:txBody>
      </p:sp>
      <p:sp>
        <p:nvSpPr>
          <p:cNvPr id="17" name="Shape 14"/>
          <p:cNvSpPr/>
          <p:nvPr/>
        </p:nvSpPr>
        <p:spPr>
          <a:xfrm>
            <a:off x="594360" y="3657600"/>
            <a:ext cx="3547872" cy="1325880"/>
          </a:xfrm>
          <a:prstGeom prst="roundRect">
            <a:avLst>
              <a:gd name="adj" fmla="val 8276"/>
            </a:avLst>
          </a:prstGeom>
          <a:solidFill>
            <a:srgbClr val="0F2831">
              <a:alpha val="88000"/>
            </a:srgbClr>
          </a:solidFill>
          <a:ln w="9525">
            <a:solidFill>
              <a:srgbClr val="1E4A55"/>
            </a:solidFill>
            <a:prstDash val="solid"/>
          </a:ln>
        </p:spPr>
        <p:txBody>
          <a:bodyPr/>
          <a:lstStyle/>
          <a:p>
            <a:endParaRPr lang="en-US"/>
          </a:p>
        </p:txBody>
      </p:sp>
      <p:sp>
        <p:nvSpPr>
          <p:cNvPr id="18" name="Text 15"/>
          <p:cNvSpPr txBox="1"/>
          <p:nvPr/>
        </p:nvSpPr>
        <p:spPr>
          <a:xfrm>
            <a:off x="822960" y="3840480"/>
            <a:ext cx="3090672" cy="329184"/>
          </a:xfrm>
          <a:prstGeom prst="rect">
            <a:avLst/>
          </a:prstGeom>
          <a:noFill/>
          <a:ln/>
        </p:spPr>
        <p:txBody>
          <a:bodyPr wrap="square" lIns="0" tIns="0" rIns="0" bIns="0" rtlCol="0" anchor="ctr"/>
          <a:lstStyle/>
          <a:p>
            <a:pPr marL="0" indent="0">
              <a:buNone/>
            </a:pPr>
            <a:r>
              <a:rPr lang="en-US" sz="1250" b="1" dirty="0">
                <a:solidFill>
                  <a:srgbClr val="FFFFFF"/>
                </a:solidFill>
                <a:latin typeface="Geologica" pitchFamily="34" charset="0"/>
                <a:ea typeface="Geologica" pitchFamily="34" charset="-122"/>
                <a:cs typeface="Geologica" pitchFamily="34" charset="-120"/>
              </a:rPr>
              <a:t>Edited on main by accident</a:t>
            </a:r>
            <a:endParaRPr lang="en-US" sz="1250" dirty="0"/>
          </a:p>
        </p:txBody>
      </p:sp>
      <p:sp>
        <p:nvSpPr>
          <p:cNvPr id="19" name="Text 16"/>
          <p:cNvSpPr txBox="1"/>
          <p:nvPr/>
        </p:nvSpPr>
        <p:spPr>
          <a:xfrm>
            <a:off x="822960" y="4224528"/>
            <a:ext cx="3090672" cy="621792"/>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Current Branch → New Branch. Desktop brings your uncommitted changes with you.</a:t>
            </a:r>
            <a:endParaRPr lang="en-US" sz="1050" dirty="0"/>
          </a:p>
        </p:txBody>
      </p:sp>
      <p:sp>
        <p:nvSpPr>
          <p:cNvPr id="20" name="Shape 17"/>
          <p:cNvSpPr/>
          <p:nvPr/>
        </p:nvSpPr>
        <p:spPr>
          <a:xfrm>
            <a:off x="4325112" y="3657600"/>
            <a:ext cx="3547872" cy="1325880"/>
          </a:xfrm>
          <a:prstGeom prst="roundRect">
            <a:avLst>
              <a:gd name="adj" fmla="val 8276"/>
            </a:avLst>
          </a:prstGeom>
          <a:solidFill>
            <a:srgbClr val="0F2831">
              <a:alpha val="88000"/>
            </a:srgbClr>
          </a:solidFill>
          <a:ln w="9525">
            <a:solidFill>
              <a:srgbClr val="1E4A55"/>
            </a:solidFill>
            <a:prstDash val="solid"/>
          </a:ln>
        </p:spPr>
        <p:txBody>
          <a:bodyPr/>
          <a:lstStyle/>
          <a:p>
            <a:endParaRPr lang="en-US"/>
          </a:p>
        </p:txBody>
      </p:sp>
      <p:sp>
        <p:nvSpPr>
          <p:cNvPr id="21" name="Text 18"/>
          <p:cNvSpPr txBox="1"/>
          <p:nvPr/>
        </p:nvSpPr>
        <p:spPr>
          <a:xfrm>
            <a:off x="4553712" y="3840480"/>
            <a:ext cx="3090672" cy="329184"/>
          </a:xfrm>
          <a:prstGeom prst="rect">
            <a:avLst/>
          </a:prstGeom>
          <a:noFill/>
          <a:ln/>
        </p:spPr>
        <p:txBody>
          <a:bodyPr wrap="square" lIns="0" tIns="0" rIns="0" bIns="0" rtlCol="0" anchor="ctr"/>
          <a:lstStyle/>
          <a:p>
            <a:pPr marL="0" indent="0">
              <a:buNone/>
            </a:pPr>
            <a:r>
              <a:rPr lang="en-US" sz="1250" b="1" dirty="0">
                <a:solidFill>
                  <a:srgbClr val="FFFFFF"/>
                </a:solidFill>
                <a:latin typeface="Geologica" pitchFamily="34" charset="0"/>
                <a:ea typeface="Geologica" pitchFamily="34" charset="-122"/>
                <a:cs typeface="Geologica" pitchFamily="34" charset="-120"/>
              </a:rPr>
              <a:t>Can't find the text</a:t>
            </a:r>
            <a:endParaRPr lang="en-US" sz="1250" dirty="0"/>
          </a:p>
        </p:txBody>
      </p:sp>
      <p:sp>
        <p:nvSpPr>
          <p:cNvPr id="22" name="Text 19"/>
          <p:cNvSpPr txBox="1"/>
          <p:nvPr/>
        </p:nvSpPr>
        <p:spPr>
          <a:xfrm>
            <a:off x="4553712" y="4224528"/>
            <a:ext cx="3090672" cy="621792"/>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Ctrl/Cmd+Shift+F with the exact words from prompts/scaffold-prompt.md. Check you are in your partner's repo.</a:t>
            </a:r>
            <a:endParaRPr lang="en-US" sz="1050" dirty="0"/>
          </a:p>
        </p:txBody>
      </p:sp>
      <p:sp>
        <p:nvSpPr>
          <p:cNvPr id="23" name="Shape 20"/>
          <p:cNvSpPr/>
          <p:nvPr/>
        </p:nvSpPr>
        <p:spPr>
          <a:xfrm>
            <a:off x="8055864" y="3657600"/>
            <a:ext cx="3547872" cy="1325880"/>
          </a:xfrm>
          <a:prstGeom prst="roundRect">
            <a:avLst>
              <a:gd name="adj" fmla="val 8276"/>
            </a:avLst>
          </a:prstGeom>
          <a:solidFill>
            <a:srgbClr val="0F2831">
              <a:alpha val="88000"/>
            </a:srgbClr>
          </a:solidFill>
          <a:ln w="9525">
            <a:solidFill>
              <a:srgbClr val="1E4A55"/>
            </a:solidFill>
            <a:prstDash val="solid"/>
          </a:ln>
        </p:spPr>
        <p:txBody>
          <a:bodyPr/>
          <a:lstStyle/>
          <a:p>
            <a:endParaRPr lang="en-US"/>
          </a:p>
        </p:txBody>
      </p:sp>
      <p:sp>
        <p:nvSpPr>
          <p:cNvPr id="24" name="Text 21"/>
          <p:cNvSpPr txBox="1"/>
          <p:nvPr/>
        </p:nvSpPr>
        <p:spPr>
          <a:xfrm>
            <a:off x="8284464" y="3840480"/>
            <a:ext cx="3090672" cy="329184"/>
          </a:xfrm>
          <a:prstGeom prst="rect">
            <a:avLst/>
          </a:prstGeom>
          <a:noFill/>
          <a:ln/>
        </p:spPr>
        <p:txBody>
          <a:bodyPr wrap="square" lIns="0" tIns="0" rIns="0" bIns="0" rtlCol="0" anchor="ctr"/>
          <a:lstStyle/>
          <a:p>
            <a:pPr marL="0" indent="0">
              <a:buNone/>
            </a:pPr>
            <a:r>
              <a:rPr lang="en-US" sz="1250" b="1" dirty="0">
                <a:solidFill>
                  <a:srgbClr val="FFFFFF"/>
                </a:solidFill>
                <a:latin typeface="Geologica" pitchFamily="34" charset="0"/>
                <a:ea typeface="Geologica" pitchFamily="34" charset="-122"/>
                <a:cs typeface="Geologica" pitchFamily="34" charset="-120"/>
              </a:rPr>
              <a:t>Merge conflict</a:t>
            </a:r>
            <a:endParaRPr lang="en-US" sz="1250" dirty="0"/>
          </a:p>
        </p:txBody>
      </p:sp>
      <p:sp>
        <p:nvSpPr>
          <p:cNvPr id="25" name="Text 22"/>
          <p:cNvSpPr txBox="1"/>
          <p:nvPr/>
        </p:nvSpPr>
        <p:spPr>
          <a:xfrm>
            <a:off x="8284464" y="4224528"/>
            <a:ext cx="3090672" cy="621792"/>
          </a:xfrm>
          <a:prstGeom prst="rect">
            <a:avLst/>
          </a:prstGeom>
          <a:noFill/>
          <a:ln/>
        </p:spPr>
        <p:txBody>
          <a:bodyPr wrap="square" lIns="0" tIns="0" rIns="0" bIns="0" rtlCol="0" anchor="t"/>
          <a:lstStyle/>
          <a:p>
            <a:pPr marL="0" indent="0">
              <a:spcAft>
                <a:spcPts val="600"/>
              </a:spcAft>
              <a:buNone/>
            </a:pPr>
            <a:r>
              <a:rPr lang="en-US" sz="1050" dirty="0">
                <a:solidFill>
                  <a:srgbClr val="E4EEF1"/>
                </a:solidFill>
                <a:latin typeface="Geologica" pitchFamily="34" charset="0"/>
                <a:ea typeface="Geologica" pitchFamily="34" charset="-122"/>
                <a:cs typeface="Geologica" pitchFamily="34" charset="-120"/>
              </a:rPr>
              <a:t>Open the file, find the &lt;&lt;&lt;&lt;&lt;&lt;&lt; and &gt;&gt;&gt;&gt;&gt;&gt;&gt; markers, keep the lines you want, delete the markers, save, commit.</a:t>
            </a:r>
            <a:endParaRPr lang="en-US" sz="1050" dirty="0"/>
          </a:p>
        </p:txBody>
      </p:sp>
      <p:sp>
        <p:nvSpPr>
          <p:cNvPr id="26" name="Text 23"/>
          <p:cNvSpPr txBox="1"/>
          <p:nvPr/>
        </p:nvSpPr>
        <p:spPr>
          <a:xfrm>
            <a:off x="594360" y="5257800"/>
            <a:ext cx="10972800" cy="365760"/>
          </a:xfrm>
          <a:prstGeom prst="rect">
            <a:avLst/>
          </a:prstGeom>
          <a:noFill/>
          <a:ln/>
        </p:spPr>
        <p:txBody>
          <a:bodyPr wrap="square" lIns="0" tIns="0" rIns="0" bIns="0" rtlCol="0" anchor="ctr"/>
          <a:lstStyle/>
          <a:p>
            <a:pPr marL="0" indent="0">
              <a:buNone/>
            </a:pPr>
            <a:r>
              <a:rPr lang="en-US" sz="1200" dirty="0">
                <a:solidFill>
                  <a:srgbClr val="9FB4BB"/>
                </a:solidFill>
                <a:latin typeface="Geologica" pitchFamily="34" charset="0"/>
                <a:ea typeface="Geologica" pitchFamily="34" charset="-122"/>
                <a:cs typeface="Geologica" pitchFamily="34" charset="-120"/>
              </a:rPr>
              <a:t>Ask in Slack before you spend an hour stuck. That is what the mentors are for.</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6156655" y="6126480"/>
            <a:ext cx="5532120" cy="274320"/>
          </a:xfrm>
          <a:prstGeom prst="rect">
            <a:avLst/>
          </a:prstGeom>
          <a:noFill/>
          <a:ln/>
        </p:spPr>
        <p:txBody>
          <a:bodyPr wrap="square" lIns="0" tIns="0" rIns="0" bIns="0" rtlCol="0" anchor="ctr"/>
          <a:lstStyle/>
          <a:p>
            <a:pPr marL="0" indent="0" algn="r">
              <a:buNone/>
            </a:pPr>
            <a:r>
              <a:rPr lang="en-US" sz="850" dirty="0">
                <a:solidFill>
                  <a:srgbClr val="7FA3AD"/>
                </a:solidFill>
                <a:latin typeface="Geologica" pitchFamily="34" charset="0"/>
                <a:ea typeface="Geologica" pitchFamily="34" charset="-122"/>
                <a:cs typeface="Geologica" pitchFamily="34" charset="-120"/>
              </a:rPr>
              <a:t>Hands-On Learning  ·  Peer-Driven Community  ·  Local Expert Network</a:t>
            </a:r>
            <a:endParaRPr lang="en-US" sz="850" dirty="0"/>
          </a:p>
        </p:txBody>
      </p:sp>
      <p:sp>
        <p:nvSpPr>
          <p:cNvPr id="4" name="Shape 1"/>
          <p:cNvSpPr/>
          <p:nvPr/>
        </p:nvSpPr>
        <p:spPr>
          <a:xfrm>
            <a:off x="594360" y="1554480"/>
            <a:ext cx="1810512"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1554480"/>
            <a:ext cx="1810512"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THAT'S THE SESSION</a:t>
            </a:r>
            <a:endParaRPr lang="en-US" sz="850" dirty="0"/>
          </a:p>
        </p:txBody>
      </p:sp>
      <p:sp>
        <p:nvSpPr>
          <p:cNvPr id="6" name="Text 3"/>
          <p:cNvSpPr txBox="1"/>
          <p:nvPr/>
        </p:nvSpPr>
        <p:spPr>
          <a:xfrm>
            <a:off x="566928" y="1920240"/>
            <a:ext cx="6400800" cy="914400"/>
          </a:xfrm>
          <a:prstGeom prst="rect">
            <a:avLst/>
          </a:prstGeom>
          <a:noFill/>
          <a:ln/>
        </p:spPr>
        <p:txBody>
          <a:bodyPr wrap="square" lIns="0" tIns="0" rIns="0" bIns="0" rtlCol="0" anchor="ctr"/>
          <a:lstStyle/>
          <a:p>
            <a:pPr marL="0" indent="0">
              <a:buNone/>
            </a:pPr>
            <a:r>
              <a:rPr lang="en-US" sz="4400" b="1" dirty="0">
                <a:solidFill>
                  <a:srgbClr val="FFFFFF"/>
                </a:solidFill>
                <a:latin typeface="Geologica" pitchFamily="34" charset="0"/>
                <a:ea typeface="Geologica" pitchFamily="34" charset="-122"/>
                <a:cs typeface="Geologica" pitchFamily="34" charset="-120"/>
              </a:rPr>
              <a:t>Thank you</a:t>
            </a:r>
            <a:endParaRPr lang="en-US" sz="4400" dirty="0"/>
          </a:p>
        </p:txBody>
      </p:sp>
      <p:sp>
        <p:nvSpPr>
          <p:cNvPr id="7" name="Text 4"/>
          <p:cNvSpPr txBox="1"/>
          <p:nvPr/>
        </p:nvSpPr>
        <p:spPr>
          <a:xfrm>
            <a:off x="594360" y="2880360"/>
            <a:ext cx="6035040" cy="1280160"/>
          </a:xfrm>
          <a:prstGeom prst="rect">
            <a:avLst/>
          </a:prstGeom>
          <a:noFill/>
          <a:ln/>
        </p:spPr>
        <p:txBody>
          <a:bodyPr wrap="square" lIns="0" tIns="0" rIns="0" bIns="0" rtlCol="0" anchor="ctr"/>
          <a:lstStyle/>
          <a:p>
            <a:pPr marL="0" indent="0">
              <a:buNone/>
            </a:pPr>
            <a:r>
              <a:rPr lang="en-US" sz="1300" dirty="0">
                <a:solidFill>
                  <a:srgbClr val="E4EEF1"/>
                </a:solidFill>
                <a:latin typeface="Geologica" pitchFamily="34" charset="0"/>
                <a:ea typeface="Geologica" pitchFamily="34" charset="-122"/>
                <a:cs typeface="Geologica" pitchFamily="34" charset="-120"/>
              </a:rPr>
              <a:t>It took me a while to get used to Git. Your team will run this loop dozens of times, and by the third time it is boring. Boring is exactly what you want your version control to be. Start early, keep pushing.</a:t>
            </a:r>
            <a:endParaRPr lang="en-US" sz="1300" dirty="0"/>
          </a:p>
        </p:txBody>
      </p:sp>
      <p:sp>
        <p:nvSpPr>
          <p:cNvPr id="8" name="Text 5"/>
          <p:cNvSpPr txBox="1"/>
          <p:nvPr/>
        </p:nvSpPr>
        <p:spPr>
          <a:xfrm>
            <a:off x="594360" y="4251960"/>
            <a:ext cx="5943600" cy="1005840"/>
          </a:xfrm>
          <a:prstGeom prst="rect">
            <a:avLst/>
          </a:prstGeom>
          <a:noFill/>
          <a:ln/>
        </p:spPr>
        <p:txBody>
          <a:bodyPr wrap="square" lIns="0" tIns="0" rIns="0" bIns="0" rtlCol="0" anchor="ctr"/>
          <a:lstStyle/>
          <a:p>
            <a:pPr marL="0" indent="0">
              <a:buNone/>
            </a:pPr>
            <a:r>
              <a:rPr lang="en-US" sz="1300" b="1" dirty="0">
                <a:solidFill>
                  <a:srgbClr val="FFFFFF"/>
                </a:solidFill>
                <a:latin typeface="Geologica" pitchFamily="34" charset="0"/>
                <a:ea typeface="Geologica" pitchFamily="34" charset="-122"/>
                <a:cs typeface="Geologica" pitchFamily="34" charset="-120"/>
              </a:rPr>
              <a:t>Aaron McKeever</a:t>
            </a:r>
            <a:endParaRPr lang="en-US" sz="1300" dirty="0"/>
          </a:p>
          <a:p>
            <a:pPr marL="0" indent="0">
              <a:buNone/>
            </a:pPr>
            <a:r>
              <a:rPr lang="en-US" sz="1200" dirty="0">
                <a:solidFill>
                  <a:srgbClr val="E4EEF1"/>
                </a:solidFill>
                <a:latin typeface="Geologica" pitchFamily="34" charset="0"/>
                <a:ea typeface="Geologica" pitchFamily="34" charset="-122"/>
                <a:cs typeface="Geologica" pitchFamily="34" charset="-120"/>
              </a:rPr>
              <a:t>Message me on Slack</a:t>
            </a:r>
            <a:endParaRPr lang="en-US" sz="1300" dirty="0"/>
          </a:p>
          <a:p>
            <a:pPr marL="0" indent="0">
              <a:buNone/>
            </a:pPr>
            <a:r>
              <a:rPr lang="en-US" sz="1200" dirty="0">
                <a:solidFill>
                  <a:srgbClr val="E4EEF1"/>
                </a:solidFill>
                <a:latin typeface="Geologica" pitchFamily="34" charset="0"/>
                <a:ea typeface="Geologica" pitchFamily="34" charset="-122"/>
                <a:cs typeface="Geologica" pitchFamily="34" charset="-120"/>
              </a:rPr>
              <a:t>Drop-in time: book a slot through Calendly</a:t>
            </a:r>
            <a:endParaRPr lang="en-US" sz="1300" dirty="0"/>
          </a:p>
        </p:txBody>
      </p:sp>
      <p:sp>
        <p:nvSpPr>
          <p:cNvPr id="9" name="Shape 6"/>
          <p:cNvSpPr/>
          <p:nvPr/>
        </p:nvSpPr>
        <p:spPr>
          <a:xfrm>
            <a:off x="7040880" y="1554480"/>
            <a:ext cx="4553712" cy="3566160"/>
          </a:xfrm>
          <a:prstGeom prst="roundRect">
            <a:avLst>
              <a:gd name="adj" fmla="val 3077"/>
            </a:avLst>
          </a:prstGeom>
          <a:solidFill>
            <a:srgbClr val="0F2831">
              <a:alpha val="88000"/>
            </a:srgbClr>
          </a:solidFill>
          <a:ln w="9525">
            <a:solidFill>
              <a:srgbClr val="1E4A55"/>
            </a:solidFill>
            <a:prstDash val="solid"/>
          </a:ln>
        </p:spPr>
        <p:txBody>
          <a:bodyPr/>
          <a:lstStyle/>
          <a:p>
            <a:endParaRPr lang="en-US"/>
          </a:p>
        </p:txBody>
      </p:sp>
      <p:sp>
        <p:nvSpPr>
          <p:cNvPr id="10" name="Text 7"/>
          <p:cNvSpPr txBox="1"/>
          <p:nvPr/>
        </p:nvSpPr>
        <p:spPr>
          <a:xfrm>
            <a:off x="7269480" y="1737360"/>
            <a:ext cx="4096512" cy="256032"/>
          </a:xfrm>
          <a:prstGeom prst="rect">
            <a:avLst/>
          </a:prstGeom>
          <a:noFill/>
          <a:ln/>
        </p:spPr>
        <p:txBody>
          <a:bodyPr wrap="square" lIns="0" tIns="0" rIns="0" bIns="0" rtlCol="0" anchor="ctr"/>
          <a:lstStyle/>
          <a:p>
            <a:pPr marL="0" indent="0">
              <a:buNone/>
            </a:pPr>
            <a:r>
              <a:rPr lang="en-US" sz="850" b="1" kern="0" spc="200" dirty="0">
                <a:solidFill>
                  <a:srgbClr val="3FC9D4"/>
                </a:solidFill>
                <a:latin typeface="Geologica" pitchFamily="34" charset="0"/>
                <a:ea typeface="Geologica" pitchFamily="34" charset="-122"/>
                <a:cs typeface="Geologica" pitchFamily="34" charset="-120"/>
              </a:rPr>
              <a:t>WHAT YOU DID TODAY</a:t>
            </a:r>
            <a:endParaRPr lang="en-US" sz="850" dirty="0"/>
          </a:p>
        </p:txBody>
      </p:sp>
      <p:sp>
        <p:nvSpPr>
          <p:cNvPr id="11" name="Text 8"/>
          <p:cNvSpPr txBox="1"/>
          <p:nvPr/>
        </p:nvSpPr>
        <p:spPr>
          <a:xfrm>
            <a:off x="7269480" y="2066544"/>
            <a:ext cx="4096512" cy="2916936"/>
          </a:xfrm>
          <a:prstGeom prst="rect">
            <a:avLst/>
          </a:prstGeom>
          <a:noFill/>
          <a:ln/>
        </p:spPr>
        <p:txBody>
          <a:bodyPr wrap="square" lIns="0" tIns="0" rIns="0" bIns="0" rtlCol="0" anchor="t"/>
          <a:lstStyle/>
          <a:p>
            <a:pPr marL="0" indent="0">
              <a:spcAft>
                <a:spcPts val="600"/>
              </a:spcAft>
              <a:buNone/>
            </a:pPr>
            <a:r>
              <a:rPr lang="en-US" sz="1200" dirty="0">
                <a:solidFill>
                  <a:srgbClr val="E4EEF1"/>
                </a:solidFill>
                <a:latin typeface="Geologica" pitchFamily="34" charset="0"/>
                <a:ea typeface="Geologica" pitchFamily="34" charset="-122"/>
                <a:cs typeface="Geologica" pitchFamily="34" charset="-120"/>
              </a:rPr>
              <a:t>Built a page with AI and shipped it to GitHub from Replit</a:t>
            </a:r>
            <a:endParaRPr lang="en-US" sz="1200" dirty="0"/>
          </a:p>
          <a:p>
            <a:pPr marL="0" indent="0">
              <a:spcAft>
                <a:spcPts val="600"/>
              </a:spcAft>
              <a:buNone/>
            </a:pPr>
            <a:endParaRPr lang="en-US" sz="1200" dirty="0"/>
          </a:p>
          <a:p>
            <a:pPr marL="0" indent="0">
              <a:spcAft>
                <a:spcPts val="600"/>
              </a:spcAft>
              <a:buNone/>
            </a:pPr>
            <a:r>
              <a:rPr lang="en-US" sz="1200" dirty="0">
                <a:solidFill>
                  <a:srgbClr val="E4EEF1"/>
                </a:solidFill>
                <a:latin typeface="Geologica" pitchFamily="34" charset="0"/>
                <a:ea typeface="Geologica" pitchFamily="34" charset="-122"/>
                <a:cs typeface="Geologica" pitchFamily="34" charset="-120"/>
              </a:rPr>
              <a:t>Cloned a teammate's repo and branched before touching it</a:t>
            </a:r>
            <a:endParaRPr lang="en-US" sz="1200" dirty="0"/>
          </a:p>
          <a:p>
            <a:pPr marL="0" indent="0">
              <a:spcAft>
                <a:spcPts val="600"/>
              </a:spcAft>
              <a:buNone/>
            </a:pPr>
            <a:endParaRPr lang="en-US" sz="1200" dirty="0"/>
          </a:p>
          <a:p>
            <a:pPr marL="0" indent="0">
              <a:spcAft>
                <a:spcPts val="600"/>
              </a:spcAft>
              <a:buNone/>
            </a:pPr>
            <a:r>
              <a:rPr lang="en-US" sz="1200" dirty="0">
                <a:solidFill>
                  <a:srgbClr val="E4EEF1"/>
                </a:solidFill>
                <a:latin typeface="Geologica" pitchFamily="34" charset="0"/>
                <a:ea typeface="Geologica" pitchFamily="34" charset="-122"/>
                <a:cs typeface="Geologica" pitchFamily="34" charset="-120"/>
              </a:rPr>
              <a:t>Found and changed one line in code you did not write</a:t>
            </a:r>
            <a:endParaRPr lang="en-US" sz="1200" dirty="0"/>
          </a:p>
          <a:p>
            <a:pPr marL="0" indent="0">
              <a:spcAft>
                <a:spcPts val="600"/>
              </a:spcAft>
              <a:buNone/>
            </a:pPr>
            <a:endParaRPr lang="en-US" sz="1200" dirty="0"/>
          </a:p>
          <a:p>
            <a:pPr marL="0" indent="0">
              <a:spcAft>
                <a:spcPts val="600"/>
              </a:spcAft>
              <a:buNone/>
            </a:pPr>
            <a:r>
              <a:rPr lang="en-US" sz="1200" dirty="0">
                <a:solidFill>
                  <a:srgbClr val="E4EEF1"/>
                </a:solidFill>
                <a:latin typeface="Geologica" pitchFamily="34" charset="0"/>
                <a:ea typeface="Geologica" pitchFamily="34" charset="-122"/>
                <a:cs typeface="Geologica" pitchFamily="34" charset="-120"/>
              </a:rPr>
              <a:t>Opened your first pull request, and reviewed and merged your partner's</a:t>
            </a:r>
            <a:endParaRPr lang="en-US" sz="1200" dirty="0"/>
          </a:p>
          <a:p>
            <a:pPr marL="0" indent="0">
              <a:spcAft>
                <a:spcPts val="600"/>
              </a:spcAft>
              <a:buNone/>
            </a:pPr>
            <a:endParaRPr lang="en-US" sz="1200" dirty="0"/>
          </a:p>
          <a:p>
            <a:pPr marL="0" indent="0">
              <a:spcAft>
                <a:spcPts val="600"/>
              </a:spcAft>
              <a:buNone/>
            </a:pPr>
            <a:r>
              <a:rPr lang="en-US" sz="1200" dirty="0">
                <a:solidFill>
                  <a:srgbClr val="E4EEF1"/>
                </a:solidFill>
                <a:latin typeface="Geologica" pitchFamily="34" charset="0"/>
                <a:ea typeface="Geologica" pitchFamily="34" charset="-122"/>
                <a:cs typeface="Geologica" pitchFamily="34" charset="-120"/>
              </a:rPr>
              <a:t>Pulled a teammate's change back into your own tool</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assets/orb-small.png"/>
          <p:cNvPicPr>
            <a:picLocks noChangeAspect="1"/>
          </p:cNvPicPr>
          <p:nvPr/>
        </p:nvPicPr>
        <p:blipFill>
          <a:blip r:embed="rId4"/>
          <a:stretch>
            <a:fillRect/>
          </a:stretch>
        </p:blipFill>
        <p:spPr>
          <a:xfrm>
            <a:off x="502920" y="6108192"/>
            <a:ext cx="822960" cy="318211"/>
          </a:xfrm>
          <a:prstGeom prst="rect">
            <a:avLst/>
          </a:prstGeom>
        </p:spPr>
      </p:pic>
      <p:sp>
        <p:nvSpPr>
          <p:cNvPr id="3" name="Text 0"/>
          <p:cNvSpPr txBox="1"/>
          <p:nvPr/>
        </p:nvSpPr>
        <p:spPr>
          <a:xfrm>
            <a:off x="6156655" y="6126480"/>
            <a:ext cx="5532120" cy="274320"/>
          </a:xfrm>
          <a:prstGeom prst="rect">
            <a:avLst/>
          </a:prstGeom>
          <a:noFill/>
          <a:ln/>
        </p:spPr>
        <p:txBody>
          <a:bodyPr wrap="square" lIns="0" tIns="0" rIns="0" bIns="0" rtlCol="0" anchor="ctr"/>
          <a:lstStyle/>
          <a:p>
            <a:pPr marL="0" indent="0" algn="r">
              <a:buNone/>
            </a:pPr>
            <a:r>
              <a:rPr lang="en-US" sz="850" dirty="0">
                <a:solidFill>
                  <a:srgbClr val="7FA3AD"/>
                </a:solidFill>
                <a:latin typeface="Geologica" pitchFamily="34" charset="0"/>
                <a:ea typeface="Geologica" pitchFamily="34" charset="-122"/>
                <a:cs typeface="Geologica" pitchFamily="34" charset="-120"/>
              </a:rPr>
              <a:t>Hands-On Learning  ·  Peer-Driven Community  ·  Local Expert Network</a:t>
            </a:r>
            <a:endParaRPr lang="en-US" sz="850" dirty="0"/>
          </a:p>
        </p:txBody>
      </p:sp>
      <p:sp>
        <p:nvSpPr>
          <p:cNvPr id="4" name="Shape 1"/>
          <p:cNvSpPr/>
          <p:nvPr/>
        </p:nvSpPr>
        <p:spPr>
          <a:xfrm>
            <a:off x="594360" y="1828800"/>
            <a:ext cx="1732788" cy="292608"/>
          </a:xfrm>
          <a:prstGeom prst="roundRect">
            <a:avLst>
              <a:gd name="adj" fmla="val 50000"/>
            </a:avLst>
          </a:prstGeom>
          <a:solidFill>
            <a:srgbClr val="0E5A66"/>
          </a:solidFill>
          <a:ln w="9525">
            <a:solidFill>
              <a:srgbClr val="0094A0"/>
            </a:solidFill>
            <a:prstDash val="solid"/>
          </a:ln>
        </p:spPr>
        <p:txBody>
          <a:bodyPr/>
          <a:lstStyle/>
          <a:p>
            <a:endParaRPr lang="en-US"/>
          </a:p>
        </p:txBody>
      </p:sp>
      <p:sp>
        <p:nvSpPr>
          <p:cNvPr id="5" name="Text 2"/>
          <p:cNvSpPr txBox="1"/>
          <p:nvPr/>
        </p:nvSpPr>
        <p:spPr>
          <a:xfrm>
            <a:off x="594360" y="1828800"/>
            <a:ext cx="1732788" cy="292608"/>
          </a:xfrm>
          <a:prstGeom prst="rect">
            <a:avLst/>
          </a:prstGeom>
          <a:noFill/>
          <a:ln/>
        </p:spPr>
        <p:txBody>
          <a:bodyPr wrap="square" lIns="0" tIns="0" rIns="0" bIns="0" rtlCol="0" anchor="ctr"/>
          <a:lstStyle/>
          <a:p>
            <a:pPr marL="0" indent="0" algn="ctr">
              <a:buNone/>
            </a:pPr>
            <a:r>
              <a:rPr lang="en-US" sz="850" b="1" kern="0" spc="200" dirty="0">
                <a:solidFill>
                  <a:srgbClr val="3FC9D4"/>
                </a:solidFill>
                <a:latin typeface="Geologica" pitchFamily="34" charset="0"/>
                <a:ea typeface="Geologica" pitchFamily="34" charset="-122"/>
                <a:cs typeface="Geologica" pitchFamily="34" charset="-120"/>
              </a:rPr>
              <a:t>WORKSHOP FEEDBACK</a:t>
            </a:r>
            <a:endParaRPr lang="en-US" sz="850" dirty="0"/>
          </a:p>
        </p:txBody>
      </p:sp>
      <p:sp>
        <p:nvSpPr>
          <p:cNvPr id="6" name="Text 3"/>
          <p:cNvSpPr txBox="1"/>
          <p:nvPr/>
        </p:nvSpPr>
        <p:spPr>
          <a:xfrm>
            <a:off x="566928" y="2240280"/>
            <a:ext cx="6583680" cy="1828800"/>
          </a:xfrm>
          <a:prstGeom prst="rect">
            <a:avLst/>
          </a:prstGeom>
          <a:noFill/>
          <a:ln/>
        </p:spPr>
        <p:txBody>
          <a:bodyPr wrap="square" lIns="0" tIns="0" rIns="0" bIns="0" rtlCol="0" anchor="ctr"/>
          <a:lstStyle/>
          <a:p>
            <a:pPr marL="0" indent="0">
              <a:buNone/>
            </a:pPr>
            <a:r>
              <a:rPr lang="en-US" sz="3000" b="1" dirty="0">
                <a:solidFill>
                  <a:srgbClr val="FFFFFF"/>
                </a:solidFill>
                <a:latin typeface="Geologica" pitchFamily="34" charset="0"/>
                <a:ea typeface="Geologica" pitchFamily="34" charset="-122"/>
                <a:cs typeface="Geologica" pitchFamily="34" charset="-120"/>
              </a:rPr>
              <a:t>Tell us what worked.</a:t>
            </a:r>
            <a:endParaRPr lang="en-US" sz="3000" dirty="0"/>
          </a:p>
          <a:p>
            <a:pPr marL="0" indent="0">
              <a:buNone/>
            </a:pPr>
            <a:r>
              <a:rPr lang="en-US" sz="3000" b="1" dirty="0">
                <a:solidFill>
                  <a:srgbClr val="FFFFFF"/>
                </a:solidFill>
                <a:latin typeface="Geologica" pitchFamily="34" charset="0"/>
                <a:ea typeface="Geologica" pitchFamily="34" charset="-122"/>
                <a:cs typeface="Geologica" pitchFamily="34" charset="-120"/>
              </a:rPr>
              <a:t>Tell us what didn't.</a:t>
            </a:r>
            <a:endParaRPr lang="en-US" sz="3000" dirty="0"/>
          </a:p>
          <a:p>
            <a:pPr marL="0" indent="0">
              <a:buNone/>
            </a:pPr>
            <a:r>
              <a:rPr lang="en-US" sz="3000" b="1" dirty="0">
                <a:solidFill>
                  <a:srgbClr val="FFFFFF"/>
                </a:solidFill>
                <a:latin typeface="Geologica" pitchFamily="34" charset="0"/>
                <a:ea typeface="Geologica" pitchFamily="34" charset="-122"/>
                <a:cs typeface="Geologica" pitchFamily="34" charset="-120"/>
              </a:rPr>
              <a:t>Help us build the next one.</a:t>
            </a:r>
            <a:endParaRPr lang="en-US" sz="3000" dirty="0"/>
          </a:p>
        </p:txBody>
      </p:sp>
      <p:sp>
        <p:nvSpPr>
          <p:cNvPr id="7" name="Text 4"/>
          <p:cNvSpPr txBox="1"/>
          <p:nvPr/>
        </p:nvSpPr>
        <p:spPr>
          <a:xfrm>
            <a:off x="594360" y="4160520"/>
            <a:ext cx="5943600" cy="640080"/>
          </a:xfrm>
          <a:prstGeom prst="rect">
            <a:avLst/>
          </a:prstGeom>
          <a:noFill/>
          <a:ln/>
        </p:spPr>
        <p:txBody>
          <a:bodyPr wrap="square" lIns="0" tIns="0" rIns="0" bIns="0" rtlCol="0" anchor="ctr"/>
          <a:lstStyle/>
          <a:p>
            <a:pPr marL="0" indent="0">
              <a:buNone/>
            </a:pPr>
            <a:r>
              <a:rPr lang="en-US" sz="1300" dirty="0">
                <a:solidFill>
                  <a:srgbClr val="E4EEF1"/>
                </a:solidFill>
                <a:latin typeface="Geologica" pitchFamily="34" charset="0"/>
                <a:ea typeface="Geologica" pitchFamily="34" charset="-122"/>
                <a:cs typeface="Geologica" pitchFamily="34" charset="-120"/>
              </a:rPr>
              <a:t>Your answers shape the format, the pace, and the topics we run next cycle.</a:t>
            </a:r>
            <a:endParaRPr lang="en-US" sz="1300" dirty="0"/>
          </a:p>
        </p:txBody>
      </p:sp>
      <p:sp>
        <p:nvSpPr>
          <p:cNvPr id="8" name="Shape 5"/>
          <p:cNvSpPr/>
          <p:nvPr/>
        </p:nvSpPr>
        <p:spPr>
          <a:xfrm>
            <a:off x="7863840" y="1600200"/>
            <a:ext cx="3291840" cy="3611880"/>
          </a:xfrm>
          <a:prstGeom prst="roundRect">
            <a:avLst>
              <a:gd name="adj" fmla="val 3333"/>
            </a:avLst>
          </a:prstGeom>
          <a:solidFill>
            <a:srgbClr val="FFFFFF"/>
          </a:solidFill>
          <a:ln w="12700">
            <a:solidFill>
              <a:srgbClr val="FFFFFF"/>
            </a:solidFill>
            <a:prstDash val="solid"/>
          </a:ln>
        </p:spPr>
        <p:txBody>
          <a:bodyPr/>
          <a:lstStyle/>
          <a:p>
            <a:endParaRPr lang="en-US"/>
          </a:p>
        </p:txBody>
      </p:sp>
      <p:pic>
        <p:nvPicPr>
          <p:cNvPr id="9" name="Image 1" descr="assets/qr-feedback.jpg"/>
          <p:cNvPicPr>
            <a:picLocks noChangeAspect="1"/>
          </p:cNvPicPr>
          <p:nvPr/>
        </p:nvPicPr>
        <p:blipFill>
          <a:blip r:embed="rId5"/>
          <a:stretch>
            <a:fillRect/>
          </a:stretch>
        </p:blipFill>
        <p:spPr>
          <a:xfrm>
            <a:off x="8092440" y="1828800"/>
            <a:ext cx="2834640" cy="2834640"/>
          </a:xfrm>
          <a:prstGeom prst="rect">
            <a:avLst/>
          </a:prstGeom>
        </p:spPr>
      </p:pic>
      <p:sp>
        <p:nvSpPr>
          <p:cNvPr id="10" name="Text 6"/>
          <p:cNvSpPr txBox="1"/>
          <p:nvPr/>
        </p:nvSpPr>
        <p:spPr>
          <a:xfrm>
            <a:off x="7863840" y="4709160"/>
            <a:ext cx="3291840" cy="365760"/>
          </a:xfrm>
          <a:prstGeom prst="rect">
            <a:avLst/>
          </a:prstGeom>
          <a:noFill/>
          <a:ln/>
        </p:spPr>
        <p:txBody>
          <a:bodyPr wrap="square" lIns="0" tIns="0" rIns="0" bIns="0" rtlCol="0" anchor="ctr"/>
          <a:lstStyle/>
          <a:p>
            <a:pPr marL="0" indent="0" algn="ctr">
              <a:buNone/>
            </a:pPr>
            <a:r>
              <a:rPr lang="en-US" sz="1000" dirty="0">
                <a:solidFill>
                  <a:srgbClr val="03232A"/>
                </a:solidFill>
                <a:latin typeface="Geologica" pitchFamily="34" charset="0"/>
                <a:ea typeface="Geologica" pitchFamily="34" charset="-122"/>
                <a:cs typeface="Geologica" pitchFamily="34" charset="-120"/>
              </a:rPr>
              <a:t>Point your phone camera at the code.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177</TotalTime>
  <Words>7503</Words>
  <Application>Microsoft Macintosh PowerPoint</Application>
  <PresentationFormat>Widescreen</PresentationFormat>
  <Paragraphs>766</Paragraphs>
  <Slides>39</Slides>
  <Notes>39</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Courier New</vt:lpstr>
      <vt:lpstr>Geologica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2.0: The Handoff</dc:title>
  <dc:subject>PptxGenJS Presentation</dc:subject>
  <dc:creator>The Upskilling Labs</dc:creator>
  <cp:lastModifiedBy>Aaron McKeever</cp:lastModifiedBy>
  <cp:revision>2</cp:revision>
  <dcterms:created xsi:type="dcterms:W3CDTF">2026-09-22T14:18:46Z</dcterms:created>
  <dcterms:modified xsi:type="dcterms:W3CDTF">2026-09-22T19:40:32Z</dcterms:modified>
</cp:coreProperties>
</file>